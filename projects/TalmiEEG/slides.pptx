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271" r:id="rId3"/>
    <p:sldId id="259" r:id="rId4"/>
    <p:sldId id="274" r:id="rId5"/>
    <p:sldId id="289" r:id="rId6"/>
    <p:sldId id="275" r:id="rId7"/>
    <p:sldId id="277" r:id="rId8"/>
    <p:sldId id="273" r:id="rId9"/>
    <p:sldId id="278" r:id="rId10"/>
    <p:sldId id="279" r:id="rId11"/>
    <p:sldId id="280" r:id="rId12"/>
    <p:sldId id="281" r:id="rId13"/>
    <p:sldId id="285" r:id="rId14"/>
    <p:sldId id="290" r:id="rId15"/>
    <p:sldId id="283" r:id="rId16"/>
    <p:sldId id="284" r:id="rId17"/>
    <p:sldId id="286" r:id="rId18"/>
    <p:sldId id="288" r:id="rId19"/>
    <p:sldId id="291" r:id="rId20"/>
    <p:sldId id="292" r:id="rId21"/>
    <p:sldId id="293" r:id="rId22"/>
    <p:sldId id="287" r:id="rId23"/>
    <p:sldId id="265" r:id="rId24"/>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808"/>
    <a:srgbClr val="003E72"/>
    <a:srgbClr val="6AADE4"/>
    <a:srgbClr val="0030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74"/>
    <p:restoredTop sz="96148"/>
  </p:normalViewPr>
  <p:slideViewPr>
    <p:cSldViewPr>
      <p:cViewPr varScale="1">
        <p:scale>
          <a:sx n="122" d="100"/>
          <a:sy n="122" d="100"/>
        </p:scale>
        <p:origin x="2208" y="192"/>
      </p:cViewPr>
      <p:guideLst>
        <p:guide orient="horz" pos="2160"/>
        <p:guide pos="2880"/>
      </p:guideLst>
    </p:cSldViewPr>
  </p:slideViewPr>
  <p:outlineViewPr>
    <p:cViewPr>
      <p:scale>
        <a:sx n="33" d="100"/>
        <a:sy n="33" d="100"/>
      </p:scale>
      <p:origin x="0" y="-32392"/>
    </p:cViewPr>
  </p:outlineViewPr>
  <p:notesTextViewPr>
    <p:cViewPr>
      <p:scale>
        <a:sx n="1" d="1"/>
        <a:sy n="1" d="1"/>
      </p:scale>
      <p:origin x="0" y="0"/>
    </p:cViewPr>
  </p:notesTextViewPr>
  <p:sorterViewPr>
    <p:cViewPr>
      <p:scale>
        <a:sx n="80" d="100"/>
        <a:sy n="8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54829FD-AA8D-402C-B969-9BDD4214046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9219" name="Rectangle 3">
            <a:extLst>
              <a:ext uri="{FF2B5EF4-FFF2-40B4-BE49-F238E27FC236}">
                <a16:creationId xmlns:a16="http://schemas.microsoft.com/office/drawing/2014/main" id="{5705EE3B-642B-4B31-81F1-D1E1046BF93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9220" name="Rectangle 4">
            <a:extLst>
              <a:ext uri="{FF2B5EF4-FFF2-40B4-BE49-F238E27FC236}">
                <a16:creationId xmlns:a16="http://schemas.microsoft.com/office/drawing/2014/main" id="{B6EE33C4-7597-4898-BE8A-32CA814848BB}"/>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9221" name="Rectangle 5">
            <a:extLst>
              <a:ext uri="{FF2B5EF4-FFF2-40B4-BE49-F238E27FC236}">
                <a16:creationId xmlns:a16="http://schemas.microsoft.com/office/drawing/2014/main" id="{A05EDBA9-BACD-43D6-BF5D-181E303C3DF6}"/>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B67D7FD-786C-4CB7-8AF4-D718F2B264D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A4456-F361-4B44-A308-3E6D964ED5E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8195" name="Rectangle 3">
            <a:extLst>
              <a:ext uri="{FF2B5EF4-FFF2-40B4-BE49-F238E27FC236}">
                <a16:creationId xmlns:a16="http://schemas.microsoft.com/office/drawing/2014/main" id="{08C818F8-B2DF-401F-97D5-3C4C43187B6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5124" name="Rectangle 4">
            <a:extLst>
              <a:ext uri="{FF2B5EF4-FFF2-40B4-BE49-F238E27FC236}">
                <a16:creationId xmlns:a16="http://schemas.microsoft.com/office/drawing/2014/main" id="{B359CEE7-979E-4ECA-B60E-F8371A4D883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C80015F8-FF0A-4A7F-ABD6-7BD6E40F6ACE}"/>
              </a:ext>
            </a:extLst>
          </p:cNvPr>
          <p:cNvSpPr>
            <a:spLocks noGrp="1" noChangeArrowheads="1"/>
          </p:cNvSpPr>
          <p:nvPr>
            <p:ph type="body" sz="quarter" idx="3"/>
          </p:nvPr>
        </p:nvSpPr>
        <p:spPr bwMode="auto">
          <a:xfrm>
            <a:off x="1143000" y="4343400"/>
            <a:ext cx="45561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8198" name="Rectangle 6">
            <a:extLst>
              <a:ext uri="{FF2B5EF4-FFF2-40B4-BE49-F238E27FC236}">
                <a16:creationId xmlns:a16="http://schemas.microsoft.com/office/drawing/2014/main" id="{FC8A3E9C-3A05-4F0F-A897-F596674ECFB3}"/>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8199" name="Rectangle 7">
            <a:extLst>
              <a:ext uri="{FF2B5EF4-FFF2-40B4-BE49-F238E27FC236}">
                <a16:creationId xmlns:a16="http://schemas.microsoft.com/office/drawing/2014/main" id="{419914C5-D7AD-4B98-AE8F-0F6C07EE7AE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EA5AD2E-89E1-4370-8739-344D4E353C4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7D363F4-AFB4-4666-B181-6ABB76387421}"/>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734EB-D06B-4794-9C0B-3CA60BFA27EA}" type="slidenum">
              <a:rPr lang="en-GB" altLang="en-US"/>
              <a:pPr eaLnBrk="1" hangingPunct="1"/>
              <a:t>1</a:t>
            </a:fld>
            <a:endParaRPr lang="en-GB" altLang="en-US"/>
          </a:p>
        </p:txBody>
      </p:sp>
      <p:sp>
        <p:nvSpPr>
          <p:cNvPr id="6147" name="Rectangle 2">
            <a:extLst>
              <a:ext uri="{FF2B5EF4-FFF2-40B4-BE49-F238E27FC236}">
                <a16:creationId xmlns:a16="http://schemas.microsoft.com/office/drawing/2014/main" id="{ABC7FC18-B57B-495C-A9F0-E0D19CB7E12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5DCEC76-4B29-4493-B2CF-E1CC273C2E90}"/>
              </a:ext>
            </a:extLst>
          </p:cNvPr>
          <p:cNvSpPr>
            <a:spLocks noGrp="1" noChangeArrowheads="1"/>
          </p:cNvSpPr>
          <p:nvPr>
            <p:ph type="body" idx="1"/>
          </p:nvPr>
        </p:nvSpPr>
        <p:spPr>
          <a:noFill/>
        </p:spPr>
        <p:txBody>
          <a:bodyPr/>
          <a:lstStyle/>
          <a:p>
            <a:r>
              <a:rPr lang="en-US" dirty="0"/>
              <a:t>Hi, my name is Jordan Gunn and I am a postdoc in Deborah Talmi's group in the Psych department. This is a tutorial style talk about using cognitive models and likelihood to think about relationships between brain signals and behavior. </a:t>
            </a:r>
          </a:p>
          <a:p>
            <a:endParaRPr lang="en-US" dirty="0"/>
          </a:p>
          <a:p>
            <a:r>
              <a:rPr lang="en-US" dirty="0"/>
              <a:t>From a distance cognitive modeling can look like an elaborate parameter-tuning exercise that always seems to fit something. Adding brain data into the mix can make it even harder to tell whether a model is doing any explanatory work, or just putting a computational gloss on a story we already wanted to tell.</a:t>
            </a:r>
          </a:p>
          <a:p>
            <a:endParaRPr lang="en-US" dirty="0"/>
          </a:p>
          <a:p>
            <a:r>
              <a:rPr lang="en-US" dirty="0"/>
              <a:t>Here, I want to use one concrete example to offer a more constructive view of models: as tools for clarifying and testing mechanistic ideas against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things I’m hoping you’ll take away.”</a:t>
            </a:r>
          </a:p>
          <a:p>
            <a:r>
              <a:rPr lang="en-US" dirty="0"/>
              <a:t>“First, why we sometimes want cognitive models in addition to statistical models. Regressions are great for telling us that a neural signal or other factor predicts some behavioral outcome, but they don’t tell us where in the process that effect lives. Models give us a place to put those ideas.”</a:t>
            </a:r>
          </a:p>
          <a:p>
            <a:r>
              <a:rPr lang="en-US" dirty="0"/>
              <a:t>“Second, what it actually means to fit a model by likelihood. I’ll show you how we treat the model as a generator of trial-by-trial </a:t>
            </a:r>
            <a:r>
              <a:rPr lang="en-US" dirty="0" err="1"/>
              <a:t>behaviour</a:t>
            </a:r>
            <a:r>
              <a:rPr lang="en-US" dirty="0"/>
              <a:t> and use that to define a loss function,.</a:t>
            </a:r>
          </a:p>
          <a:p>
            <a:r>
              <a:rPr lang="en-US" dirty="0"/>
              <a:t>“Third, how to go from vague hypotheses like ‘maybe the EEG signal is boosting encoding’ to a small set of explicit models that embody different stories.</a:t>
            </a:r>
          </a:p>
          <a:p>
            <a:r>
              <a:rPr lang="en-US" dirty="0"/>
              <a:t>“And fourth, how to compare those models in a way that lets us say which stories are clearly ruled out, which are supported, and where the data simply don’t distinguish between them. </a:t>
            </a:r>
          </a:p>
          <a:p>
            <a:r>
              <a:rPr lang="en-US" dirty="0"/>
              <a:t>“I’ll use one emotional memory EEG dataset as a running example so we’re not talking in the abstract, but I’ll keep circling back to these four questions rather than the specifics of that experiment.”</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a:t>
            </a:fld>
            <a:endParaRPr lang="en-GB" altLang="en-US"/>
          </a:p>
        </p:txBody>
      </p:sp>
    </p:spTree>
    <p:extLst>
      <p:ext uri="{BB962C8B-B14F-4D97-AF65-F5344CB8AC3E}">
        <p14:creationId xmlns:p14="http://schemas.microsoft.com/office/powerpoint/2010/main" val="1671032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data from a study by Zarubin et al. (2020). In this experiment, participants studied lists of negative and neutral images. Some neutral items are related to one other and some aren’t, but we don’t focus on that detail here. </a:t>
            </a:r>
          </a:p>
          <a:p>
            <a:endParaRPr lang="en-US" dirty="0"/>
          </a:p>
          <a:p>
            <a:r>
              <a:rPr lang="en-US" dirty="0"/>
              <a:t>After study, participants then did a short distractor task, and then freely recalled as many images as they could. This procedure was repeated by 38 participants nine times with twenty-two images per list.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During encoding we recorded an ERP component called the Late Positive Potential, or LPP. In this paradigm negative pictures tend to elicit a larger LPP than neutral pictures, so it is often treated as a neural marker of emotional attention.</a:t>
            </a:r>
          </a:p>
          <a:p>
            <a:endParaRPr lang="en-US" dirty="0"/>
          </a:p>
          <a:p>
            <a:r>
              <a:rPr lang="en-US" dirty="0"/>
              <a:t>For the modelling, the key point is that for each list we know, for each item, its emotion label, its Early-LPP amplitude at encoding, and whether it was later recalled. Important for later, we do not know recall order. And response data for the first two items was dropped outright by the authors to control for primacy. For a modeling project, it’s a bit modest in size and a little noisy, but that’s often the kind of data we have, making it a useful example here. </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3</a:t>
            </a:fld>
            <a:endParaRPr lang="en-GB" altLang="en-US"/>
          </a:p>
        </p:txBody>
      </p:sp>
    </p:spTree>
    <p:extLst>
      <p:ext uri="{BB962C8B-B14F-4D97-AF65-F5344CB8AC3E}">
        <p14:creationId xmlns:p14="http://schemas.microsoft.com/office/powerpoint/2010/main" val="2703332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focal behavioral benchmark exhibited by this dataset is the emotional enhancement of memory: negative items are more likely to be recalled than neutral ones across serial position.”</a:t>
            </a:r>
          </a:p>
          <a:p>
            <a:r>
              <a:rPr lang="en-US" dirty="0"/>
              <a:t>The error bars are 95% bootstrap confidence intervals across subjects, and I’ll use the same convention on the other plots.</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4</a:t>
            </a:fld>
            <a:endParaRPr lang="en-GB" altLang="en-US"/>
          </a:p>
        </p:txBody>
      </p:sp>
    </p:spTree>
    <p:extLst>
      <p:ext uri="{BB962C8B-B14F-4D97-AF65-F5344CB8AC3E}">
        <p14:creationId xmlns:p14="http://schemas.microsoft.com/office/powerpoint/2010/main" val="2400150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DF731-7E1B-E7AD-1688-4DFD01662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18366-8130-D914-1676-6ABF94585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9C97A-83D0-DA93-2FFE-1FEE8D9FD89B}"/>
              </a:ext>
            </a:extLst>
          </p:cNvPr>
          <p:cNvSpPr>
            <a:spLocks noGrp="1"/>
          </p:cNvSpPr>
          <p:nvPr>
            <p:ph type="body" idx="1"/>
          </p:nvPr>
        </p:nvSpPr>
        <p:spPr/>
        <p:txBody>
          <a:bodyPr/>
          <a:lstStyle/>
          <a:p>
            <a:r>
              <a:rPr lang="en-US" dirty="0"/>
              <a:t>If we look at the EEG data, we see a parallel pattern: Early LPP is, on average, higher for negative than for neutral items across serial position, although there is substantial overlap and variability. So LPP behaves like a noisy, graded index of emotional attention that any </a:t>
            </a:r>
            <a:r>
              <a:rPr lang="en-US" dirty="0" err="1"/>
              <a:t>neurally</a:t>
            </a:r>
            <a:r>
              <a:rPr lang="en-US" dirty="0"/>
              <a:t> informed model will need to respect.”</a:t>
            </a:r>
          </a:p>
        </p:txBody>
      </p:sp>
      <p:sp>
        <p:nvSpPr>
          <p:cNvPr id="4" name="Slide Number Placeholder 3">
            <a:extLst>
              <a:ext uri="{FF2B5EF4-FFF2-40B4-BE49-F238E27FC236}">
                <a16:creationId xmlns:a16="http://schemas.microsoft.com/office/drawing/2014/main" id="{2D090522-C77F-56DD-2ADD-8D5B0977962C}"/>
              </a:ext>
            </a:extLst>
          </p:cNvPr>
          <p:cNvSpPr>
            <a:spLocks noGrp="1"/>
          </p:cNvSpPr>
          <p:nvPr>
            <p:ph type="sldNum" sz="quarter" idx="5"/>
          </p:nvPr>
        </p:nvSpPr>
        <p:spPr/>
        <p:txBody>
          <a:bodyPr/>
          <a:lstStyle/>
          <a:p>
            <a:fld id="{CEA5AD2E-89E1-4370-8739-344D4E353C41}" type="slidenum">
              <a:rPr lang="en-GB" altLang="en-US" smtClean="0"/>
              <a:pPr/>
              <a:t>5</a:t>
            </a:fld>
            <a:endParaRPr lang="en-GB" altLang="en-US"/>
          </a:p>
        </p:txBody>
      </p:sp>
    </p:spTree>
    <p:extLst>
      <p:ext uri="{BB962C8B-B14F-4D97-AF65-F5344CB8AC3E}">
        <p14:creationId xmlns:p14="http://schemas.microsoft.com/office/powerpoint/2010/main" val="3032170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further split by subsequent recall, we see that Early LPP tends to be larger for negative items that are later recalled than for negative items that are not later recalled.”</a:t>
            </a:r>
          </a:p>
          <a:p>
            <a:r>
              <a:rPr lang="en-US" dirty="0"/>
              <a:t>“Within neutral items, the difference between recalled and unrecalled is much smaller.”</a:t>
            </a:r>
          </a:p>
          <a:p>
            <a:r>
              <a:rPr lang="en-US" dirty="0"/>
              <a:t>“So even before fitting any model, we have this descriptive picture: LPP seems more strongly tied to recall for negative items than for neutral ones, though again with plenty of noise.</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6</a:t>
            </a:fld>
            <a:endParaRPr lang="en-GB" altLang="en-US"/>
          </a:p>
        </p:txBody>
      </p:sp>
    </p:spTree>
    <p:extLst>
      <p:ext uri="{BB962C8B-B14F-4D97-AF65-F5344CB8AC3E}">
        <p14:creationId xmlns:p14="http://schemas.microsoft.com/office/powerpoint/2010/main" val="3823544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CA17-FD42-8D5D-A661-A7F59B5E5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32DD3-713F-21A8-F360-122D0D986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AD2BD-6835-3C73-A577-13D39C0B22EB}"/>
              </a:ext>
            </a:extLst>
          </p:cNvPr>
          <p:cNvSpPr>
            <a:spLocks noGrp="1"/>
          </p:cNvSpPr>
          <p:nvPr>
            <p:ph type="body" idx="1"/>
          </p:nvPr>
        </p:nvSpPr>
        <p:spPr/>
        <p:txBody>
          <a:bodyPr/>
          <a:lstStyle/>
          <a:p>
            <a:r>
              <a:rPr lang="en-US" sz="1200" b="0" i="0" kern="1200" dirty="0">
                <a:solidFill>
                  <a:schemeClr val="tx1"/>
                </a:solidFill>
                <a:effectLst/>
                <a:latin typeface="Arial" charset="0"/>
                <a:ea typeface="+mn-ea"/>
                <a:cs typeface="+mn-cs"/>
              </a:rPr>
              <a:t>Here, we superimpose Early-LPP curves to highlight joint structure. Recalled emotional items have the highest Early LPPs. Unrecalled emotional items sit lower and substantially overlap with both recalled and unrecalled neutral items. </a:t>
            </a:r>
            <a:r>
              <a:rPr lang="en-US" dirty="0"/>
              <a:t>So Early LPP clearly reflects both emotion and later recall, but it is not a pure tag for either one on its own. That combination – a systematic shift by emotion, plus an extra boost for items that will be recalled – is exactly the sort of mixed signal that will matter for how we think about modelling this dataset later.</a:t>
            </a:r>
          </a:p>
        </p:txBody>
      </p:sp>
      <p:sp>
        <p:nvSpPr>
          <p:cNvPr id="4" name="Slide Number Placeholder 3">
            <a:extLst>
              <a:ext uri="{FF2B5EF4-FFF2-40B4-BE49-F238E27FC236}">
                <a16:creationId xmlns:a16="http://schemas.microsoft.com/office/drawing/2014/main" id="{C6FA8CFB-9551-32A5-C497-C6327F788516}"/>
              </a:ext>
            </a:extLst>
          </p:cNvPr>
          <p:cNvSpPr>
            <a:spLocks noGrp="1"/>
          </p:cNvSpPr>
          <p:nvPr>
            <p:ph type="sldNum" sz="quarter" idx="5"/>
          </p:nvPr>
        </p:nvSpPr>
        <p:spPr/>
        <p:txBody>
          <a:bodyPr/>
          <a:lstStyle/>
          <a:p>
            <a:fld id="{CEA5AD2E-89E1-4370-8739-344D4E353C41}" type="slidenum">
              <a:rPr lang="en-GB" altLang="en-US" smtClean="0"/>
              <a:pPr/>
              <a:t>7</a:t>
            </a:fld>
            <a:endParaRPr lang="en-GB" altLang="en-US"/>
          </a:p>
        </p:txBody>
      </p:sp>
    </p:spTree>
    <p:extLst>
      <p:ext uri="{BB962C8B-B14F-4D97-AF65-F5344CB8AC3E}">
        <p14:creationId xmlns:p14="http://schemas.microsoft.com/office/powerpoint/2010/main" val="8743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t>
            </a:r>
            <a:r>
              <a:rPr lang="en-US" dirty="0" err="1"/>
              <a:t>summarise</a:t>
            </a:r>
            <a:r>
              <a:rPr lang="en-US" dirty="0"/>
              <a:t> these patterns with a logistic mixed-effects model that predicts recall from emotion, Early LPP, and their interaction.</a:t>
            </a:r>
          </a:p>
          <a:p>
            <a:r>
              <a:rPr lang="en-US" dirty="0"/>
              <a:t>All three terms are reliable: negative items are recalled more often than neutral, items with higher LPP are more likely to be recalled, and the LPP–recall slope is steeper for negative than for neutral items.</a:t>
            </a:r>
          </a:p>
          <a:p>
            <a:r>
              <a:rPr lang="en-US" dirty="0"/>
              <a:t>So statistically, both the emotion label and LPP carry unique information, and LPP’s relationship with recall depends on emotion.</a:t>
            </a:r>
          </a:p>
          <a:p>
            <a:r>
              <a:rPr lang="en-US" dirty="0"/>
              <a:t>What this analysis doesn’t tell us is how those factors enter the recall process. That’s where the cognitive modelling comes in: we’ll ask whether different ways of using emotion labels and LPP in an encoding rule can all reproduce this pattern, or whether some mechanistic stories can be ruled out.”</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8</a:t>
            </a:fld>
            <a:endParaRPr lang="en-GB" altLang="en-US"/>
          </a:p>
        </p:txBody>
      </p:sp>
    </p:spTree>
    <p:extLst>
      <p:ext uri="{BB962C8B-B14F-4D97-AF65-F5344CB8AC3E}">
        <p14:creationId xmlns:p14="http://schemas.microsoft.com/office/powerpoint/2010/main" val="473124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way to connect a model to data is to pick a few summary curves – a serial-position curve, maybe a binned LPP–recall curve – and tune parameters so those curves line up.</a:t>
            </a:r>
          </a:p>
          <a:p>
            <a:r>
              <a:rPr lang="en-US" dirty="0"/>
              <a:t>That approach is very common and often useful, but it forces you to choose which summaries matter and how to weight them, and it ignores a lot of the trial-by-trial structure the model actually predicts.</a:t>
            </a:r>
          </a:p>
          <a:p>
            <a:r>
              <a:rPr lang="en-US" dirty="0"/>
              <a:t>If there are patterns in your data not contacted by your summaries, your evaluation totally sidesteps them, providing an incomplete picture of how well your model explains the data.</a:t>
            </a:r>
          </a:p>
          <a:p>
            <a:endParaRPr lang="en-US" dirty="0"/>
          </a:p>
          <a:p>
            <a:r>
              <a:rPr lang="en-US" dirty="0"/>
              <a:t>Because we care about relatively subtle differences in how models treat LPP and want all our data’s structure to contribute to evaluation, we’re going to use a likelihood-based approach instead: treat the model as a generator of recall sets and ask, for each parameter setting, how probable the actually observed recall sets are under that model.</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9</a:t>
            </a:fld>
            <a:endParaRPr lang="en-GB" altLang="en-US"/>
          </a:p>
        </p:txBody>
      </p:sp>
    </p:spTree>
    <p:extLst>
      <p:ext uri="{BB962C8B-B14F-4D97-AF65-F5344CB8AC3E}">
        <p14:creationId xmlns:p14="http://schemas.microsoft.com/office/powerpoint/2010/main" val="1813700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did have full recall sequences, this is the sort of likelihood we’d like to compute. In the flow chart on the left, the model simulates study and then simulates the retrieval process one response at a time. At each step it assigns probabilities to all possible responses, including a STOP response, and we look up the probability of whatever the participant actually did – recalling ‘tree’, then ‘queen’, then ‘king’, and so on, as shown on the right.</a:t>
            </a:r>
          </a:p>
          <a:p>
            <a:r>
              <a:rPr lang="en-US" dirty="0"/>
              <a:t>By multiplying those probabilities across the whole sequence, we get the likelihood of that recall sequence under the current parameter setting. Fitting the model by likelihood would then mean adjusting the parameters so that the sequences we actually observed are as probable as possible under this generative process.”</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10</a:t>
            </a:fld>
            <a:endParaRPr lang="en-GB" altLang="en-US"/>
          </a:p>
        </p:txBody>
      </p:sp>
    </p:spTree>
    <p:extLst>
      <p:ext uri="{BB962C8B-B14F-4D97-AF65-F5344CB8AC3E}">
        <p14:creationId xmlns:p14="http://schemas.microsoft.com/office/powerpoint/2010/main" val="452860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dataset, we don’t have full recall sequences; we only know, for each list, which items were recalled.”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question then becomes: how do we adapt the ideal sequence likelihood to this situation, where what we observe is just the set of recalled items for each list?”</a:t>
            </a:r>
          </a:p>
          <a:p>
            <a:endParaRPr lang="en-US" dirty="0"/>
          </a:p>
          <a:p>
            <a:r>
              <a:rPr lang="en-US" dirty="0"/>
              <a:t>To adapt the ideal likelihood idea, we define a likelihood over sets: under a given parameter setting, how probable is it that the model would eventually recall </a:t>
            </a:r>
            <a:r>
              <a:rPr lang="en-US" i="1" dirty="0"/>
              <a:t>exactly</a:t>
            </a:r>
            <a:r>
              <a:rPr lang="en-US" dirty="0"/>
              <a:t> that set of items, in some order. In practice we approximate that by sampling different orders of the recalled set, computing the sequence probability for each, and averaging them. It’s a Monte Carlo hack, but it lets us keep using the full generative model despite only having recall sets in the data.”</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11</a:t>
            </a:fld>
            <a:endParaRPr lang="en-GB" altLang="en-US"/>
          </a:p>
        </p:txBody>
      </p:sp>
    </p:spTree>
    <p:extLst>
      <p:ext uri="{BB962C8B-B14F-4D97-AF65-F5344CB8AC3E}">
        <p14:creationId xmlns:p14="http://schemas.microsoft.com/office/powerpoint/2010/main" val="2297736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go to the trouble of defining this set-based likelihood rather than just matching an SPC and an LPP–recall curve?”</a:t>
            </a:r>
          </a:p>
          <a:p>
            <a:r>
              <a:rPr lang="en-US" dirty="0"/>
              <a:t>“First, it means we are evaluating models on the full trial-level pattern of which items are recalled, not just on one or two summary curves we chose.”</a:t>
            </a:r>
          </a:p>
          <a:p>
            <a:r>
              <a:rPr lang="en-US" dirty="0"/>
              <a:t>Second, it forces us to use the same encoding and retrieval parameters to both generate and score </a:t>
            </a:r>
            <a:r>
              <a:rPr lang="en-US" dirty="0" err="1"/>
              <a:t>behaviour</a:t>
            </a:r>
            <a:r>
              <a:rPr lang="en-US" dirty="0"/>
              <a:t>. If we claim that LPP boosts encoding strength, that same encoding rule has to explain </a:t>
            </a:r>
            <a:r>
              <a:rPr lang="en-US" i="1" dirty="0"/>
              <a:t>all</a:t>
            </a:r>
            <a:r>
              <a:rPr lang="en-US" dirty="0"/>
              <a:t> the recall patterns in the likelihood; we can’t quietly use one set of parameters to match the SPC and a different set to match the LPP effect. That is what I mean by ‘respecting the generative structure’.</a:t>
            </a:r>
          </a:p>
          <a:p>
            <a:r>
              <a:rPr lang="en-US" dirty="0"/>
              <a:t>Third, once we have log likelihoods per subject and model, we can turn them into a simple model-comparison score that </a:t>
            </a:r>
            <a:r>
              <a:rPr lang="en-US" dirty="0" err="1"/>
              <a:t>penalises</a:t>
            </a:r>
            <a:r>
              <a:rPr lang="en-US" dirty="0"/>
              <a:t> extra parameters – I’ll use AIC – so we can say, in a principled way, which mechanistic stories are clearly ruled out by the </a:t>
            </a:r>
            <a:r>
              <a:rPr lang="en-US" dirty="0" err="1"/>
              <a:t>behaviour</a:t>
            </a:r>
            <a:r>
              <a:rPr lang="en-US" dirty="0"/>
              <a:t> and where two stories are effectively tied.”</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12</a:t>
            </a:fld>
            <a:endParaRPr lang="en-GB" altLang="en-US"/>
          </a:p>
        </p:txBody>
      </p:sp>
    </p:spTree>
    <p:extLst>
      <p:ext uri="{BB962C8B-B14F-4D97-AF65-F5344CB8AC3E}">
        <p14:creationId xmlns:p14="http://schemas.microsoft.com/office/powerpoint/2010/main" val="2987982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away from this dataset, what are some general rules of thumb for choosing models to compare?”</a:t>
            </a:r>
          </a:p>
          <a:p>
            <a:r>
              <a:rPr lang="en-US" dirty="0"/>
              <a:t>“First, you want models to differ in focused ways: ideally one mechanistic ingredient at a time. Here, the ingredient we’re playing with is where and how LPP and emotion enter the encoding rule.”</a:t>
            </a:r>
          </a:p>
          <a:p>
            <a:r>
              <a:rPr lang="en-US" dirty="0"/>
              <a:t>“Second, you want a baseline that is psychologically meaningful, not just an obviously bad model. In our case, an emotion-only recall model that never sees LPP is a reasonable baseline.”</a:t>
            </a:r>
          </a:p>
          <a:p>
            <a:r>
              <a:rPr lang="en-US" dirty="0"/>
              <a:t>“Third, you want each model to correspond to a verbal story you could explain to someone in a couple of sentences, because the point is to ask whether that story is clearly ruled out, clearly supported, or simply left underdetermined by the data.”</a:t>
            </a:r>
          </a:p>
          <a:p>
            <a:r>
              <a:rPr lang="en-US" dirty="0"/>
              <a:t>“In the rest of the talk, we’ll see one example of each: an emotion-only model that is clearly ruled out once we look at the fits, and two EEG-aware models where, for this dataset, the </a:t>
            </a:r>
            <a:r>
              <a:rPr lang="en-US" dirty="0" err="1"/>
              <a:t>behaviour</a:t>
            </a:r>
            <a:r>
              <a:rPr lang="en-US" dirty="0"/>
              <a:t> effectively ties them.”</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13</a:t>
            </a:fld>
            <a:endParaRPr lang="en-GB" altLang="en-US"/>
          </a:p>
        </p:txBody>
      </p:sp>
    </p:spTree>
    <p:extLst>
      <p:ext uri="{BB962C8B-B14F-4D97-AF65-F5344CB8AC3E}">
        <p14:creationId xmlns:p14="http://schemas.microsoft.com/office/powerpoint/2010/main" val="3359169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961B2-27D7-5CEF-03DC-99ADA7AA2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F1573-DB58-B821-4BF3-9B99DC3FE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55E9D-B160-39ED-DB7F-3A1CFC39D072}"/>
              </a:ext>
            </a:extLst>
          </p:cNvPr>
          <p:cNvSpPr>
            <a:spLocks noGrp="1"/>
          </p:cNvSpPr>
          <p:nvPr>
            <p:ph type="body" idx="1"/>
          </p:nvPr>
        </p:nvSpPr>
        <p:spPr/>
        <p:txBody>
          <a:bodyPr/>
          <a:lstStyle/>
          <a:p>
            <a:r>
              <a:rPr lang="en-US" dirty="0"/>
              <a:t>Now let’s shift to model specification. We’ve been circling around a basic question about LPP: could it work as a stand-in for emotion in our model?</a:t>
            </a:r>
          </a:p>
          <a:p>
            <a:r>
              <a:rPr lang="en-US" dirty="0"/>
              <a:t>Statistically, what we’ve seen so far is that both the emotion label and Early LPP predict recall. Negative items are recalled more often than neutral even after controlling for LPP, and LPP is highest for recalled negatives and lower for the other groups. LPP is clearly related to emotion and to later recall, but it’s not a pure tag for either one.</a:t>
            </a:r>
          </a:p>
          <a:p>
            <a:r>
              <a:rPr lang="en-US" dirty="0"/>
              <a:t>When we talk about LPP ‘standing in’ for emotion in the model, that could mean a strong claim – drop the emotion labels entirely and let LPP drive the emotional mechanism – or a weaker claim, where LPP is the graded input to that mechanism but the condition labels still carry extra information. The GMM patterns give us reasons to doubt the strong, ‘LPP replaces the label’ story, because emotion still explains variance beyond LPP, but they don’t tell us how a recall model that only sees LPP would actually behave compared to one that also sees the labels. That’s the modelling question we’re going to </a:t>
            </a:r>
            <a:r>
              <a:rPr lang="en-US" dirty="0" err="1"/>
              <a:t>formalise</a:t>
            </a:r>
            <a:r>
              <a:rPr lang="en-US" dirty="0"/>
              <a:t> on the next slide.</a:t>
            </a:r>
          </a:p>
        </p:txBody>
      </p:sp>
      <p:sp>
        <p:nvSpPr>
          <p:cNvPr id="4" name="Slide Number Placeholder 3">
            <a:extLst>
              <a:ext uri="{FF2B5EF4-FFF2-40B4-BE49-F238E27FC236}">
                <a16:creationId xmlns:a16="http://schemas.microsoft.com/office/drawing/2014/main" id="{E2B7385F-457E-AC5A-ADB7-369CB7FD0D90}"/>
              </a:ext>
            </a:extLst>
          </p:cNvPr>
          <p:cNvSpPr>
            <a:spLocks noGrp="1"/>
          </p:cNvSpPr>
          <p:nvPr>
            <p:ph type="sldNum" sz="quarter" idx="5"/>
          </p:nvPr>
        </p:nvSpPr>
        <p:spPr/>
        <p:txBody>
          <a:bodyPr/>
          <a:lstStyle/>
          <a:p>
            <a:fld id="{CEA5AD2E-89E1-4370-8739-344D4E353C41}" type="slidenum">
              <a:rPr lang="en-GB" altLang="en-US" smtClean="0"/>
              <a:pPr/>
              <a:t>14</a:t>
            </a:fld>
            <a:endParaRPr lang="en-GB" altLang="en-US"/>
          </a:p>
        </p:txBody>
      </p:sp>
    </p:spTree>
    <p:extLst>
      <p:ext uri="{BB962C8B-B14F-4D97-AF65-F5344CB8AC3E}">
        <p14:creationId xmlns:p14="http://schemas.microsoft.com/office/powerpoint/2010/main" val="1061805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these stories we embed them in an established emotional free recall model called the emotional context maintenance and retrieval model, or </a:t>
            </a:r>
            <a:r>
              <a:rPr lang="en-US" dirty="0" err="1"/>
              <a:t>eCMR</a:t>
            </a:r>
            <a:r>
              <a:rPr lang="en-US" dirty="0"/>
              <a:t>. </a:t>
            </a:r>
          </a:p>
          <a:p>
            <a:r>
              <a:rPr lang="en-US" dirty="0"/>
              <a:t>We don’t need to get into its details, but it has two main stages.”</a:t>
            </a:r>
          </a:p>
          <a:p>
            <a:r>
              <a:rPr lang="en-US" dirty="0"/>
              <a:t>“At study, items are encoded with a strength Sᵢ and linked to a context representation. At test, a cue drives a context state that activates items based on their similarity to the cue and their strength, and a competitive choice rule produces recalls or a STOP decision.”</a:t>
            </a:r>
          </a:p>
          <a:p>
            <a:r>
              <a:rPr lang="en-US" dirty="0"/>
              <a:t>“Across all the models I’ll show you, the retrieval stage – context dynamics, similarity, and competition – is the same.”</a:t>
            </a:r>
          </a:p>
          <a:p>
            <a:r>
              <a:rPr lang="en-US" dirty="0"/>
              <a:t>“What we’re going to manipulate is the encoding rule: how emotion and LPP are allowed to feed into the encoding strength S sub </a:t>
            </a:r>
            <a:r>
              <a:rPr lang="en-US" dirty="0" err="1"/>
              <a:t>i</a:t>
            </a:r>
            <a:r>
              <a:rPr lang="en-US" dirty="0"/>
              <a:t>.”</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15</a:t>
            </a:fld>
            <a:endParaRPr lang="en-GB" altLang="en-US"/>
          </a:p>
        </p:txBody>
      </p:sp>
    </p:spTree>
    <p:extLst>
      <p:ext uri="{BB962C8B-B14F-4D97-AF65-F5344CB8AC3E}">
        <p14:creationId xmlns:p14="http://schemas.microsoft.com/office/powerpoint/2010/main" val="1525732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o make those ideas concrete, we’re going to look at three ways of letting the model use emotion and LPP at encoding.</a:t>
                </a:r>
              </a:p>
              <a:p>
                <a:r>
                  <a:rPr lang="en-US" dirty="0"/>
                  <a:t>Model 0 is an emotion-only model: the encoding strength </a:t>
                </a:r>
                <a14:m>
                  <m:oMath xmlns:m="http://schemas.openxmlformats.org/officeDocument/2006/math">
                    <m:sSub>
                      <m:sSubPr>
                        <m:ctrlPr>
                          <a:rPr lang="ar-AE" sz="1200" kern="1200">
                            <a:solidFill>
                              <a:schemeClr val="tx1"/>
                            </a:solidFill>
                            <a:latin typeface="Arial" charset="0"/>
                            <a:ea typeface="+mn-ea"/>
                            <a:cs typeface="+mn-cs"/>
                          </a:rPr>
                        </m:ctrlPr>
                      </m:sSubPr>
                      <m:e>
                        <m:r>
                          <a:rPr lang="ar-AE" sz="1200" i="1" kern="1200">
                            <a:solidFill>
                              <a:schemeClr val="tx1"/>
                            </a:solidFill>
                            <a:latin typeface="Arial" charset="0"/>
                            <a:ea typeface="+mn-ea"/>
                            <a:cs typeface="+mn-cs"/>
                          </a:rPr>
                          <m:t>𝑆</m:t>
                        </m:r>
                      </m:e>
                      <m:sub>
                        <m:r>
                          <a:rPr lang="ar-AE" sz="1200" i="1" kern="1200">
                            <a:solidFill>
                              <a:schemeClr val="tx1"/>
                            </a:solidFill>
                            <a:latin typeface="Arial" charset="0"/>
                            <a:ea typeface="+mn-ea"/>
                            <a:cs typeface="+mn-cs"/>
                          </a:rPr>
                          <m:t>𝑖</m:t>
                        </m:r>
                      </m:sub>
                    </m:sSub>
                  </m:oMath>
                </a14:m>
                <a:r>
                  <a:rPr lang="en-US" dirty="0"/>
                  <a:t>depends only on whether an item is negative or neutral, and LPP is ignored. This is our baseline, where emotion labels are the only ‘emotional’ input.</a:t>
                </a:r>
              </a:p>
              <a:p>
                <a:r>
                  <a:rPr lang="en-US" dirty="0"/>
                  <a:t>Model 1 is an LPP-only model: encoding strength depends only on the item’s Early LPP amplitude, and the model never sees the category labels. This is the strong ‘LPP stands in for emotion’ idea we just talked about.</a:t>
                </a:r>
              </a:p>
              <a:p>
                <a:r>
                  <a:rPr lang="en-US" dirty="0"/>
                  <a:t>Model 2 is an emotion-plus-LPP model: encoding strength depends on both the condition label and LPP, so the model has a binary emotion factor and a graded neural signal. This corresponds to the weaker stand-in idea, where LPP is the graded input to an emotional channel but labels can still carry extra information.</a:t>
                </a:r>
              </a:p>
              <a:p>
                <a:r>
                  <a:rPr lang="en-US" dirty="0"/>
                  <a:t>Across all three models, the retrieval dynamics – context drift, cue–item similarity, competition – are exactly the same; only the encoding rule changes.</a:t>
                </a:r>
              </a:p>
            </p:txBody>
          </p:sp>
        </mc:Choice>
        <mc:Fallback>
          <p:sp>
            <p:nvSpPr>
              <p:cNvPr id="3" name="Notes Placeholder 2"/>
              <p:cNvSpPr>
                <a:spLocks noGrp="1"/>
              </p:cNvSpPr>
              <p:nvPr>
                <p:ph type="body" idx="1"/>
              </p:nvPr>
            </p:nvSpPr>
            <p:spPr/>
            <p:txBody>
              <a:bodyPr/>
              <a:lstStyle/>
              <a:p>
                <a:r>
                  <a:rPr lang="en-US" dirty="0"/>
                  <a:t>o make those ideas concrete, we’re going to look at three ways of letting the model use emotion and LPP at encoding.</a:t>
                </a:r>
              </a:p>
              <a:p>
                <a:r>
                  <a:rPr lang="en-US" dirty="0"/>
                  <a:t>Model 0 is an emotion-only model: the encoding strength </a:t>
                </a:r>
                <a:r>
                  <a:rPr lang="ar-AE" sz="1200" i="0" kern="1200">
                    <a:solidFill>
                      <a:schemeClr val="tx1"/>
                    </a:solidFill>
                    <a:latin typeface="Arial" charset="0"/>
                    <a:ea typeface="+mn-ea"/>
                    <a:cs typeface="+mn-cs"/>
                  </a:rPr>
                  <a:t>𝑆_𝑖</a:t>
                </a:r>
                <a:r>
                  <a:rPr lang="en-US" dirty="0"/>
                  <a:t>depends only on whether an item is negative or neutral, and LPP is ignored. This is our baseline, where emotion labels are the only ‘emotional’ input.</a:t>
                </a:r>
              </a:p>
              <a:p>
                <a:r>
                  <a:rPr lang="en-US" dirty="0"/>
                  <a:t>Model 1 is an LPP-only model: encoding strength depends only on the item’s Early LPP amplitude, and the model never sees the category labels. This is the strong ‘LPP stands in for emotion’ idea we just talked about.</a:t>
                </a:r>
              </a:p>
              <a:p>
                <a:r>
                  <a:rPr lang="en-US" dirty="0"/>
                  <a:t>Model 2 is an emotion-plus-LPP model: encoding strength depends on both the condition label and LPP, so the model has a binary emotion factor and a graded neural signal. This corresponds to the weaker stand-in idea, where LPP is the graded input to an emotional channel but labels can still carry extra information.</a:t>
                </a:r>
              </a:p>
              <a:p>
                <a:r>
                  <a:rPr lang="en-US" dirty="0"/>
                  <a:t>Across all three models, the retrieval dynamics – context drift, cue–item similarity, competition – are exactly the same; only the encoding rule changes.</a:t>
                </a:r>
              </a:p>
            </p:txBody>
          </p:sp>
        </mc:Fallback>
      </mc:AlternateContent>
      <p:sp>
        <p:nvSpPr>
          <p:cNvPr id="4" name="Slide Number Placeholder 3"/>
          <p:cNvSpPr>
            <a:spLocks noGrp="1"/>
          </p:cNvSpPr>
          <p:nvPr>
            <p:ph type="sldNum" sz="quarter" idx="5"/>
          </p:nvPr>
        </p:nvSpPr>
        <p:spPr/>
        <p:txBody>
          <a:bodyPr/>
          <a:lstStyle/>
          <a:p>
            <a:fld id="{CEA5AD2E-89E1-4370-8739-344D4E353C41}" type="slidenum">
              <a:rPr lang="en-GB" altLang="en-US" smtClean="0"/>
              <a:pPr/>
              <a:t>16</a:t>
            </a:fld>
            <a:endParaRPr lang="en-GB" altLang="en-US"/>
          </a:p>
        </p:txBody>
      </p:sp>
    </p:spTree>
    <p:extLst>
      <p:ext uri="{BB962C8B-B14F-4D97-AF65-F5344CB8AC3E}">
        <p14:creationId xmlns:p14="http://schemas.microsoft.com/office/powerpoint/2010/main" val="3073078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participant and each model we have a log likelihood from the set-based fit: how probable their recall sets are under that model at its best-fitting parameters.”</a:t>
            </a:r>
          </a:p>
          <a:p>
            <a:r>
              <a:rPr lang="en-US" dirty="0"/>
              <a:t>“We use AIC to turn that into a model score. It rewards high log likelihood but </a:t>
            </a:r>
            <a:r>
              <a:rPr lang="en-US" dirty="0" err="1"/>
              <a:t>penalises</a:t>
            </a:r>
            <a:r>
              <a:rPr lang="en-US" dirty="0"/>
              <a:t> models with more free parameters.”</a:t>
            </a:r>
          </a:p>
          <a:p>
            <a:r>
              <a:rPr lang="en-US" dirty="0"/>
              <a:t>“Formally, AIC is 2 times the number of parameters minus 2 times the log likelihood.</a:t>
            </a:r>
          </a:p>
          <a:p>
            <a:r>
              <a:rPr lang="en-US" dirty="0"/>
              <a:t>Under some mild assumptions, this simple combination gives an estimate of how well the model would predict new data from the same task. Lower AIC means better expected out-of-sample predictive performance, so we’ll use it as a single score to compare our models for each subject.”</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17</a:t>
            </a:fld>
            <a:endParaRPr lang="en-GB" altLang="en-US"/>
          </a:p>
        </p:txBody>
      </p:sp>
    </p:spTree>
    <p:extLst>
      <p:ext uri="{BB962C8B-B14F-4D97-AF65-F5344CB8AC3E}">
        <p14:creationId xmlns:p14="http://schemas.microsoft.com/office/powerpoint/2010/main" val="3251048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AIC differences between the three encoding options. </a:t>
            </a:r>
            <a:r>
              <a:rPr lang="el-GR" dirty="0"/>
              <a:t>Δ</a:t>
            </a:r>
            <a:r>
              <a:rPr lang="en-US" dirty="0"/>
              <a:t>AIC here is AIC for the row model minus AIC for the column model, computed separately for each subject. We then bootstrap across subjects to get a confidence interval on the </a:t>
            </a:r>
            <a:r>
              <a:rPr lang="en-US" i="1" dirty="0"/>
              <a:t>mean</a:t>
            </a:r>
            <a:r>
              <a:rPr lang="en-US" dirty="0"/>
              <a:t> </a:t>
            </a:r>
            <a:r>
              <a:rPr lang="el-GR" dirty="0"/>
              <a:t>Δ</a:t>
            </a:r>
            <a:r>
              <a:rPr lang="en-US" dirty="0"/>
              <a:t>AIC. Negative values </a:t>
            </a:r>
            <a:r>
              <a:rPr lang="en-US" dirty="0" err="1"/>
              <a:t>favour</a:t>
            </a:r>
            <a:r>
              <a:rPr lang="en-US" dirty="0"/>
              <a:t> the row model; positive values </a:t>
            </a:r>
            <a:r>
              <a:rPr lang="en-US" dirty="0" err="1"/>
              <a:t>favour</a:t>
            </a:r>
            <a:r>
              <a:rPr lang="en-US" dirty="0"/>
              <a:t> the column. As a rough rule of thumb, differences smaller than about two AIC units are negligible; larger, consistent differences suggest a real advantage in expected predictive performance.</a:t>
            </a:r>
          </a:p>
          <a:p>
            <a:r>
              <a:rPr lang="en-US" dirty="0"/>
              <a:t>For </a:t>
            </a:r>
            <a:r>
              <a:rPr lang="en-US" dirty="0" err="1"/>
              <a:t>Emotion+LPP</a:t>
            </a:r>
            <a:r>
              <a:rPr lang="en-US" dirty="0"/>
              <a:t> versus Emotion-only, the mean </a:t>
            </a:r>
            <a:r>
              <a:rPr lang="el-GR" dirty="0"/>
              <a:t>Δ</a:t>
            </a:r>
            <a:r>
              <a:rPr lang="en-US" dirty="0"/>
              <a:t>AIC is around minus four and the bootstrap interval sits below zero. That means that, across subjects, the combined model reliably predicts better than the emotion-only model – letting the model see LPP on top of the labels helps.</a:t>
            </a:r>
          </a:p>
          <a:p>
            <a:r>
              <a:rPr lang="en-US" dirty="0"/>
              <a:t>For </a:t>
            </a:r>
            <a:r>
              <a:rPr lang="en-US" dirty="0" err="1"/>
              <a:t>Emotion+LPP</a:t>
            </a:r>
            <a:r>
              <a:rPr lang="en-US" dirty="0"/>
              <a:t> versus LPP-only, the differences are even more negative, so the strong ‘LPP-only’ stand-in idea is in trouble. And when we compare Emotion-only to LPP-only, the differences lean in </a:t>
            </a:r>
            <a:r>
              <a:rPr lang="en-US" dirty="0" err="1"/>
              <a:t>favour</a:t>
            </a:r>
            <a:r>
              <a:rPr lang="en-US" dirty="0"/>
              <a:t> of Emotion-only but the interval straddles zero, so we can’t claim a clear win – the LPP-only model is certainly not better than using the labels, and within this class it is clearly worse than the </a:t>
            </a:r>
            <a:r>
              <a:rPr lang="en-US" dirty="0" err="1"/>
              <a:t>Emotion+LPP</a:t>
            </a:r>
            <a:r>
              <a:rPr lang="en-US" dirty="0"/>
              <a:t> model.”</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18</a:t>
            </a:fld>
            <a:endParaRPr lang="en-GB" altLang="en-US"/>
          </a:p>
        </p:txBody>
      </p:sp>
    </p:spTree>
    <p:extLst>
      <p:ext uri="{BB962C8B-B14F-4D97-AF65-F5344CB8AC3E}">
        <p14:creationId xmlns:p14="http://schemas.microsoft.com/office/powerpoint/2010/main" val="2377334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data; bottom row is the </a:t>
            </a:r>
            <a:r>
              <a:rPr lang="en-US" b="1" dirty="0"/>
              <a:t>emotion-only</a:t>
            </a:r>
            <a:r>
              <a:rPr lang="en-US" dirty="0"/>
              <a:t> model. It captures the emotional enhancement of memory on the left, but on the right all four simulated LPP curves overlap. So its AIC disadvantage comes from failing to reproduce the LPP–recall structure, not from basic recall rates.</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19</a:t>
            </a:fld>
            <a:endParaRPr lang="en-GB" altLang="en-US"/>
          </a:p>
        </p:txBody>
      </p:sp>
    </p:spTree>
    <p:extLst>
      <p:ext uri="{BB962C8B-B14F-4D97-AF65-F5344CB8AC3E}">
        <p14:creationId xmlns:p14="http://schemas.microsoft.com/office/powerpoint/2010/main" val="3565467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20</a:t>
            </a:fld>
            <a:endParaRPr lang="en-GB" altLang="en-US"/>
          </a:p>
        </p:txBody>
      </p:sp>
    </p:spTree>
    <p:extLst>
      <p:ext uri="{BB962C8B-B14F-4D97-AF65-F5344CB8AC3E}">
        <p14:creationId xmlns:p14="http://schemas.microsoft.com/office/powerpoint/2010/main" val="1938990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21</a:t>
            </a:fld>
            <a:endParaRPr lang="en-GB" altLang="en-US"/>
          </a:p>
        </p:txBody>
      </p:sp>
    </p:spTree>
    <p:extLst>
      <p:ext uri="{BB962C8B-B14F-4D97-AF65-F5344CB8AC3E}">
        <p14:creationId xmlns:p14="http://schemas.microsoft.com/office/powerpoint/2010/main" val="4015535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back to the four questions I started with, this example shows both what modelling can and cannot do for us.</a:t>
            </a:r>
          </a:p>
          <a:p>
            <a:r>
              <a:rPr lang="en-US" dirty="0"/>
              <a:t>First, it sharpened the regression result into a process-level statement: in this recall model, the encoding rule that sees both emotion labels and LPP clearly does better than either emotion-only or LPP-only, so LPP helps as a graded signal but cannot replace the labels.</a:t>
            </a:r>
          </a:p>
          <a:p>
            <a:r>
              <a:rPr lang="en-US" dirty="0"/>
              <a:t>Second, it reminded us to be modest: many other ways of combining emotion and LPP at encoding, and many choices about retrieval, would look very similar on a dataset of this size, so modelling narrows the space of stories but does not identify a unique mechanism.</a:t>
            </a:r>
          </a:p>
          <a:p>
            <a:r>
              <a:rPr lang="en-US" dirty="0"/>
              <a:t>More generally, the workflow we walked through – pick a generative model, choose a loss that matches it to the data, </a:t>
            </a:r>
            <a:r>
              <a:rPr lang="en-US" dirty="0" err="1"/>
              <a:t>formalise</a:t>
            </a:r>
            <a:r>
              <a:rPr lang="en-US" dirty="0"/>
              <a:t> competing mechanistic ideas as model variants, and compare them carefully – is something you can reuse in other tasks to see which aspects of your </a:t>
            </a:r>
            <a:r>
              <a:rPr lang="en-US" dirty="0" err="1"/>
              <a:t>favourite</a:t>
            </a:r>
            <a:r>
              <a:rPr lang="en-US" dirty="0"/>
              <a:t> stories are actually constrained, and which remain underdetermined.</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22</a:t>
            </a:fld>
            <a:endParaRPr lang="en-GB" altLang="en-US"/>
          </a:p>
        </p:txBody>
      </p:sp>
    </p:spTree>
    <p:extLst>
      <p:ext uri="{BB962C8B-B14F-4D97-AF65-F5344CB8AC3E}">
        <p14:creationId xmlns:p14="http://schemas.microsoft.com/office/powerpoint/2010/main" val="31296989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Finally I want to thank my collaborators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kern="1200" dirty="0">
                <a:solidFill>
                  <a:srgbClr val="050808"/>
                </a:solidFill>
                <a:latin typeface="Arial" charset="0"/>
              </a:rPr>
              <a:t>Robin Hellerstedt</a:t>
            </a: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Vanessa </a:t>
            </a:r>
            <a:r>
              <a:rPr lang="en-GB" sz="1200" kern="1200" dirty="0" err="1">
                <a:solidFill>
                  <a:schemeClr val="tx1"/>
                </a:solidFill>
                <a:effectLst/>
                <a:latin typeface="Arial" charset="0"/>
                <a:ea typeface="+mn-ea"/>
                <a:cs typeface="+mn-cs"/>
              </a:rPr>
              <a:t>Zarubin</a:t>
            </a: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Katherine </a:t>
            </a:r>
            <a:r>
              <a:rPr lang="en-GB" sz="1200" kern="1200" dirty="0" err="1">
                <a:solidFill>
                  <a:schemeClr val="tx1"/>
                </a:solidFill>
                <a:effectLst/>
                <a:latin typeface="Arial" charset="0"/>
                <a:ea typeface="+mn-ea"/>
                <a:cs typeface="+mn-cs"/>
              </a:rPr>
              <a:t>Mickley</a:t>
            </a:r>
            <a:r>
              <a:rPr lang="en-GB" sz="1200" kern="1200" dirty="0">
                <a:solidFill>
                  <a:schemeClr val="tx1"/>
                </a:solidFill>
                <a:effectLst/>
                <a:latin typeface="Arial" charset="0"/>
                <a:ea typeface="+mn-ea"/>
                <a:cs typeface="+mn-cs"/>
              </a:rPr>
              <a:t> Steinmetz</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Nathaniel Daw</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Deborah </a:t>
            </a:r>
            <a:r>
              <a:rPr lang="en-GB" sz="1200" kern="1200" dirty="0" err="1">
                <a:solidFill>
                  <a:schemeClr val="tx1"/>
                </a:solidFill>
                <a:effectLst/>
                <a:latin typeface="Arial" charset="0"/>
                <a:ea typeface="+mn-ea"/>
                <a:cs typeface="+mn-cs"/>
              </a:rPr>
              <a:t>Talmi</a:t>
            </a: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And I also want to thank you for listening</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23</a:t>
            </a:fld>
            <a:endParaRPr lang="en-GB" altLang="en-US"/>
          </a:p>
        </p:txBody>
      </p:sp>
    </p:spTree>
    <p:extLst>
      <p:ext uri="{BB962C8B-B14F-4D97-AF65-F5344CB8AC3E}">
        <p14:creationId xmlns:p14="http://schemas.microsoft.com/office/powerpoint/2010/main" val="37090879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5625AB8A-B804-4C05-BD28-FB95C54EF652}"/>
              </a:ext>
            </a:extLst>
          </p:cNvPr>
          <p:cNvSpPr>
            <a:spLocks noChangeArrowheads="1"/>
          </p:cNvSpPr>
          <p:nvPr/>
        </p:nvSpPr>
        <p:spPr bwMode="auto">
          <a:xfrm>
            <a:off x="0" y="5365750"/>
            <a:ext cx="9140825" cy="665163"/>
          </a:xfrm>
          <a:prstGeom prst="rect">
            <a:avLst/>
          </a:prstGeom>
          <a:solidFill>
            <a:srgbClr val="003E72"/>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Rectangle 14">
            <a:extLst>
              <a:ext uri="{FF2B5EF4-FFF2-40B4-BE49-F238E27FC236}">
                <a16:creationId xmlns:a16="http://schemas.microsoft.com/office/drawing/2014/main" id="{F7517D6D-681A-4295-9A0D-8CED85D1C217}"/>
              </a:ext>
            </a:extLst>
          </p:cNvPr>
          <p:cNvSpPr>
            <a:spLocks noChangeArrowheads="1"/>
          </p:cNvSpPr>
          <p:nvPr/>
        </p:nvSpPr>
        <p:spPr bwMode="auto">
          <a:xfrm>
            <a:off x="0" y="6030913"/>
            <a:ext cx="9140825" cy="173037"/>
          </a:xfrm>
          <a:prstGeom prst="rect">
            <a:avLst/>
          </a:prstGeom>
          <a:solidFill>
            <a:srgbClr val="6AADE4"/>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2" name="Rectangle 2"/>
          <p:cNvSpPr>
            <a:spLocks noGrp="1" noChangeArrowheads="1"/>
          </p:cNvSpPr>
          <p:nvPr>
            <p:ph type="ctrTitle"/>
          </p:nvPr>
        </p:nvSpPr>
        <p:spPr>
          <a:xfrm>
            <a:off x="384175" y="2016125"/>
            <a:ext cx="8374063" cy="576263"/>
          </a:xfrm>
        </p:spPr>
        <p:txBody>
          <a:bodyPr/>
          <a:lstStyle>
            <a:lvl1pPr>
              <a:defRPr sz="3600"/>
            </a:lvl1pPr>
          </a:lstStyle>
          <a:p>
            <a:pPr lvl="0"/>
            <a:r>
              <a:rPr lang="en-GB" altLang="en-US" noProof="0"/>
              <a:t>Click to edit Master title style</a:t>
            </a:r>
          </a:p>
        </p:txBody>
      </p:sp>
      <p:sp>
        <p:nvSpPr>
          <p:cNvPr id="5123" name="Rectangle 3"/>
          <p:cNvSpPr>
            <a:spLocks noGrp="1" noChangeArrowheads="1"/>
          </p:cNvSpPr>
          <p:nvPr>
            <p:ph type="subTitle" idx="1"/>
          </p:nvPr>
        </p:nvSpPr>
        <p:spPr>
          <a:xfrm>
            <a:off x="384175" y="2774950"/>
            <a:ext cx="8374063" cy="539750"/>
          </a:xfrm>
        </p:spPr>
        <p:txBody>
          <a:bodyPr/>
          <a:lstStyle>
            <a:lvl1pPr marL="0" indent="0">
              <a:buFontTx/>
              <a:buNone/>
              <a:defRPr sz="1800" b="1">
                <a:solidFill>
                  <a:schemeClr val="tx2"/>
                </a:solidFill>
              </a:defRPr>
            </a:lvl1pPr>
          </a:lstStyle>
          <a:p>
            <a:pPr lvl="0"/>
            <a:r>
              <a:rPr lang="en-GB" altLang="en-US" noProof="0"/>
              <a:t>Click to edit Master subtitle style</a:t>
            </a:r>
          </a:p>
        </p:txBody>
      </p:sp>
      <p:sp>
        <p:nvSpPr>
          <p:cNvPr id="6" name="Rectangle 10">
            <a:extLst>
              <a:ext uri="{FF2B5EF4-FFF2-40B4-BE49-F238E27FC236}">
                <a16:creationId xmlns:a16="http://schemas.microsoft.com/office/drawing/2014/main" id="{4E20DC7D-5229-49FD-AE0A-6709536DD943}"/>
              </a:ext>
            </a:extLst>
          </p:cNvPr>
          <p:cNvSpPr>
            <a:spLocks noGrp="1" noChangeArrowheads="1"/>
          </p:cNvSpPr>
          <p:nvPr>
            <p:ph type="sldNum" sz="quarter" idx="10"/>
          </p:nvPr>
        </p:nvSpPr>
        <p:spPr>
          <a:xfrm>
            <a:off x="7862888" y="6448425"/>
            <a:ext cx="900112" cy="179388"/>
          </a:xfrm>
        </p:spPr>
        <p:txBody>
          <a:bodyPr/>
          <a:lstStyle>
            <a:lvl1pPr>
              <a:defRPr>
                <a:solidFill>
                  <a:schemeClr val="tx1"/>
                </a:solidFill>
              </a:defRPr>
            </a:lvl1pPr>
          </a:lstStyle>
          <a:p>
            <a:fld id="{B97AC216-041A-44A4-B5AB-80C1521BAB14}" type="slidenum">
              <a:rPr lang="en-GB" altLang="en-US"/>
              <a:pPr/>
              <a:t>‹#›</a:t>
            </a:fld>
            <a:endParaRPr lang="en-GB" altLang="en-US"/>
          </a:p>
        </p:txBody>
      </p:sp>
    </p:spTree>
    <p:extLst>
      <p:ext uri="{BB962C8B-B14F-4D97-AF65-F5344CB8AC3E}">
        <p14:creationId xmlns:p14="http://schemas.microsoft.com/office/powerpoint/2010/main" val="408421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D9EA17AB-B8D2-4FBB-8F3A-3C36E1D9E0AE}"/>
              </a:ext>
            </a:extLst>
          </p:cNvPr>
          <p:cNvSpPr>
            <a:spLocks noGrp="1" noChangeArrowheads="1"/>
          </p:cNvSpPr>
          <p:nvPr>
            <p:ph type="sldNum" sz="quarter" idx="10"/>
          </p:nvPr>
        </p:nvSpPr>
        <p:spPr>
          <a:ln/>
        </p:spPr>
        <p:txBody>
          <a:bodyPr/>
          <a:lstStyle>
            <a:lvl1pPr>
              <a:defRPr/>
            </a:lvl1pPr>
          </a:lstStyle>
          <a:p>
            <a:fld id="{2A4D10C6-676A-42AD-AF0A-D202E481C773}" type="slidenum">
              <a:rPr lang="en-GB" altLang="en-US"/>
              <a:pPr/>
              <a:t>‹#›</a:t>
            </a:fld>
            <a:endParaRPr lang="en-GB" altLang="en-US"/>
          </a:p>
        </p:txBody>
      </p:sp>
    </p:spTree>
    <p:extLst>
      <p:ext uri="{BB962C8B-B14F-4D97-AF65-F5344CB8AC3E}">
        <p14:creationId xmlns:p14="http://schemas.microsoft.com/office/powerpoint/2010/main" val="234868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0FEBCDE6-F095-448E-A91C-5229FB1878E8}"/>
              </a:ext>
            </a:extLst>
          </p:cNvPr>
          <p:cNvSpPr>
            <a:spLocks noGrp="1" noChangeArrowheads="1"/>
          </p:cNvSpPr>
          <p:nvPr>
            <p:ph type="sldNum" sz="quarter" idx="10"/>
          </p:nvPr>
        </p:nvSpPr>
        <p:spPr>
          <a:ln/>
        </p:spPr>
        <p:txBody>
          <a:bodyPr/>
          <a:lstStyle>
            <a:lvl1pPr>
              <a:defRPr/>
            </a:lvl1pPr>
          </a:lstStyle>
          <a:p>
            <a:fld id="{BE9A6FEA-E865-43B0-9CBB-C1502FF683E7}" type="slidenum">
              <a:rPr lang="en-GB" altLang="en-US"/>
              <a:pPr/>
              <a:t>‹#›</a:t>
            </a:fld>
            <a:endParaRPr lang="en-GB" altLang="en-US"/>
          </a:p>
        </p:txBody>
      </p:sp>
    </p:spTree>
    <p:extLst>
      <p:ext uri="{BB962C8B-B14F-4D97-AF65-F5344CB8AC3E}">
        <p14:creationId xmlns:p14="http://schemas.microsoft.com/office/powerpoint/2010/main" val="122498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4175" y="1708150"/>
            <a:ext cx="4110038"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708150"/>
            <a:ext cx="4111625"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C78F397C-52FB-4AEF-A4BD-A1B4D8834BD2}"/>
              </a:ext>
            </a:extLst>
          </p:cNvPr>
          <p:cNvSpPr>
            <a:spLocks noGrp="1" noChangeArrowheads="1"/>
          </p:cNvSpPr>
          <p:nvPr>
            <p:ph type="sldNum" sz="quarter" idx="10"/>
          </p:nvPr>
        </p:nvSpPr>
        <p:spPr>
          <a:ln/>
        </p:spPr>
        <p:txBody>
          <a:bodyPr/>
          <a:lstStyle>
            <a:lvl1pPr>
              <a:defRPr/>
            </a:lvl1pPr>
          </a:lstStyle>
          <a:p>
            <a:fld id="{DF55023D-4CAB-4A05-9EE6-2A94DFF1D144}" type="slidenum">
              <a:rPr lang="en-GB" altLang="en-US"/>
              <a:pPr/>
              <a:t>‹#›</a:t>
            </a:fld>
            <a:endParaRPr lang="en-GB" altLang="en-US"/>
          </a:p>
        </p:txBody>
      </p:sp>
    </p:spTree>
    <p:extLst>
      <p:ext uri="{BB962C8B-B14F-4D97-AF65-F5344CB8AC3E}">
        <p14:creationId xmlns:p14="http://schemas.microsoft.com/office/powerpoint/2010/main" val="3605388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7979B699-388C-4529-9C82-930F4C829832}"/>
              </a:ext>
            </a:extLst>
          </p:cNvPr>
          <p:cNvSpPr>
            <a:spLocks noGrp="1" noChangeArrowheads="1"/>
          </p:cNvSpPr>
          <p:nvPr>
            <p:ph type="sldNum" sz="quarter" idx="10"/>
          </p:nvPr>
        </p:nvSpPr>
        <p:spPr>
          <a:ln/>
        </p:spPr>
        <p:txBody>
          <a:bodyPr/>
          <a:lstStyle>
            <a:lvl1pPr>
              <a:defRPr/>
            </a:lvl1pPr>
          </a:lstStyle>
          <a:p>
            <a:fld id="{06ADC1E3-72DD-4285-A87B-2DFA9C60E3AA}" type="slidenum">
              <a:rPr lang="en-GB" altLang="en-US"/>
              <a:pPr/>
              <a:t>‹#›</a:t>
            </a:fld>
            <a:endParaRPr lang="en-GB" altLang="en-US"/>
          </a:p>
        </p:txBody>
      </p:sp>
    </p:spTree>
    <p:extLst>
      <p:ext uri="{BB962C8B-B14F-4D97-AF65-F5344CB8AC3E}">
        <p14:creationId xmlns:p14="http://schemas.microsoft.com/office/powerpoint/2010/main" val="119494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a:extLst>
              <a:ext uri="{FF2B5EF4-FFF2-40B4-BE49-F238E27FC236}">
                <a16:creationId xmlns:a16="http://schemas.microsoft.com/office/drawing/2014/main" id="{82D588D0-AD0E-4314-A631-95E18A584F58}"/>
              </a:ext>
            </a:extLst>
          </p:cNvPr>
          <p:cNvSpPr>
            <a:spLocks noGrp="1" noChangeArrowheads="1"/>
          </p:cNvSpPr>
          <p:nvPr>
            <p:ph type="sldNum" sz="quarter" idx="10"/>
          </p:nvPr>
        </p:nvSpPr>
        <p:spPr>
          <a:ln/>
        </p:spPr>
        <p:txBody>
          <a:bodyPr/>
          <a:lstStyle>
            <a:lvl1pPr>
              <a:defRPr/>
            </a:lvl1pPr>
          </a:lstStyle>
          <a:p>
            <a:fld id="{3F22CD49-8928-488B-B09F-6730EA983BEA}" type="slidenum">
              <a:rPr lang="en-GB" altLang="en-US"/>
              <a:pPr/>
              <a:t>‹#›</a:t>
            </a:fld>
            <a:endParaRPr lang="en-GB" altLang="en-US"/>
          </a:p>
        </p:txBody>
      </p:sp>
    </p:spTree>
    <p:extLst>
      <p:ext uri="{BB962C8B-B14F-4D97-AF65-F5344CB8AC3E}">
        <p14:creationId xmlns:p14="http://schemas.microsoft.com/office/powerpoint/2010/main" val="103304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35B7FC8-0946-454B-B375-D7BE6401A6E8}"/>
              </a:ext>
            </a:extLst>
          </p:cNvPr>
          <p:cNvSpPr>
            <a:spLocks noGrp="1" noChangeArrowheads="1"/>
          </p:cNvSpPr>
          <p:nvPr>
            <p:ph type="sldNum" sz="quarter" idx="10"/>
          </p:nvPr>
        </p:nvSpPr>
        <p:spPr>
          <a:ln/>
        </p:spPr>
        <p:txBody>
          <a:bodyPr/>
          <a:lstStyle>
            <a:lvl1pPr>
              <a:defRPr/>
            </a:lvl1pPr>
          </a:lstStyle>
          <a:p>
            <a:fld id="{0C66430D-5D7F-4DC0-A9CE-56B173CE581F}" type="slidenum">
              <a:rPr lang="en-GB" altLang="en-US"/>
              <a:pPr/>
              <a:t>‹#›</a:t>
            </a:fld>
            <a:endParaRPr lang="en-GB" altLang="en-US"/>
          </a:p>
        </p:txBody>
      </p:sp>
    </p:spTree>
    <p:extLst>
      <p:ext uri="{BB962C8B-B14F-4D97-AF65-F5344CB8AC3E}">
        <p14:creationId xmlns:p14="http://schemas.microsoft.com/office/powerpoint/2010/main" val="2430761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1A47D0-EF0C-45FF-A0CB-86F80988FD1C}"/>
              </a:ext>
            </a:extLst>
          </p:cNvPr>
          <p:cNvSpPr>
            <a:spLocks noGrp="1" noChangeArrowheads="1"/>
          </p:cNvSpPr>
          <p:nvPr>
            <p:ph type="sldNum" sz="quarter" idx="10"/>
          </p:nvPr>
        </p:nvSpPr>
        <p:spPr>
          <a:ln/>
        </p:spPr>
        <p:txBody>
          <a:bodyPr/>
          <a:lstStyle>
            <a:lvl1pPr>
              <a:defRPr/>
            </a:lvl1pPr>
          </a:lstStyle>
          <a:p>
            <a:fld id="{FD3112A3-5F43-48B3-9919-6C69ADA7D71A}" type="slidenum">
              <a:rPr lang="en-GB" altLang="en-US"/>
              <a:pPr/>
              <a:t>‹#›</a:t>
            </a:fld>
            <a:endParaRPr lang="en-GB" altLang="en-US"/>
          </a:p>
        </p:txBody>
      </p:sp>
    </p:spTree>
    <p:extLst>
      <p:ext uri="{BB962C8B-B14F-4D97-AF65-F5344CB8AC3E}">
        <p14:creationId xmlns:p14="http://schemas.microsoft.com/office/powerpoint/2010/main" val="1194820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39648E4-5F4D-41DA-86F5-AE988A7C1293}"/>
              </a:ext>
            </a:extLst>
          </p:cNvPr>
          <p:cNvSpPr>
            <a:spLocks noGrp="1" noChangeArrowheads="1"/>
          </p:cNvSpPr>
          <p:nvPr>
            <p:ph type="sldNum" sz="quarter" idx="10"/>
          </p:nvPr>
        </p:nvSpPr>
        <p:spPr>
          <a:ln/>
        </p:spPr>
        <p:txBody>
          <a:bodyPr/>
          <a:lstStyle>
            <a:lvl1pPr>
              <a:defRPr/>
            </a:lvl1pPr>
          </a:lstStyle>
          <a:p>
            <a:fld id="{0879EC82-3A38-42F8-B20F-C4BA196B4427}" type="slidenum">
              <a:rPr lang="en-GB" altLang="en-US"/>
              <a:pPr/>
              <a:t>‹#›</a:t>
            </a:fld>
            <a:endParaRPr lang="en-GB" altLang="en-US"/>
          </a:p>
        </p:txBody>
      </p:sp>
    </p:spTree>
    <p:extLst>
      <p:ext uri="{BB962C8B-B14F-4D97-AF65-F5344CB8AC3E}">
        <p14:creationId xmlns:p14="http://schemas.microsoft.com/office/powerpoint/2010/main" val="41443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C73F3B9-EB4B-48B0-A499-3A6BEF8D4633}"/>
              </a:ext>
            </a:extLst>
          </p:cNvPr>
          <p:cNvSpPr>
            <a:spLocks noGrp="1" noChangeArrowheads="1"/>
          </p:cNvSpPr>
          <p:nvPr>
            <p:ph type="sldNum" sz="quarter" idx="10"/>
          </p:nvPr>
        </p:nvSpPr>
        <p:spPr>
          <a:ln/>
        </p:spPr>
        <p:txBody>
          <a:bodyPr/>
          <a:lstStyle>
            <a:lvl1pPr>
              <a:defRPr/>
            </a:lvl1pPr>
          </a:lstStyle>
          <a:p>
            <a:fld id="{0E00A4F9-908B-416C-9D26-7A92CE4F39D6}" type="slidenum">
              <a:rPr lang="en-GB" altLang="en-US"/>
              <a:pPr/>
              <a:t>‹#›</a:t>
            </a:fld>
            <a:endParaRPr lang="en-GB" altLang="en-US"/>
          </a:p>
        </p:txBody>
      </p:sp>
    </p:spTree>
    <p:extLst>
      <p:ext uri="{BB962C8B-B14F-4D97-AF65-F5344CB8AC3E}">
        <p14:creationId xmlns:p14="http://schemas.microsoft.com/office/powerpoint/2010/main" val="42092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5913" y="398463"/>
            <a:ext cx="2093912" cy="53768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4175" y="398463"/>
            <a:ext cx="6129338" cy="53768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0DF798D2-1C06-4475-BA0D-CA6FB90A27AA}"/>
              </a:ext>
            </a:extLst>
          </p:cNvPr>
          <p:cNvSpPr>
            <a:spLocks noGrp="1" noChangeArrowheads="1"/>
          </p:cNvSpPr>
          <p:nvPr>
            <p:ph type="sldNum" sz="quarter" idx="10"/>
          </p:nvPr>
        </p:nvSpPr>
        <p:spPr>
          <a:ln/>
        </p:spPr>
        <p:txBody>
          <a:bodyPr/>
          <a:lstStyle>
            <a:lvl1pPr>
              <a:defRPr/>
            </a:lvl1pPr>
          </a:lstStyle>
          <a:p>
            <a:fld id="{80954144-9285-4E94-97F5-BA7785277F49}" type="slidenum">
              <a:rPr lang="en-GB" altLang="en-US"/>
              <a:pPr/>
              <a:t>‹#›</a:t>
            </a:fld>
            <a:endParaRPr lang="en-GB" altLang="en-US"/>
          </a:p>
        </p:txBody>
      </p:sp>
    </p:spTree>
    <p:extLst>
      <p:ext uri="{BB962C8B-B14F-4D97-AF65-F5344CB8AC3E}">
        <p14:creationId xmlns:p14="http://schemas.microsoft.com/office/powerpoint/2010/main" val="378503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89B15AB-FD17-404F-A74B-EB6D08463C50}"/>
              </a:ext>
            </a:extLst>
          </p:cNvPr>
          <p:cNvSpPr>
            <a:spLocks noGrp="1" noChangeArrowheads="1"/>
          </p:cNvSpPr>
          <p:nvPr>
            <p:ph type="title"/>
          </p:nvPr>
        </p:nvSpPr>
        <p:spPr bwMode="auto">
          <a:xfrm>
            <a:off x="384175" y="398463"/>
            <a:ext cx="837565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45F34970-0ED4-41B5-B528-16141A7588CE}"/>
              </a:ext>
            </a:extLst>
          </p:cNvPr>
          <p:cNvSpPr>
            <a:spLocks noGrp="1" noChangeArrowheads="1"/>
          </p:cNvSpPr>
          <p:nvPr>
            <p:ph type="body" idx="1"/>
          </p:nvPr>
        </p:nvSpPr>
        <p:spPr bwMode="auto">
          <a:xfrm>
            <a:off x="384175" y="1708150"/>
            <a:ext cx="8374063"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30" name="Rectangle 6">
            <a:extLst>
              <a:ext uri="{FF2B5EF4-FFF2-40B4-BE49-F238E27FC236}">
                <a16:creationId xmlns:a16="http://schemas.microsoft.com/office/drawing/2014/main" id="{F1DE82EC-9569-4E10-B1A0-0F2A2411A1CB}"/>
              </a:ext>
            </a:extLst>
          </p:cNvPr>
          <p:cNvSpPr>
            <a:spLocks noGrp="1" noChangeArrowheads="1"/>
          </p:cNvSpPr>
          <p:nvPr>
            <p:ph type="sldNum" sz="quarter" idx="4"/>
          </p:nvPr>
        </p:nvSpPr>
        <p:spPr bwMode="auto">
          <a:xfrm>
            <a:off x="7862888" y="6451600"/>
            <a:ext cx="900112"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000">
                <a:solidFill>
                  <a:schemeClr val="tx2"/>
                </a:solidFill>
              </a:defRPr>
            </a:lvl1pPr>
          </a:lstStyle>
          <a:p>
            <a:fld id="{4CF5641A-EC8F-47E8-B385-FEB744445A42}"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2600" b="1">
          <a:solidFill>
            <a:schemeClr val="tx2"/>
          </a:solidFill>
          <a:latin typeface="+mj-lt"/>
          <a:ea typeface="+mj-ea"/>
          <a:cs typeface="+mj-cs"/>
        </a:defRPr>
      </a:lvl1pPr>
      <a:lvl2pPr algn="l" rtl="0" eaLnBrk="0" fontAlgn="base" hangingPunct="0">
        <a:spcBef>
          <a:spcPct val="0"/>
        </a:spcBef>
        <a:spcAft>
          <a:spcPct val="0"/>
        </a:spcAft>
        <a:defRPr sz="2600" b="1">
          <a:solidFill>
            <a:schemeClr val="tx2"/>
          </a:solidFill>
          <a:latin typeface="Arial" charset="0"/>
        </a:defRPr>
      </a:lvl2pPr>
      <a:lvl3pPr algn="l" rtl="0" eaLnBrk="0" fontAlgn="base" hangingPunct="0">
        <a:spcBef>
          <a:spcPct val="0"/>
        </a:spcBef>
        <a:spcAft>
          <a:spcPct val="0"/>
        </a:spcAft>
        <a:defRPr sz="2600" b="1">
          <a:solidFill>
            <a:schemeClr val="tx2"/>
          </a:solidFill>
          <a:latin typeface="Arial" charset="0"/>
        </a:defRPr>
      </a:lvl3pPr>
      <a:lvl4pPr algn="l" rtl="0" eaLnBrk="0" fontAlgn="base" hangingPunct="0">
        <a:spcBef>
          <a:spcPct val="0"/>
        </a:spcBef>
        <a:spcAft>
          <a:spcPct val="0"/>
        </a:spcAft>
        <a:defRPr sz="2600" b="1">
          <a:solidFill>
            <a:schemeClr val="tx2"/>
          </a:solidFill>
          <a:latin typeface="Arial" charset="0"/>
        </a:defRPr>
      </a:lvl4pPr>
      <a:lvl5pPr algn="l" rtl="0" eaLnBrk="0" fontAlgn="base" hangingPunct="0">
        <a:spcBef>
          <a:spcPct val="0"/>
        </a:spcBef>
        <a:spcAft>
          <a:spcPct val="0"/>
        </a:spcAft>
        <a:defRPr sz="2600" b="1">
          <a:solidFill>
            <a:schemeClr val="tx2"/>
          </a:solidFill>
          <a:latin typeface="Arial" charset="0"/>
        </a:defRPr>
      </a:lvl5pPr>
      <a:lvl6pPr marL="457200" algn="l" rtl="0" fontAlgn="base">
        <a:spcBef>
          <a:spcPct val="0"/>
        </a:spcBef>
        <a:spcAft>
          <a:spcPct val="0"/>
        </a:spcAft>
        <a:defRPr sz="2600" b="1">
          <a:solidFill>
            <a:schemeClr val="tx2"/>
          </a:solidFill>
          <a:latin typeface="Arial" charset="0"/>
        </a:defRPr>
      </a:lvl6pPr>
      <a:lvl7pPr marL="914400" algn="l" rtl="0" fontAlgn="base">
        <a:spcBef>
          <a:spcPct val="0"/>
        </a:spcBef>
        <a:spcAft>
          <a:spcPct val="0"/>
        </a:spcAft>
        <a:defRPr sz="2600" b="1">
          <a:solidFill>
            <a:schemeClr val="tx2"/>
          </a:solidFill>
          <a:latin typeface="Arial" charset="0"/>
        </a:defRPr>
      </a:lvl7pPr>
      <a:lvl8pPr marL="1371600" algn="l" rtl="0" fontAlgn="base">
        <a:spcBef>
          <a:spcPct val="0"/>
        </a:spcBef>
        <a:spcAft>
          <a:spcPct val="0"/>
        </a:spcAft>
        <a:defRPr sz="2600" b="1">
          <a:solidFill>
            <a:schemeClr val="tx2"/>
          </a:solidFill>
          <a:latin typeface="Arial" charset="0"/>
        </a:defRPr>
      </a:lvl8pPr>
      <a:lvl9pPr marL="1828800" algn="l" rtl="0" fontAlgn="base">
        <a:spcBef>
          <a:spcPct val="0"/>
        </a:spcBef>
        <a:spcAft>
          <a:spcPct val="0"/>
        </a:spcAft>
        <a:defRPr sz="2600" b="1">
          <a:solidFill>
            <a:schemeClr val="tx2"/>
          </a:solidFill>
          <a:latin typeface="Arial" charset="0"/>
        </a:defRPr>
      </a:lvl9pPr>
    </p:titleStyle>
    <p:body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7415F0D-5CE4-4FEC-AEE3-DA8FE2AE2C8F}"/>
              </a:ext>
            </a:extLst>
          </p:cNvPr>
          <p:cNvSpPr>
            <a:spLocks noGrp="1" noChangeArrowheads="1"/>
          </p:cNvSpPr>
          <p:nvPr>
            <p:ph type="ctrTitle"/>
          </p:nvPr>
        </p:nvSpPr>
        <p:spPr>
          <a:xfrm>
            <a:off x="384175" y="1988840"/>
            <a:ext cx="8374063" cy="576263"/>
          </a:xfrm>
        </p:spPr>
        <p:txBody>
          <a:bodyPr/>
          <a:lstStyle/>
          <a:p>
            <a:pPr eaLnBrk="1" hangingPunct="1"/>
            <a:r>
              <a:rPr lang="en-US" altLang="en-US" sz="2800" dirty="0"/>
              <a:t>Assessing neurocognitive hypotheses using likelihood-based models</a:t>
            </a:r>
          </a:p>
        </p:txBody>
      </p:sp>
      <p:sp>
        <p:nvSpPr>
          <p:cNvPr id="3076" name="Rectangle 4">
            <a:extLst>
              <a:ext uri="{FF2B5EF4-FFF2-40B4-BE49-F238E27FC236}">
                <a16:creationId xmlns:a16="http://schemas.microsoft.com/office/drawing/2014/main" id="{B13D353B-4EE6-45FB-850E-FA83841DBAC4}"/>
              </a:ext>
            </a:extLst>
          </p:cNvPr>
          <p:cNvSpPr>
            <a:spLocks noChangeArrowheads="1"/>
          </p:cNvSpPr>
          <p:nvPr/>
        </p:nvSpPr>
        <p:spPr bwMode="auto">
          <a:xfrm>
            <a:off x="376410" y="3645024"/>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b="1" dirty="0">
                <a:solidFill>
                  <a:schemeClr val="tx2"/>
                </a:solidFill>
              </a:rPr>
              <a:t>Jordan Gunn</a:t>
            </a:r>
          </a:p>
        </p:txBody>
      </p:sp>
    </p:spTree>
  </p:cSld>
  <p:clrMapOvr>
    <a:masterClrMapping/>
  </p:clrMapOvr>
  <mc:AlternateContent xmlns:mc="http://schemas.openxmlformats.org/markup-compatibility/2006" xmlns:p14="http://schemas.microsoft.com/office/powerpoint/2010/main">
    <mc:Choice Requires="p14">
      <p:transition spd="slow" p14:dur="2000" advTm="20604"/>
    </mc:Choice>
    <mc:Fallback xmlns="">
      <p:transition spd="slow" advTm="206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4E5A-4CEC-DC3F-745F-20BE405E9C27}"/>
              </a:ext>
            </a:extLst>
          </p:cNvPr>
          <p:cNvSpPr>
            <a:spLocks noGrp="1"/>
          </p:cNvSpPr>
          <p:nvPr>
            <p:ph type="title"/>
          </p:nvPr>
        </p:nvSpPr>
        <p:spPr/>
        <p:txBody>
          <a:bodyPr/>
          <a:lstStyle/>
          <a:p>
            <a:r>
              <a:rPr lang="en-US" dirty="0"/>
              <a:t>What I want you to get from this talk</a:t>
            </a:r>
          </a:p>
        </p:txBody>
      </p:sp>
      <p:sp>
        <p:nvSpPr>
          <p:cNvPr id="3" name="Content Placeholder 2">
            <a:extLst>
              <a:ext uri="{FF2B5EF4-FFF2-40B4-BE49-F238E27FC236}">
                <a16:creationId xmlns:a16="http://schemas.microsoft.com/office/drawing/2014/main" id="{E4C5D927-3FCC-5B55-CB14-E4565AE82BAB}"/>
              </a:ext>
            </a:extLst>
          </p:cNvPr>
          <p:cNvSpPr>
            <a:spLocks noGrp="1"/>
          </p:cNvSpPr>
          <p:nvPr>
            <p:ph idx="1"/>
          </p:nvPr>
        </p:nvSpPr>
        <p:spPr>
          <a:xfrm>
            <a:off x="365219" y="1628800"/>
            <a:ext cx="8374063" cy="4067175"/>
          </a:xfrm>
        </p:spPr>
        <p:txBody>
          <a:bodyPr/>
          <a:lstStyle/>
          <a:p>
            <a:pPr marL="457200" indent="-457200">
              <a:spcAft>
                <a:spcPts val="0"/>
              </a:spcAft>
              <a:buFont typeface="+mj-lt"/>
              <a:buAutoNum type="arabicPeriod"/>
            </a:pPr>
            <a:r>
              <a:rPr lang="en-US" b="1" dirty="0"/>
              <a:t>Why build cognitive models as well as statistical models.</a:t>
            </a:r>
          </a:p>
          <a:p>
            <a:pPr lvl="1"/>
            <a:r>
              <a:rPr lang="en-US" dirty="0"/>
              <a:t>How they let us ask questions about process (encoding, retrieval, competition) rather than just “does this signal predict recall”.</a:t>
            </a:r>
          </a:p>
          <a:p>
            <a:pPr marL="457200" indent="-457200">
              <a:spcAft>
                <a:spcPts val="0"/>
              </a:spcAft>
              <a:buFont typeface="+mj-lt"/>
              <a:buAutoNum type="arabicPeriod"/>
            </a:pPr>
            <a:r>
              <a:rPr lang="en-US" b="1" dirty="0"/>
              <a:t>What it means to fit a model by likelihood.</a:t>
            </a:r>
          </a:p>
          <a:p>
            <a:pPr lvl="1"/>
            <a:r>
              <a:rPr lang="en-US" dirty="0"/>
              <a:t>How we connect a generative model to trial-by-trial data, and why that is worth more effort than just matching one curve.</a:t>
            </a:r>
          </a:p>
          <a:p>
            <a:pPr marL="457200" indent="-457200">
              <a:spcAft>
                <a:spcPts val="0"/>
              </a:spcAft>
              <a:buFont typeface="+mj-lt"/>
              <a:buAutoNum type="arabicPeriod"/>
            </a:pPr>
            <a:r>
              <a:rPr lang="en-US" b="1" dirty="0"/>
              <a:t>How to turn verbal hypotheses into models.</a:t>
            </a:r>
          </a:p>
          <a:p>
            <a:pPr lvl="1"/>
            <a:r>
              <a:rPr lang="en-US" dirty="0"/>
              <a:t>How to go from “maybe the EEG signal does X” to a small set of concrete model variants we can actually fit and compare.</a:t>
            </a:r>
          </a:p>
          <a:p>
            <a:pPr marL="457200" indent="-457200">
              <a:spcAft>
                <a:spcPts val="0"/>
              </a:spcAft>
              <a:buFont typeface="+mj-lt"/>
              <a:buAutoNum type="arabicPeriod"/>
            </a:pPr>
            <a:r>
              <a:rPr lang="en-US" b="1" dirty="0"/>
              <a:t>How to compare those models and read the result.</a:t>
            </a:r>
          </a:p>
          <a:p>
            <a:pPr lvl="1"/>
            <a:r>
              <a:rPr lang="en-US" dirty="0"/>
              <a:t>How to see which stories are clearly ruled out, which are supported, and which remain underdetermined by the data.</a:t>
            </a:r>
          </a:p>
        </p:txBody>
      </p:sp>
    </p:spTree>
    <p:extLst>
      <p:ext uri="{BB962C8B-B14F-4D97-AF65-F5344CB8AC3E}">
        <p14:creationId xmlns:p14="http://schemas.microsoft.com/office/powerpoint/2010/main" val="1912863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E4505-22FD-D645-9C34-3FE3C09C88D8}"/>
              </a:ext>
            </a:extLst>
          </p:cNvPr>
          <p:cNvSpPr>
            <a:spLocks noGrp="1"/>
          </p:cNvSpPr>
          <p:nvPr>
            <p:ph type="title"/>
          </p:nvPr>
        </p:nvSpPr>
        <p:spPr>
          <a:xfrm>
            <a:off x="389910" y="207839"/>
            <a:ext cx="8375650" cy="423862"/>
          </a:xfrm>
        </p:spPr>
        <p:txBody>
          <a:bodyPr/>
          <a:lstStyle/>
          <a:p>
            <a:r>
              <a:rPr lang="en-US" dirty="0"/>
              <a:t>Our running example: emotional memory, LPP, and free recall</a:t>
            </a:r>
          </a:p>
        </p:txBody>
      </p:sp>
      <p:sp>
        <p:nvSpPr>
          <p:cNvPr id="5" name="Rounded Rectangle 4">
            <a:extLst>
              <a:ext uri="{FF2B5EF4-FFF2-40B4-BE49-F238E27FC236}">
                <a16:creationId xmlns:a16="http://schemas.microsoft.com/office/drawing/2014/main" id="{71B28D83-E8A1-644A-8C4B-26E87AAA12F5}"/>
              </a:ext>
            </a:extLst>
          </p:cNvPr>
          <p:cNvSpPr/>
          <p:nvPr/>
        </p:nvSpPr>
        <p:spPr>
          <a:xfrm>
            <a:off x="821702" y="4709236"/>
            <a:ext cx="1728192" cy="10081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Encoding</a:t>
            </a:r>
            <a:endParaRPr lang="en-US" sz="1400" dirty="0"/>
          </a:p>
          <a:p>
            <a:pPr algn="ctr"/>
            <a:r>
              <a:rPr lang="en-US" sz="1400" dirty="0"/>
              <a:t>22 images</a:t>
            </a:r>
          </a:p>
          <a:p>
            <a:pPr algn="ctr"/>
            <a:r>
              <a:rPr lang="en-US" sz="1400" dirty="0"/>
              <a:t>2s image display</a:t>
            </a:r>
          </a:p>
          <a:p>
            <a:pPr algn="ctr"/>
            <a:r>
              <a:rPr lang="en-US" sz="1400" dirty="0"/>
              <a:t>4s seconds ITI</a:t>
            </a:r>
          </a:p>
        </p:txBody>
      </p:sp>
      <p:sp>
        <p:nvSpPr>
          <p:cNvPr id="6" name="Rounded Rectangle 5">
            <a:extLst>
              <a:ext uri="{FF2B5EF4-FFF2-40B4-BE49-F238E27FC236}">
                <a16:creationId xmlns:a16="http://schemas.microsoft.com/office/drawing/2014/main" id="{0AD01C88-E45C-1349-84A7-420FF63D09FB}"/>
              </a:ext>
            </a:extLst>
          </p:cNvPr>
          <p:cNvSpPr/>
          <p:nvPr/>
        </p:nvSpPr>
        <p:spPr>
          <a:xfrm>
            <a:off x="6156176" y="4709237"/>
            <a:ext cx="1656184" cy="9999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Retrieval</a:t>
            </a:r>
            <a:endParaRPr lang="en-US" sz="1400" dirty="0"/>
          </a:p>
          <a:p>
            <a:pPr algn="ctr"/>
            <a:r>
              <a:rPr lang="en-US" sz="1400" dirty="0"/>
              <a:t>Up to 3 minutes</a:t>
            </a:r>
          </a:p>
          <a:p>
            <a:pPr algn="ctr"/>
            <a:endParaRPr lang="en-US" sz="1400" dirty="0"/>
          </a:p>
          <a:p>
            <a:pPr algn="ctr"/>
            <a:endParaRPr lang="en-US" sz="1400" dirty="0"/>
          </a:p>
        </p:txBody>
      </p:sp>
      <p:sp>
        <p:nvSpPr>
          <p:cNvPr id="7" name="Rounded Rectangle 6">
            <a:extLst>
              <a:ext uri="{FF2B5EF4-FFF2-40B4-BE49-F238E27FC236}">
                <a16:creationId xmlns:a16="http://schemas.microsoft.com/office/drawing/2014/main" id="{BB624DC8-6FFA-7844-81ED-F2B3497864EF}"/>
              </a:ext>
            </a:extLst>
          </p:cNvPr>
          <p:cNvSpPr/>
          <p:nvPr/>
        </p:nvSpPr>
        <p:spPr>
          <a:xfrm>
            <a:off x="3401667" y="4709237"/>
            <a:ext cx="1812523" cy="10063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Math Distractor Task</a:t>
            </a:r>
            <a:endParaRPr lang="en-US" sz="1400" dirty="0"/>
          </a:p>
          <a:p>
            <a:pPr algn="ctr"/>
            <a:r>
              <a:rPr lang="en-US" sz="1400" dirty="0"/>
              <a:t>1 minute</a:t>
            </a:r>
          </a:p>
          <a:p>
            <a:pPr algn="ctr"/>
            <a:endParaRPr lang="en-US" sz="1400" dirty="0"/>
          </a:p>
        </p:txBody>
      </p:sp>
      <p:sp>
        <p:nvSpPr>
          <p:cNvPr id="10" name="Right Arrow 9">
            <a:extLst>
              <a:ext uri="{FF2B5EF4-FFF2-40B4-BE49-F238E27FC236}">
                <a16:creationId xmlns:a16="http://schemas.microsoft.com/office/drawing/2014/main" id="{5BFA3CB4-85B2-A242-8FB8-673B656A3BA9}"/>
              </a:ext>
            </a:extLst>
          </p:cNvPr>
          <p:cNvSpPr/>
          <p:nvPr/>
        </p:nvSpPr>
        <p:spPr>
          <a:xfrm>
            <a:off x="2777279" y="5101216"/>
            <a:ext cx="43204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41689985-7BFB-3641-8AA4-8E9B492873C9}"/>
              </a:ext>
            </a:extLst>
          </p:cNvPr>
          <p:cNvSpPr/>
          <p:nvPr/>
        </p:nvSpPr>
        <p:spPr>
          <a:xfrm>
            <a:off x="5468164" y="5101216"/>
            <a:ext cx="43204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37A203F-1A3B-D34D-A4BB-3F5AB7CD0518}"/>
              </a:ext>
            </a:extLst>
          </p:cNvPr>
          <p:cNvSpPr txBox="1"/>
          <p:nvPr/>
        </p:nvSpPr>
        <p:spPr>
          <a:xfrm>
            <a:off x="987905" y="5805615"/>
            <a:ext cx="1775557" cy="307777"/>
          </a:xfrm>
          <a:prstGeom prst="rect">
            <a:avLst/>
          </a:prstGeom>
          <a:noFill/>
        </p:spPr>
        <p:txBody>
          <a:bodyPr wrap="square" rtlCol="0">
            <a:spAutoFit/>
          </a:bodyPr>
          <a:lstStyle/>
          <a:p>
            <a:r>
              <a:rPr lang="en-US" sz="1400" dirty="0">
                <a:solidFill>
                  <a:srgbClr val="050808"/>
                </a:solidFill>
              </a:rPr>
              <a:t>EEG Recording</a:t>
            </a:r>
          </a:p>
        </p:txBody>
      </p:sp>
      <p:sp>
        <p:nvSpPr>
          <p:cNvPr id="13" name="Rectangle 4">
            <a:extLst>
              <a:ext uri="{FF2B5EF4-FFF2-40B4-BE49-F238E27FC236}">
                <a16:creationId xmlns:a16="http://schemas.microsoft.com/office/drawing/2014/main" id="{3AF6F1F2-BB62-F944-8100-AD053E665B71}"/>
              </a:ext>
            </a:extLst>
          </p:cNvPr>
          <p:cNvSpPr>
            <a:spLocks noChangeArrowheads="1"/>
          </p:cNvSpPr>
          <p:nvPr/>
        </p:nvSpPr>
        <p:spPr bwMode="auto">
          <a:xfrm>
            <a:off x="2195736" y="6267828"/>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sz="1600" b="1" dirty="0" err="1">
                <a:solidFill>
                  <a:schemeClr val="tx2"/>
                </a:solidFill>
              </a:rPr>
              <a:t>Zarubin</a:t>
            </a:r>
            <a:r>
              <a:rPr lang="en-GB" altLang="en-US" sz="1600" b="1" dirty="0">
                <a:solidFill>
                  <a:schemeClr val="tx2"/>
                </a:solidFill>
              </a:rPr>
              <a:t> et al. 2020, </a:t>
            </a:r>
            <a:r>
              <a:rPr lang="en-GB" altLang="en-US" sz="1600" b="1" i="1" dirty="0">
                <a:solidFill>
                  <a:schemeClr val="tx2"/>
                </a:solidFill>
              </a:rPr>
              <a:t>Affective Science</a:t>
            </a:r>
          </a:p>
        </p:txBody>
      </p:sp>
      <p:sp>
        <p:nvSpPr>
          <p:cNvPr id="9" name="Content Placeholder 8">
            <a:extLst>
              <a:ext uri="{FF2B5EF4-FFF2-40B4-BE49-F238E27FC236}">
                <a16:creationId xmlns:a16="http://schemas.microsoft.com/office/drawing/2014/main" id="{410A2F43-9F8B-B8D3-B151-DEC3E0448EA0}"/>
              </a:ext>
            </a:extLst>
          </p:cNvPr>
          <p:cNvSpPr>
            <a:spLocks noGrp="1"/>
          </p:cNvSpPr>
          <p:nvPr>
            <p:ph idx="1"/>
          </p:nvPr>
        </p:nvSpPr>
        <p:spPr>
          <a:xfrm>
            <a:off x="52615" y="1493250"/>
            <a:ext cx="5086624" cy="1150272"/>
          </a:xfrm>
        </p:spPr>
        <p:txBody>
          <a:bodyPr/>
          <a:lstStyle/>
          <a:p>
            <a:pPr>
              <a:spcAft>
                <a:spcPts val="600"/>
              </a:spcAft>
            </a:pPr>
            <a:r>
              <a:rPr lang="en-US" dirty="0">
                <a:solidFill>
                  <a:srgbClr val="050808"/>
                </a:solidFill>
              </a:rPr>
              <a:t>Data from Zarubin et al. 2020, </a:t>
            </a:r>
            <a:r>
              <a:rPr lang="en-US" i="1" dirty="0">
                <a:solidFill>
                  <a:srgbClr val="050808"/>
                </a:solidFill>
              </a:rPr>
              <a:t>Affective Science</a:t>
            </a:r>
          </a:p>
          <a:p>
            <a:pPr>
              <a:spcAft>
                <a:spcPts val="600"/>
              </a:spcAft>
            </a:pPr>
            <a:r>
              <a:rPr lang="en-US" i="1" dirty="0">
                <a:solidFill>
                  <a:srgbClr val="050808"/>
                </a:solidFill>
              </a:rPr>
              <a:t>N = </a:t>
            </a:r>
            <a:r>
              <a:rPr lang="en-US" dirty="0">
                <a:solidFill>
                  <a:srgbClr val="050808"/>
                </a:solidFill>
              </a:rPr>
              <a:t>38</a:t>
            </a:r>
            <a:r>
              <a:rPr lang="en-US" i="1" dirty="0">
                <a:solidFill>
                  <a:srgbClr val="050808"/>
                </a:solidFill>
              </a:rPr>
              <a:t>; </a:t>
            </a:r>
            <a:r>
              <a:rPr lang="en-US" dirty="0">
                <a:solidFill>
                  <a:srgbClr val="050808"/>
                </a:solidFill>
              </a:rPr>
              <a:t>Negative and neutral images shown intermixed in 9 lists.</a:t>
            </a:r>
          </a:p>
          <a:p>
            <a:pPr>
              <a:spcAft>
                <a:spcPts val="600"/>
              </a:spcAft>
            </a:pPr>
            <a:r>
              <a:rPr lang="en-US" altLang="en-US" dirty="0">
                <a:solidFill>
                  <a:srgbClr val="050808"/>
                </a:solidFill>
              </a:rPr>
              <a:t>Measured a widely used ERP index of attention, the Late Positive Potential (LPP)</a:t>
            </a:r>
          </a:p>
          <a:p>
            <a:pPr>
              <a:spcAft>
                <a:spcPts val="600"/>
              </a:spcAft>
            </a:pPr>
            <a:r>
              <a:rPr lang="en-US" altLang="en-US" dirty="0">
                <a:solidFill>
                  <a:srgbClr val="050808"/>
                </a:solidFill>
              </a:rPr>
              <a:t>For each item: emotion label, mean early-window LPP at encoding, recall status (recalled/not recalled)</a:t>
            </a:r>
          </a:p>
        </p:txBody>
      </p:sp>
      <p:pic>
        <p:nvPicPr>
          <p:cNvPr id="17" name="Picture 16">
            <a:extLst>
              <a:ext uri="{FF2B5EF4-FFF2-40B4-BE49-F238E27FC236}">
                <a16:creationId xmlns:a16="http://schemas.microsoft.com/office/drawing/2014/main" id="{51EC3DD7-BAA7-D235-9012-4E18BBD63DB3}"/>
              </a:ext>
            </a:extLst>
          </p:cNvPr>
          <p:cNvPicPr>
            <a:picLocks noChangeAspect="1"/>
          </p:cNvPicPr>
          <p:nvPr/>
        </p:nvPicPr>
        <p:blipFill>
          <a:blip r:embed="rId3"/>
          <a:stretch>
            <a:fillRect/>
          </a:stretch>
        </p:blipFill>
        <p:spPr>
          <a:xfrm>
            <a:off x="5359826" y="1441547"/>
            <a:ext cx="3784174" cy="2221014"/>
          </a:xfrm>
          <a:prstGeom prst="rect">
            <a:avLst/>
          </a:prstGeom>
        </p:spPr>
      </p:pic>
    </p:spTree>
    <p:extLst>
      <p:ext uri="{BB962C8B-B14F-4D97-AF65-F5344CB8AC3E}">
        <p14:creationId xmlns:p14="http://schemas.microsoft.com/office/powerpoint/2010/main" val="2782256909"/>
      </p:ext>
    </p:extLst>
  </p:cSld>
  <p:clrMapOvr>
    <a:masterClrMapping/>
  </p:clrMapOvr>
  <mc:AlternateContent xmlns:mc="http://schemas.openxmlformats.org/markup-compatibility/2006" xmlns:p14="http://schemas.microsoft.com/office/powerpoint/2010/main">
    <mc:Choice Requires="p14">
      <p:transition spd="slow" p14:dur="2000" advTm="21210"/>
    </mc:Choice>
    <mc:Fallback xmlns="">
      <p:transition spd="slow" advTm="2121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470A-21C1-BB09-CF4D-8FB5CBCB2E31}"/>
              </a:ext>
            </a:extLst>
          </p:cNvPr>
          <p:cNvSpPr>
            <a:spLocks noGrp="1"/>
          </p:cNvSpPr>
          <p:nvPr>
            <p:ph type="title"/>
          </p:nvPr>
        </p:nvSpPr>
        <p:spPr>
          <a:xfrm>
            <a:off x="382588" y="260648"/>
            <a:ext cx="8375650" cy="423862"/>
          </a:xfrm>
        </p:spPr>
        <p:txBody>
          <a:bodyPr/>
          <a:lstStyle/>
          <a:p>
            <a:r>
              <a:rPr lang="en-US" dirty="0"/>
              <a:t>Key Behavioral Result: </a:t>
            </a:r>
            <a:br>
              <a:rPr lang="en-US" dirty="0"/>
            </a:br>
            <a:r>
              <a:rPr lang="en-US" dirty="0"/>
              <a:t>The Emotional Enhancement of Memory (EEM)</a:t>
            </a:r>
            <a:br>
              <a:rPr lang="en-US" dirty="0"/>
            </a:br>
            <a:endParaRPr lang="en-US" dirty="0"/>
          </a:p>
        </p:txBody>
      </p:sp>
      <p:sp>
        <p:nvSpPr>
          <p:cNvPr id="3" name="Content Placeholder 2">
            <a:extLst>
              <a:ext uri="{FF2B5EF4-FFF2-40B4-BE49-F238E27FC236}">
                <a16:creationId xmlns:a16="http://schemas.microsoft.com/office/drawing/2014/main" id="{FA453181-82A7-2919-D026-4D8BEE8FF5FB}"/>
              </a:ext>
            </a:extLst>
          </p:cNvPr>
          <p:cNvSpPr>
            <a:spLocks noGrp="1"/>
          </p:cNvSpPr>
          <p:nvPr>
            <p:ph idx="1"/>
          </p:nvPr>
        </p:nvSpPr>
        <p:spPr>
          <a:xfrm>
            <a:off x="301825" y="2066850"/>
            <a:ext cx="2232248" cy="1720850"/>
          </a:xfrm>
        </p:spPr>
        <p:txBody>
          <a:bodyPr/>
          <a:lstStyle/>
          <a:p>
            <a:pPr marL="0" indent="0">
              <a:buNone/>
            </a:pPr>
            <a:r>
              <a:rPr lang="en-US" dirty="0"/>
              <a:t>Negative items are recalled more often than neutral items across positions.</a:t>
            </a:r>
          </a:p>
          <a:p>
            <a:pPr marL="0" indent="0">
              <a:buNone/>
            </a:pPr>
            <a:r>
              <a:rPr lang="en-US" dirty="0"/>
              <a:t>Error bars reflect 95% bootstrap confidence intervals over subjects</a:t>
            </a:r>
          </a:p>
        </p:txBody>
      </p:sp>
      <p:pic>
        <p:nvPicPr>
          <p:cNvPr id="3074" name="Picture 2">
            <a:extLst>
              <a:ext uri="{FF2B5EF4-FFF2-40B4-BE49-F238E27FC236}">
                <a16:creationId xmlns:a16="http://schemas.microsoft.com/office/drawing/2014/main" id="{35FA3D16-2569-EE58-D114-273ED2C6B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2346" y="1412776"/>
            <a:ext cx="6119829" cy="4749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507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7CF0-ECC8-77CB-BB59-01F824EC9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4FA92D-B59E-C463-8E9E-670E7A2D9836}"/>
              </a:ext>
            </a:extLst>
          </p:cNvPr>
          <p:cNvSpPr>
            <a:spLocks noGrp="1"/>
          </p:cNvSpPr>
          <p:nvPr>
            <p:ph type="title"/>
          </p:nvPr>
        </p:nvSpPr>
        <p:spPr>
          <a:xfrm>
            <a:off x="382588" y="260648"/>
            <a:ext cx="8375650" cy="423862"/>
          </a:xfrm>
        </p:spPr>
        <p:txBody>
          <a:bodyPr/>
          <a:lstStyle/>
          <a:p>
            <a:r>
              <a:rPr lang="en-US" dirty="0"/>
              <a:t>Key Neural Result: </a:t>
            </a:r>
            <a:br>
              <a:rPr lang="en-US" dirty="0"/>
            </a:br>
            <a:r>
              <a:rPr lang="en-US" dirty="0"/>
              <a:t>Early LPP is Higher for Emotional Items</a:t>
            </a:r>
          </a:p>
        </p:txBody>
      </p:sp>
      <p:sp>
        <p:nvSpPr>
          <p:cNvPr id="3" name="Content Placeholder 2">
            <a:extLst>
              <a:ext uri="{FF2B5EF4-FFF2-40B4-BE49-F238E27FC236}">
                <a16:creationId xmlns:a16="http://schemas.microsoft.com/office/drawing/2014/main" id="{B192B03C-E9D7-EA24-6887-DEDCFB54187F}"/>
              </a:ext>
            </a:extLst>
          </p:cNvPr>
          <p:cNvSpPr>
            <a:spLocks noGrp="1"/>
          </p:cNvSpPr>
          <p:nvPr>
            <p:ph idx="1"/>
          </p:nvPr>
        </p:nvSpPr>
        <p:spPr>
          <a:xfrm>
            <a:off x="382588" y="2045222"/>
            <a:ext cx="2232248" cy="1720850"/>
          </a:xfrm>
        </p:spPr>
        <p:txBody>
          <a:bodyPr/>
          <a:lstStyle/>
          <a:p>
            <a:pPr marL="0" indent="0">
              <a:buNone/>
            </a:pPr>
            <a:r>
              <a:rPr lang="en-US" dirty="0"/>
              <a:t>Early-window LPP is on average higher for negative than neutral items across positions.</a:t>
            </a:r>
          </a:p>
          <a:p>
            <a:pPr marL="0" indent="0">
              <a:buNone/>
            </a:pPr>
            <a:r>
              <a:rPr lang="en-US" dirty="0"/>
              <a:t>Substantial overlap and variability: LPP is a noisy, graded correlate of emotion.</a:t>
            </a:r>
          </a:p>
        </p:txBody>
      </p:sp>
      <p:pic>
        <p:nvPicPr>
          <p:cNvPr id="4" name="Picture 3">
            <a:extLst>
              <a:ext uri="{FF2B5EF4-FFF2-40B4-BE49-F238E27FC236}">
                <a16:creationId xmlns:a16="http://schemas.microsoft.com/office/drawing/2014/main" id="{7B0986DD-1C4C-E1D7-CED9-47C061E1F356}"/>
              </a:ext>
            </a:extLst>
          </p:cNvPr>
          <p:cNvPicPr>
            <a:picLocks noChangeAspect="1"/>
          </p:cNvPicPr>
          <p:nvPr/>
        </p:nvPicPr>
        <p:blipFill>
          <a:blip r:embed="rId3"/>
          <a:stretch>
            <a:fillRect/>
          </a:stretch>
        </p:blipFill>
        <p:spPr>
          <a:xfrm>
            <a:off x="3159820" y="1490303"/>
            <a:ext cx="5960914" cy="4551537"/>
          </a:xfrm>
          <a:prstGeom prst="rect">
            <a:avLst/>
          </a:prstGeom>
        </p:spPr>
      </p:pic>
    </p:spTree>
    <p:extLst>
      <p:ext uri="{BB962C8B-B14F-4D97-AF65-F5344CB8AC3E}">
        <p14:creationId xmlns:p14="http://schemas.microsoft.com/office/powerpoint/2010/main" val="825638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A9A46E-7FA8-F515-CC2F-A858EBCDE475}"/>
              </a:ext>
            </a:extLst>
          </p:cNvPr>
          <p:cNvSpPr>
            <a:spLocks noGrp="1"/>
          </p:cNvSpPr>
          <p:nvPr>
            <p:ph type="title"/>
          </p:nvPr>
        </p:nvSpPr>
        <p:spPr>
          <a:xfrm>
            <a:off x="245839" y="548680"/>
            <a:ext cx="8652321" cy="504056"/>
          </a:xfrm>
        </p:spPr>
        <p:txBody>
          <a:bodyPr/>
          <a:lstStyle/>
          <a:p>
            <a:r>
              <a:rPr lang="en-US" dirty="0"/>
              <a:t>LPP Predicts Recall More </a:t>
            </a:r>
            <a:r>
              <a:rPr lang="en-US" i="1" dirty="0"/>
              <a:t>Strongly</a:t>
            </a:r>
            <a:r>
              <a:rPr lang="en-US" dirty="0"/>
              <a:t> for Emotional Items</a:t>
            </a:r>
            <a:br>
              <a:rPr lang="en-US" dirty="0"/>
            </a:br>
            <a:endParaRPr lang="en-US" dirty="0"/>
          </a:p>
        </p:txBody>
      </p:sp>
      <p:pic>
        <p:nvPicPr>
          <p:cNvPr id="4098" name="Picture 2">
            <a:extLst>
              <a:ext uri="{FF2B5EF4-FFF2-40B4-BE49-F238E27FC236}">
                <a16:creationId xmlns:a16="http://schemas.microsoft.com/office/drawing/2014/main" id="{31CF294B-D128-2ABB-BA03-280F5E5832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9" y="1765363"/>
            <a:ext cx="4572000" cy="341550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5F3E084-E56E-78E8-58D8-F1E9C8D537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9259" y="1765363"/>
            <a:ext cx="4572000" cy="34155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613A151-1E2F-97CC-6D3D-B380BC6E9784}"/>
              </a:ext>
            </a:extLst>
          </p:cNvPr>
          <p:cNvSpPr txBox="1"/>
          <p:nvPr/>
        </p:nvSpPr>
        <p:spPr>
          <a:xfrm>
            <a:off x="122918" y="5247166"/>
            <a:ext cx="8898161" cy="646331"/>
          </a:xfrm>
          <a:prstGeom prst="rect">
            <a:avLst/>
          </a:prstGeom>
          <a:noFill/>
        </p:spPr>
        <p:txBody>
          <a:bodyPr wrap="square">
            <a:spAutoFit/>
          </a:bodyPr>
          <a:lstStyle/>
          <a:p>
            <a:pPr algn="ctr"/>
            <a:r>
              <a:rPr lang="en-US" b="0" i="0" dirty="0">
                <a:solidFill>
                  <a:srgbClr val="050808"/>
                </a:solidFill>
                <a:effectLst/>
                <a:latin typeface="+mn-lt"/>
              </a:rPr>
              <a:t>LPP by recall status and item type</a:t>
            </a:r>
            <a:endParaRPr lang="en-US" dirty="0">
              <a:solidFill>
                <a:srgbClr val="050808"/>
              </a:solidFill>
              <a:latin typeface="+mn-lt"/>
            </a:endParaRPr>
          </a:p>
          <a:p>
            <a:pPr algn="ctr"/>
            <a:r>
              <a:rPr lang="en-US" dirty="0">
                <a:solidFill>
                  <a:srgbClr val="050808"/>
                </a:solidFill>
                <a:latin typeface="+mn-lt"/>
              </a:rPr>
              <a:t>split by NEGATIVE items (LEFT) and NEUTRAL items (RIGHT).</a:t>
            </a:r>
          </a:p>
        </p:txBody>
      </p:sp>
    </p:spTree>
    <p:extLst>
      <p:ext uri="{BB962C8B-B14F-4D97-AF65-F5344CB8AC3E}">
        <p14:creationId xmlns:p14="http://schemas.microsoft.com/office/powerpoint/2010/main" val="1171510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9D0A8-F3E7-613D-DA6B-1C755ECD73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71F53E-FBA8-44CC-F637-05B8C3717BB9}"/>
              </a:ext>
            </a:extLst>
          </p:cNvPr>
          <p:cNvSpPr>
            <a:spLocks noGrp="1"/>
          </p:cNvSpPr>
          <p:nvPr>
            <p:ph type="title"/>
          </p:nvPr>
        </p:nvSpPr>
        <p:spPr>
          <a:xfrm>
            <a:off x="245839" y="548680"/>
            <a:ext cx="8652321" cy="504056"/>
          </a:xfrm>
        </p:spPr>
        <p:txBody>
          <a:bodyPr/>
          <a:lstStyle/>
          <a:p>
            <a:r>
              <a:rPr lang="en-US" dirty="0"/>
              <a:t>LPP Reflects Both Emotion and Later Recall</a:t>
            </a:r>
          </a:p>
        </p:txBody>
      </p:sp>
      <p:sp>
        <p:nvSpPr>
          <p:cNvPr id="6" name="TextBox 5">
            <a:extLst>
              <a:ext uri="{FF2B5EF4-FFF2-40B4-BE49-F238E27FC236}">
                <a16:creationId xmlns:a16="http://schemas.microsoft.com/office/drawing/2014/main" id="{50FB077A-BCBD-204B-4ABD-E8744AA7A73A}"/>
              </a:ext>
            </a:extLst>
          </p:cNvPr>
          <p:cNvSpPr txBox="1"/>
          <p:nvPr/>
        </p:nvSpPr>
        <p:spPr>
          <a:xfrm>
            <a:off x="122918" y="5247166"/>
            <a:ext cx="8898161" cy="646331"/>
          </a:xfrm>
          <a:prstGeom prst="rect">
            <a:avLst/>
          </a:prstGeom>
          <a:noFill/>
        </p:spPr>
        <p:txBody>
          <a:bodyPr wrap="square">
            <a:spAutoFit/>
          </a:bodyPr>
          <a:lstStyle/>
          <a:p>
            <a:pPr algn="ctr"/>
            <a:r>
              <a:rPr lang="en-US" dirty="0"/>
              <a:t>Early LPP by recall status and item type. </a:t>
            </a:r>
          </a:p>
          <a:p>
            <a:pPr algn="ctr"/>
            <a:r>
              <a:rPr lang="en-US" dirty="0"/>
              <a:t>CIs omitted for clarity; data pooled across participants.</a:t>
            </a:r>
            <a:endParaRPr lang="en-US" dirty="0">
              <a:solidFill>
                <a:srgbClr val="050808"/>
              </a:solidFill>
              <a:latin typeface="+mn-lt"/>
            </a:endParaRPr>
          </a:p>
        </p:txBody>
      </p:sp>
      <p:pic>
        <p:nvPicPr>
          <p:cNvPr id="2" name="Picture 2">
            <a:extLst>
              <a:ext uri="{FF2B5EF4-FFF2-40B4-BE49-F238E27FC236}">
                <a16:creationId xmlns:a16="http://schemas.microsoft.com/office/drawing/2014/main" id="{5E98C90D-553A-88F8-239E-63DE17CEF5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777" y="1447346"/>
            <a:ext cx="5086442" cy="3799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905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44045-624D-4CA7-D259-157E06848E20}"/>
              </a:ext>
            </a:extLst>
          </p:cNvPr>
          <p:cNvSpPr>
            <a:spLocks noGrp="1"/>
          </p:cNvSpPr>
          <p:nvPr>
            <p:ph type="title"/>
          </p:nvPr>
        </p:nvSpPr>
        <p:spPr>
          <a:xfrm>
            <a:off x="78938" y="332656"/>
            <a:ext cx="9065061" cy="432048"/>
          </a:xfrm>
        </p:spPr>
        <p:txBody>
          <a:bodyPr/>
          <a:lstStyle/>
          <a:p>
            <a:r>
              <a:rPr lang="en-US" dirty="0"/>
              <a:t>LPP Predicts Recall More </a:t>
            </a:r>
            <a:r>
              <a:rPr lang="en-US" i="1" dirty="0"/>
              <a:t>Strongly</a:t>
            </a:r>
            <a:r>
              <a:rPr lang="en-US" dirty="0"/>
              <a:t> for Emotional Items</a:t>
            </a:r>
            <a:br>
              <a:rPr lang="en-US" dirty="0"/>
            </a:br>
            <a:endParaRPr lang="en-US" dirty="0"/>
          </a:p>
        </p:txBody>
      </p:sp>
      <p:sp>
        <p:nvSpPr>
          <p:cNvPr id="3" name="Content Placeholder 2">
            <a:extLst>
              <a:ext uri="{FF2B5EF4-FFF2-40B4-BE49-F238E27FC236}">
                <a16:creationId xmlns:a16="http://schemas.microsoft.com/office/drawing/2014/main" id="{A9E9F47F-945D-BB36-2CEF-30E5FC4715EC}"/>
              </a:ext>
            </a:extLst>
          </p:cNvPr>
          <p:cNvSpPr>
            <a:spLocks noGrp="1"/>
          </p:cNvSpPr>
          <p:nvPr>
            <p:ph idx="1"/>
          </p:nvPr>
        </p:nvSpPr>
        <p:spPr>
          <a:xfrm>
            <a:off x="78939" y="1395412"/>
            <a:ext cx="8986121" cy="4067175"/>
          </a:xfrm>
        </p:spPr>
        <p:txBody>
          <a:bodyPr/>
          <a:lstStyle/>
          <a:p>
            <a:pPr>
              <a:spcAft>
                <a:spcPts val="600"/>
              </a:spcAft>
            </a:pPr>
            <a:r>
              <a:rPr lang="en-US" dirty="0"/>
              <a:t>Logistic mixed effects model predicting recall:</a:t>
            </a:r>
          </a:p>
          <a:p>
            <a:pPr lvl="1">
              <a:spcAft>
                <a:spcPts val="600"/>
              </a:spcAft>
            </a:pPr>
            <a:r>
              <a:rPr lang="en-US" dirty="0"/>
              <a:t>Negative items recalled more than neutral (emotion main effect, p &lt; .05)</a:t>
            </a:r>
          </a:p>
          <a:p>
            <a:pPr lvl="1">
              <a:spcAft>
                <a:spcPts val="600"/>
              </a:spcAft>
            </a:pPr>
            <a:r>
              <a:rPr lang="en-US" dirty="0"/>
              <a:t>Higher LPP predicts higher recall probability (LPP main effect, p &lt; .05)</a:t>
            </a:r>
          </a:p>
          <a:p>
            <a:pPr lvl="1">
              <a:spcAft>
                <a:spcPts val="600"/>
              </a:spcAft>
            </a:pPr>
            <a:r>
              <a:rPr lang="en-US" dirty="0"/>
              <a:t>LPP–recall relationship steeper for negative than neutral items (interaction, p&lt;.05).</a:t>
            </a:r>
          </a:p>
        </p:txBody>
      </p:sp>
      <p:pic>
        <p:nvPicPr>
          <p:cNvPr id="4" name="Picture 3" descr="A picture containing text&#10;&#10;Description automatically generated">
            <a:extLst>
              <a:ext uri="{FF2B5EF4-FFF2-40B4-BE49-F238E27FC236}">
                <a16:creationId xmlns:a16="http://schemas.microsoft.com/office/drawing/2014/main" id="{7AEE75B5-840C-8188-6E84-7C6744B6D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1760" y="2924944"/>
            <a:ext cx="6078837" cy="3751512"/>
          </a:xfrm>
          <a:prstGeom prst="rect">
            <a:avLst/>
          </a:prstGeom>
        </p:spPr>
      </p:pic>
    </p:spTree>
    <p:extLst>
      <p:ext uri="{BB962C8B-B14F-4D97-AF65-F5344CB8AC3E}">
        <p14:creationId xmlns:p14="http://schemas.microsoft.com/office/powerpoint/2010/main" val="2347598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C68744-C95A-838D-0441-407C9AFB6104}"/>
              </a:ext>
            </a:extLst>
          </p:cNvPr>
          <p:cNvSpPr>
            <a:spLocks noGrp="1"/>
          </p:cNvSpPr>
          <p:nvPr>
            <p:ph type="title"/>
          </p:nvPr>
        </p:nvSpPr>
        <p:spPr/>
        <p:txBody>
          <a:bodyPr/>
          <a:lstStyle/>
          <a:p>
            <a:r>
              <a:rPr lang="en-US" dirty="0"/>
              <a:t>Two ways to fit a model</a:t>
            </a:r>
          </a:p>
        </p:txBody>
      </p:sp>
      <p:sp>
        <p:nvSpPr>
          <p:cNvPr id="5" name="Text Placeholder 4">
            <a:extLst>
              <a:ext uri="{FF2B5EF4-FFF2-40B4-BE49-F238E27FC236}">
                <a16:creationId xmlns:a16="http://schemas.microsoft.com/office/drawing/2014/main" id="{D9FF7B59-65B2-07E2-6CAF-90A7111EDDBB}"/>
              </a:ext>
            </a:extLst>
          </p:cNvPr>
          <p:cNvSpPr>
            <a:spLocks noGrp="1"/>
          </p:cNvSpPr>
          <p:nvPr>
            <p:ph type="body" idx="1"/>
          </p:nvPr>
        </p:nvSpPr>
        <p:spPr>
          <a:xfrm>
            <a:off x="424743" y="1055196"/>
            <a:ext cx="4040188" cy="639762"/>
          </a:xfrm>
        </p:spPr>
        <p:txBody>
          <a:bodyPr/>
          <a:lstStyle/>
          <a:p>
            <a:r>
              <a:rPr lang="en-US" dirty="0"/>
              <a:t>Fit to summary curves</a:t>
            </a:r>
            <a:endParaRPr lang="en-US" dirty="0">
              <a:solidFill>
                <a:schemeClr val="bg1"/>
              </a:solidFill>
            </a:endParaRPr>
          </a:p>
        </p:txBody>
      </p:sp>
      <p:sp>
        <p:nvSpPr>
          <p:cNvPr id="6" name="Content Placeholder 5">
            <a:extLst>
              <a:ext uri="{FF2B5EF4-FFF2-40B4-BE49-F238E27FC236}">
                <a16:creationId xmlns:a16="http://schemas.microsoft.com/office/drawing/2014/main" id="{E9A758C5-1BBD-3907-23D8-C03A554B1A89}"/>
              </a:ext>
            </a:extLst>
          </p:cNvPr>
          <p:cNvSpPr>
            <a:spLocks noGrp="1"/>
          </p:cNvSpPr>
          <p:nvPr>
            <p:ph sz="half" idx="2"/>
          </p:nvPr>
        </p:nvSpPr>
        <p:spPr>
          <a:xfrm>
            <a:off x="344863" y="1816298"/>
            <a:ext cx="4040188" cy="3951288"/>
          </a:xfrm>
        </p:spPr>
        <p:txBody>
          <a:bodyPr/>
          <a:lstStyle/>
          <a:p>
            <a:pPr marL="0" indent="0">
              <a:buNone/>
            </a:pPr>
            <a:r>
              <a:rPr lang="en-US" dirty="0"/>
              <a:t>pick curves, pick weights, tune parameters so curves line up.</a:t>
            </a:r>
          </a:p>
        </p:txBody>
      </p:sp>
      <p:sp>
        <p:nvSpPr>
          <p:cNvPr id="7" name="Text Placeholder 6">
            <a:extLst>
              <a:ext uri="{FF2B5EF4-FFF2-40B4-BE49-F238E27FC236}">
                <a16:creationId xmlns:a16="http://schemas.microsoft.com/office/drawing/2014/main" id="{E354620F-68EB-0F72-860D-20D5B7FB0B4B}"/>
              </a:ext>
            </a:extLst>
          </p:cNvPr>
          <p:cNvSpPr>
            <a:spLocks noGrp="1"/>
          </p:cNvSpPr>
          <p:nvPr>
            <p:ph type="body" sz="quarter" idx="3"/>
          </p:nvPr>
        </p:nvSpPr>
        <p:spPr>
          <a:xfrm>
            <a:off x="4645025" y="1375077"/>
            <a:ext cx="4041775" cy="639762"/>
          </a:xfrm>
        </p:spPr>
        <p:txBody>
          <a:bodyPr/>
          <a:lstStyle/>
          <a:p>
            <a:pPr algn="r"/>
            <a:r>
              <a:rPr lang="en-US" dirty="0"/>
              <a:t>Fit to trial-level </a:t>
            </a:r>
            <a:r>
              <a:rPr lang="en-US" dirty="0" err="1"/>
              <a:t>behaviour</a:t>
            </a:r>
            <a:r>
              <a:rPr lang="en-US" dirty="0"/>
              <a:t> (likelihood)</a:t>
            </a:r>
          </a:p>
        </p:txBody>
      </p:sp>
      <p:sp>
        <p:nvSpPr>
          <p:cNvPr id="8" name="Content Placeholder 7">
            <a:extLst>
              <a:ext uri="{FF2B5EF4-FFF2-40B4-BE49-F238E27FC236}">
                <a16:creationId xmlns:a16="http://schemas.microsoft.com/office/drawing/2014/main" id="{72B3A3FD-FAF3-7671-8DDB-8B3EC95C5C99}"/>
              </a:ext>
            </a:extLst>
          </p:cNvPr>
          <p:cNvSpPr>
            <a:spLocks noGrp="1"/>
          </p:cNvSpPr>
          <p:nvPr>
            <p:ph sz="quarter" idx="4"/>
          </p:nvPr>
        </p:nvSpPr>
        <p:spPr/>
        <p:txBody>
          <a:bodyPr/>
          <a:lstStyle/>
          <a:p>
            <a:pPr marL="0" indent="0" algn="r">
              <a:buNone/>
            </a:pPr>
            <a:r>
              <a:rPr lang="en-US" dirty="0"/>
              <a:t>treat the model as generating trial </a:t>
            </a:r>
            <a:r>
              <a:rPr lang="en-US" dirty="0" err="1"/>
              <a:t>behaviour</a:t>
            </a:r>
            <a:r>
              <a:rPr lang="en-US" dirty="0"/>
              <a:t> and score how probable the actual recall sets are.</a:t>
            </a:r>
          </a:p>
        </p:txBody>
      </p:sp>
      <p:grpSp>
        <p:nvGrpSpPr>
          <p:cNvPr id="11" name="Group 10">
            <a:extLst>
              <a:ext uri="{FF2B5EF4-FFF2-40B4-BE49-F238E27FC236}">
                <a16:creationId xmlns:a16="http://schemas.microsoft.com/office/drawing/2014/main" id="{97B8F92B-5DAE-29B9-E654-FD7648BBAE4C}"/>
              </a:ext>
            </a:extLst>
          </p:cNvPr>
          <p:cNvGrpSpPr/>
          <p:nvPr/>
        </p:nvGrpSpPr>
        <p:grpSpPr>
          <a:xfrm>
            <a:off x="1547664" y="4003720"/>
            <a:ext cx="7987798" cy="2133198"/>
            <a:chOff x="977463" y="2459421"/>
            <a:chExt cx="7987798" cy="2133198"/>
          </a:xfrm>
        </p:grpSpPr>
        <p:sp>
          <p:nvSpPr>
            <p:cNvPr id="12" name="Thought Bubble: Cloud 9">
              <a:extLst>
                <a:ext uri="{FF2B5EF4-FFF2-40B4-BE49-F238E27FC236}">
                  <a16:creationId xmlns:a16="http://schemas.microsoft.com/office/drawing/2014/main" id="{BE1E327B-867E-F039-62EE-1819CD58BB9C}"/>
                </a:ext>
              </a:extLst>
            </p:cNvPr>
            <p:cNvSpPr/>
            <p:nvPr/>
          </p:nvSpPr>
          <p:spPr>
            <a:xfrm>
              <a:off x="7039147" y="2897753"/>
              <a:ext cx="1517783" cy="1062494"/>
            </a:xfrm>
            <a:prstGeom prst="cloudCallout">
              <a:avLst>
                <a:gd name="adj1" fmla="val -51715"/>
                <a:gd name="adj2" fmla="val -45830"/>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166AB4BC-DEF8-32A1-A42F-B869358C855C}"/>
                </a:ext>
              </a:extLst>
            </p:cNvPr>
            <p:cNvSpPr txBox="1"/>
            <p:nvPr/>
          </p:nvSpPr>
          <p:spPr>
            <a:xfrm>
              <a:off x="7183886" y="3025445"/>
              <a:ext cx="1329492" cy="646331"/>
            </a:xfrm>
            <a:prstGeom prst="rect">
              <a:avLst/>
            </a:prstGeom>
            <a:noFill/>
          </p:spPr>
          <p:txBody>
            <a:bodyPr wrap="square">
              <a:spAutoFit/>
            </a:bodyPr>
            <a:lstStyle/>
            <a:p>
              <a:r>
                <a:rPr lang="en-US" sz="3600" b="1" dirty="0">
                  <a:solidFill>
                    <a:srgbClr val="92D050"/>
                  </a:solidFill>
                </a:rPr>
                <a:t>D</a:t>
              </a:r>
              <a:r>
                <a:rPr lang="en-US" sz="3600" b="1" dirty="0"/>
                <a:t>…?</a:t>
              </a:r>
              <a:endParaRPr lang="en-US" sz="3600" dirty="0"/>
            </a:p>
          </p:txBody>
        </p:sp>
        <p:cxnSp>
          <p:nvCxnSpPr>
            <p:cNvPr id="14" name="Straight Connector 13">
              <a:extLst>
                <a:ext uri="{FF2B5EF4-FFF2-40B4-BE49-F238E27FC236}">
                  <a16:creationId xmlns:a16="http://schemas.microsoft.com/office/drawing/2014/main" id="{58A24646-E781-9539-C9D7-E3D73EB4307E}"/>
                </a:ext>
              </a:extLst>
            </p:cNvPr>
            <p:cNvCxnSpPr>
              <a:cxnSpLocks/>
            </p:cNvCxnSpPr>
            <p:nvPr/>
          </p:nvCxnSpPr>
          <p:spPr>
            <a:xfrm flipV="1">
              <a:off x="6779172" y="2459421"/>
              <a:ext cx="0" cy="1987421"/>
            </a:xfrm>
            <a:prstGeom prst="line">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FD93937-1BB2-A207-C9A2-201B860AAFF6}"/>
                </a:ext>
              </a:extLst>
            </p:cNvPr>
            <p:cNvSpPr txBox="1"/>
            <p:nvPr/>
          </p:nvSpPr>
          <p:spPr>
            <a:xfrm>
              <a:off x="977463" y="4077510"/>
              <a:ext cx="1560785" cy="369332"/>
            </a:xfrm>
            <a:prstGeom prst="rect">
              <a:avLst/>
            </a:prstGeom>
            <a:noFill/>
          </p:spPr>
          <p:txBody>
            <a:bodyPr wrap="square" rtlCol="0">
              <a:spAutoFit/>
            </a:bodyPr>
            <a:lstStyle/>
            <a:p>
              <a:r>
                <a:rPr lang="en-US" dirty="0">
                  <a:solidFill>
                    <a:schemeClr val="bg1"/>
                  </a:solidFill>
                </a:rPr>
                <a:t>Study</a:t>
              </a:r>
            </a:p>
          </p:txBody>
        </p:sp>
        <p:sp>
          <p:nvSpPr>
            <p:cNvPr id="16" name="TextBox 15">
              <a:extLst>
                <a:ext uri="{FF2B5EF4-FFF2-40B4-BE49-F238E27FC236}">
                  <a16:creationId xmlns:a16="http://schemas.microsoft.com/office/drawing/2014/main" id="{D81F9602-3E98-A48C-D975-8BB6E25E79F5}"/>
                </a:ext>
              </a:extLst>
            </p:cNvPr>
            <p:cNvSpPr txBox="1"/>
            <p:nvPr/>
          </p:nvSpPr>
          <p:spPr>
            <a:xfrm>
              <a:off x="7039147" y="4223287"/>
              <a:ext cx="1926114" cy="369332"/>
            </a:xfrm>
            <a:prstGeom prst="rect">
              <a:avLst/>
            </a:prstGeom>
            <a:noFill/>
          </p:spPr>
          <p:txBody>
            <a:bodyPr wrap="square" rtlCol="0">
              <a:spAutoFit/>
            </a:bodyPr>
            <a:lstStyle/>
            <a:p>
              <a:r>
                <a:rPr lang="en-US" dirty="0">
                  <a:solidFill>
                    <a:srgbClr val="050808"/>
                  </a:solidFill>
                </a:rPr>
                <a:t>Recall</a:t>
              </a:r>
            </a:p>
          </p:txBody>
        </p:sp>
      </p:grpSp>
      <p:sp>
        <p:nvSpPr>
          <p:cNvPr id="17" name="Arrow: Curved Up 3">
            <a:extLst>
              <a:ext uri="{FF2B5EF4-FFF2-40B4-BE49-F238E27FC236}">
                <a16:creationId xmlns:a16="http://schemas.microsoft.com/office/drawing/2014/main" id="{06BD220C-6DCB-70E9-E5BA-F67940F1D3F4}"/>
              </a:ext>
            </a:extLst>
          </p:cNvPr>
          <p:cNvSpPr/>
          <p:nvPr/>
        </p:nvSpPr>
        <p:spPr>
          <a:xfrm rot="10800000">
            <a:off x="5923895" y="3811038"/>
            <a:ext cx="2494938" cy="598989"/>
          </a:xfrm>
          <a:prstGeom prst="curved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8" name="Arrow: Right 11">
            <a:extLst>
              <a:ext uri="{FF2B5EF4-FFF2-40B4-BE49-F238E27FC236}">
                <a16:creationId xmlns:a16="http://schemas.microsoft.com/office/drawing/2014/main" id="{DFADF74E-020C-A99B-A5ED-C5E56D624B8E}"/>
              </a:ext>
            </a:extLst>
          </p:cNvPr>
          <p:cNvSpPr/>
          <p:nvPr/>
        </p:nvSpPr>
        <p:spPr>
          <a:xfrm>
            <a:off x="6052745" y="5071077"/>
            <a:ext cx="770081" cy="591207"/>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A8C1263-A9F3-D301-1671-9F7469FD5407}"/>
              </a:ext>
            </a:extLst>
          </p:cNvPr>
          <p:cNvSpPr txBox="1"/>
          <p:nvPr/>
        </p:nvSpPr>
        <p:spPr>
          <a:xfrm>
            <a:off x="6201436" y="5149138"/>
            <a:ext cx="472698" cy="400110"/>
          </a:xfrm>
          <a:prstGeom prst="rect">
            <a:avLst/>
          </a:prstGeom>
          <a:noFill/>
        </p:spPr>
        <p:txBody>
          <a:bodyPr wrap="square" rtlCol="0">
            <a:spAutoFit/>
          </a:bodyPr>
          <a:lstStyle/>
          <a:p>
            <a:r>
              <a:rPr lang="en-US" sz="2000" dirty="0"/>
              <a:t>?</a:t>
            </a:r>
          </a:p>
        </p:txBody>
      </p:sp>
      <p:sp>
        <p:nvSpPr>
          <p:cNvPr id="20" name="TextBox 19">
            <a:extLst>
              <a:ext uri="{FF2B5EF4-FFF2-40B4-BE49-F238E27FC236}">
                <a16:creationId xmlns:a16="http://schemas.microsoft.com/office/drawing/2014/main" id="{C395DB85-A0C8-1075-BBF7-BD0D66889720}"/>
              </a:ext>
            </a:extLst>
          </p:cNvPr>
          <p:cNvSpPr txBox="1"/>
          <p:nvPr/>
        </p:nvSpPr>
        <p:spPr>
          <a:xfrm>
            <a:off x="4221074" y="4327647"/>
            <a:ext cx="3124610" cy="923330"/>
          </a:xfrm>
          <a:prstGeom prst="rect">
            <a:avLst/>
          </a:prstGeom>
          <a:noFill/>
        </p:spPr>
        <p:txBody>
          <a:bodyPr wrap="square" rtlCol="0">
            <a:spAutoFit/>
          </a:bodyPr>
          <a:lstStyle/>
          <a:p>
            <a:pPr algn="ctr"/>
            <a:r>
              <a:rPr lang="en-US" sz="3600" dirty="0"/>
              <a:t>A </a:t>
            </a:r>
            <a:r>
              <a:rPr lang="en-US" sz="3600" b="1" dirty="0">
                <a:solidFill>
                  <a:srgbClr val="C00000"/>
                </a:solidFill>
              </a:rPr>
              <a:t>B C </a:t>
            </a:r>
            <a:r>
              <a:rPr lang="en-US" sz="5400" b="1" dirty="0">
                <a:solidFill>
                  <a:srgbClr val="92D050"/>
                </a:solidFill>
              </a:rPr>
              <a:t>D</a:t>
            </a:r>
            <a:r>
              <a:rPr lang="en-US" sz="3600" dirty="0"/>
              <a:t> </a:t>
            </a:r>
            <a:r>
              <a:rPr lang="en-US" sz="3600" b="1" dirty="0">
                <a:solidFill>
                  <a:srgbClr val="C00000"/>
                </a:solidFill>
              </a:rPr>
              <a:t>E</a:t>
            </a:r>
            <a:r>
              <a:rPr lang="en-US" sz="3600" dirty="0"/>
              <a:t> </a:t>
            </a:r>
            <a:r>
              <a:rPr lang="en-US" sz="3600" b="1" dirty="0">
                <a:solidFill>
                  <a:srgbClr val="C00000"/>
                </a:solidFill>
              </a:rPr>
              <a:t>F</a:t>
            </a:r>
            <a:r>
              <a:rPr lang="en-US" sz="3600" dirty="0"/>
              <a:t> </a:t>
            </a:r>
          </a:p>
        </p:txBody>
      </p:sp>
      <p:pic>
        <p:nvPicPr>
          <p:cNvPr id="9" name="Picture 2">
            <a:extLst>
              <a:ext uri="{FF2B5EF4-FFF2-40B4-BE49-F238E27FC236}">
                <a16:creationId xmlns:a16="http://schemas.microsoft.com/office/drawing/2014/main" id="{040425D3-D750-D73D-A3B7-4BB5E9BB7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938" y="2595093"/>
            <a:ext cx="2315973" cy="179752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DB81BE82-A87D-DA35-D020-AF206CA88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50" y="4274688"/>
            <a:ext cx="2520280" cy="18827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E0CAA63-5C42-F9F6-4547-E3FF1C3016B8}"/>
              </a:ext>
            </a:extLst>
          </p:cNvPr>
          <p:cNvSpPr txBox="1"/>
          <p:nvPr/>
        </p:nvSpPr>
        <p:spPr>
          <a:xfrm>
            <a:off x="4775839" y="5660398"/>
            <a:ext cx="774571" cy="369332"/>
          </a:xfrm>
          <a:prstGeom prst="rect">
            <a:avLst/>
          </a:prstGeom>
          <a:noFill/>
        </p:spPr>
        <p:txBody>
          <a:bodyPr wrap="none" rtlCol="0">
            <a:spAutoFit/>
          </a:bodyPr>
          <a:lstStyle/>
          <a:p>
            <a:r>
              <a:rPr lang="en-US" dirty="0"/>
              <a:t>Study</a:t>
            </a:r>
          </a:p>
        </p:txBody>
      </p:sp>
    </p:spTree>
    <p:extLst>
      <p:ext uri="{BB962C8B-B14F-4D97-AF65-F5344CB8AC3E}">
        <p14:creationId xmlns:p14="http://schemas.microsoft.com/office/powerpoint/2010/main" val="856096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B183D5A-9958-655B-9EBA-ACC2FAD2BAD2}"/>
              </a:ext>
            </a:extLst>
          </p:cNvPr>
          <p:cNvSpPr>
            <a:spLocks noGrp="1"/>
          </p:cNvSpPr>
          <p:nvPr>
            <p:ph type="title"/>
          </p:nvPr>
        </p:nvSpPr>
        <p:spPr>
          <a:xfrm>
            <a:off x="251520" y="225904"/>
            <a:ext cx="8375650" cy="423862"/>
          </a:xfrm>
        </p:spPr>
        <p:txBody>
          <a:bodyPr/>
          <a:lstStyle/>
          <a:p>
            <a:r>
              <a:rPr lang="en-US" dirty="0"/>
              <a:t>Ideal likelihood if we had full recall sequences:</a:t>
            </a:r>
            <a:br>
              <a:rPr lang="en-US" dirty="0"/>
            </a:br>
            <a:r>
              <a:rPr lang="en-US" dirty="0"/>
              <a:t>p(</a:t>
            </a:r>
            <a:r>
              <a:rPr lang="en-US" dirty="0" err="1"/>
              <a:t>sequence_t</a:t>
            </a:r>
            <a:r>
              <a:rPr lang="en-US" dirty="0"/>
              <a:t> | model, </a:t>
            </a:r>
            <a:r>
              <a:rPr lang="el-GR" dirty="0"/>
              <a:t>θ) </a:t>
            </a:r>
            <a:r>
              <a:rPr lang="en-US" dirty="0"/>
              <a:t>per trial.</a:t>
            </a:r>
          </a:p>
        </p:txBody>
      </p:sp>
      <p:pic>
        <p:nvPicPr>
          <p:cNvPr id="10" name="Picture 9">
            <a:extLst>
              <a:ext uri="{FF2B5EF4-FFF2-40B4-BE49-F238E27FC236}">
                <a16:creationId xmlns:a16="http://schemas.microsoft.com/office/drawing/2014/main" id="{56235337-7E3C-717E-6D32-1A0231F9045A}"/>
              </a:ext>
            </a:extLst>
          </p:cNvPr>
          <p:cNvPicPr>
            <a:picLocks noChangeAspect="1"/>
          </p:cNvPicPr>
          <p:nvPr/>
        </p:nvPicPr>
        <p:blipFill>
          <a:blip r:embed="rId3"/>
          <a:stretch>
            <a:fillRect/>
          </a:stretch>
        </p:blipFill>
        <p:spPr>
          <a:xfrm>
            <a:off x="685800" y="1484784"/>
            <a:ext cx="7772400" cy="4723450"/>
          </a:xfrm>
          <a:prstGeom prst="rect">
            <a:avLst/>
          </a:prstGeom>
        </p:spPr>
      </p:pic>
      <p:sp>
        <p:nvSpPr>
          <p:cNvPr id="11" name="Rectangle 4">
            <a:extLst>
              <a:ext uri="{FF2B5EF4-FFF2-40B4-BE49-F238E27FC236}">
                <a16:creationId xmlns:a16="http://schemas.microsoft.com/office/drawing/2014/main" id="{90867A8B-95A8-C57E-579E-5F5954FD2581}"/>
              </a:ext>
            </a:extLst>
          </p:cNvPr>
          <p:cNvSpPr>
            <a:spLocks noChangeArrowheads="1"/>
          </p:cNvSpPr>
          <p:nvPr/>
        </p:nvSpPr>
        <p:spPr bwMode="auto">
          <a:xfrm>
            <a:off x="2195736" y="6267828"/>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sz="1600" b="1" dirty="0">
                <a:solidFill>
                  <a:schemeClr val="tx2"/>
                </a:solidFill>
              </a:rPr>
              <a:t>Morton &amp; Polyn, 2016. </a:t>
            </a:r>
            <a:r>
              <a:rPr lang="en-GB" altLang="en-US" sz="1600" b="1" i="1" dirty="0">
                <a:solidFill>
                  <a:schemeClr val="tx2"/>
                </a:solidFill>
              </a:rPr>
              <a:t>Journal of memory and language.</a:t>
            </a:r>
          </a:p>
        </p:txBody>
      </p:sp>
    </p:spTree>
    <p:extLst>
      <p:ext uri="{BB962C8B-B14F-4D97-AF65-F5344CB8AC3E}">
        <p14:creationId xmlns:p14="http://schemas.microsoft.com/office/powerpoint/2010/main" val="3416592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E32EF-0559-B1FB-8D27-0B93F9363143}"/>
              </a:ext>
            </a:extLst>
          </p:cNvPr>
          <p:cNvSpPr>
            <a:spLocks noGrp="1"/>
          </p:cNvSpPr>
          <p:nvPr>
            <p:ph type="title"/>
          </p:nvPr>
        </p:nvSpPr>
        <p:spPr/>
        <p:txBody>
          <a:bodyPr/>
          <a:lstStyle/>
          <a:p>
            <a:r>
              <a:rPr lang="en-US" dirty="0"/>
              <a:t>Our data: recall sets, not sequences</a:t>
            </a:r>
          </a:p>
        </p:txBody>
      </p:sp>
      <p:sp>
        <p:nvSpPr>
          <p:cNvPr id="3" name="Content Placeholder 2">
            <a:extLst>
              <a:ext uri="{FF2B5EF4-FFF2-40B4-BE49-F238E27FC236}">
                <a16:creationId xmlns:a16="http://schemas.microsoft.com/office/drawing/2014/main" id="{C52911A3-A185-5574-9D33-770E8B176582}"/>
              </a:ext>
            </a:extLst>
          </p:cNvPr>
          <p:cNvSpPr>
            <a:spLocks noGrp="1"/>
          </p:cNvSpPr>
          <p:nvPr>
            <p:ph idx="1"/>
          </p:nvPr>
        </p:nvSpPr>
        <p:spPr>
          <a:xfrm>
            <a:off x="405692" y="1628800"/>
            <a:ext cx="8374063" cy="4067175"/>
          </a:xfrm>
        </p:spPr>
        <p:txBody>
          <a:bodyPr/>
          <a:lstStyle/>
          <a:p>
            <a:r>
              <a:rPr lang="en-US" dirty="0"/>
              <a:t>In this dataset, for each list and item we know: emotion label, Early LPP at encoding, and whether it was recalled.</a:t>
            </a:r>
          </a:p>
          <a:p>
            <a:r>
              <a:rPr lang="en-US" dirty="0"/>
              <a:t>We do </a:t>
            </a:r>
            <a:r>
              <a:rPr lang="en-US" b="1" dirty="0"/>
              <a:t>not</a:t>
            </a:r>
            <a:r>
              <a:rPr lang="en-US" dirty="0"/>
              <a:t> know the order of recalls, and buffer items are dropped.</a:t>
            </a:r>
          </a:p>
          <a:p>
            <a:r>
              <a:rPr lang="en-US" dirty="0"/>
              <a:t>So for modelling, each trial is a 20-item list with a recalled </a:t>
            </a:r>
            <a:r>
              <a:rPr lang="en-US" b="1" dirty="0"/>
              <a:t>set</a:t>
            </a:r>
            <a:r>
              <a:rPr lang="en-US" dirty="0"/>
              <a:t>, not a full recall sequence.</a:t>
            </a:r>
          </a:p>
          <a:p>
            <a:r>
              <a:rPr lang="en-US" dirty="0"/>
              <a:t>To keep using a generative recall model, we look at all the sequences that would result in that recalled set – different orders – and we aggregate their probabilities under the model</a:t>
            </a:r>
          </a:p>
          <a:p>
            <a:r>
              <a:rPr lang="en-US" dirty="0"/>
              <a:t>In practice, Monte Carlo approximation</a:t>
            </a:r>
          </a:p>
        </p:txBody>
      </p:sp>
    </p:spTree>
    <p:extLst>
      <p:ext uri="{BB962C8B-B14F-4D97-AF65-F5344CB8AC3E}">
        <p14:creationId xmlns:p14="http://schemas.microsoft.com/office/powerpoint/2010/main" val="3282952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A8F9-F8B3-A6DF-784C-79D54526D75D}"/>
              </a:ext>
            </a:extLst>
          </p:cNvPr>
          <p:cNvSpPr>
            <a:spLocks noGrp="1"/>
          </p:cNvSpPr>
          <p:nvPr>
            <p:ph type="title"/>
          </p:nvPr>
        </p:nvSpPr>
        <p:spPr/>
        <p:txBody>
          <a:bodyPr/>
          <a:lstStyle/>
          <a:p>
            <a:r>
              <a:rPr lang="en-US" dirty="0"/>
              <a:t>Why we chose </a:t>
            </a:r>
            <a:r>
              <a:rPr lang="en-US" i="1" dirty="0"/>
              <a:t>likelihood</a:t>
            </a:r>
          </a:p>
        </p:txBody>
      </p:sp>
      <p:sp>
        <p:nvSpPr>
          <p:cNvPr id="3" name="Content Placeholder 2">
            <a:extLst>
              <a:ext uri="{FF2B5EF4-FFF2-40B4-BE49-F238E27FC236}">
                <a16:creationId xmlns:a16="http://schemas.microsoft.com/office/drawing/2014/main" id="{F5C594B1-2C57-1937-FCE6-140347B6BCC7}"/>
              </a:ext>
            </a:extLst>
          </p:cNvPr>
          <p:cNvSpPr>
            <a:spLocks noGrp="1"/>
          </p:cNvSpPr>
          <p:nvPr>
            <p:ph idx="1"/>
          </p:nvPr>
        </p:nvSpPr>
        <p:spPr/>
        <p:txBody>
          <a:bodyPr/>
          <a:lstStyle/>
          <a:p>
            <a:r>
              <a:rPr lang="en-US" dirty="0"/>
              <a:t>Uses all the information in which items are recalled on which lists, not just averages or one curve.</a:t>
            </a:r>
          </a:p>
          <a:p>
            <a:r>
              <a:rPr lang="en-US" dirty="0"/>
              <a:t>Respects the encoding + retrieval structure: same parameters generate and score </a:t>
            </a:r>
            <a:r>
              <a:rPr lang="en-US" dirty="0" err="1"/>
              <a:t>behaviour</a:t>
            </a:r>
            <a:r>
              <a:rPr lang="en-US" dirty="0"/>
              <a:t>.</a:t>
            </a:r>
          </a:p>
          <a:p>
            <a:r>
              <a:rPr lang="en-US" dirty="0"/>
              <a:t>Gives a principled log-likelihood we can later turn into a model-comparison score (AIC), rather than eyeballing.</a:t>
            </a:r>
          </a:p>
        </p:txBody>
      </p:sp>
    </p:spTree>
    <p:extLst>
      <p:ext uri="{BB962C8B-B14F-4D97-AF65-F5344CB8AC3E}">
        <p14:creationId xmlns:p14="http://schemas.microsoft.com/office/powerpoint/2010/main" val="1671416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8283D-F1A4-2844-0580-5439D7DA6E23}"/>
              </a:ext>
            </a:extLst>
          </p:cNvPr>
          <p:cNvSpPr>
            <a:spLocks noGrp="1"/>
          </p:cNvSpPr>
          <p:nvPr>
            <p:ph type="title"/>
          </p:nvPr>
        </p:nvSpPr>
        <p:spPr/>
        <p:txBody>
          <a:bodyPr/>
          <a:lstStyle/>
          <a:p>
            <a:r>
              <a:rPr lang="en-US" dirty="0"/>
              <a:t>Choosing models: general principles</a:t>
            </a:r>
          </a:p>
        </p:txBody>
      </p:sp>
      <p:sp>
        <p:nvSpPr>
          <p:cNvPr id="3" name="Content Placeholder 2">
            <a:extLst>
              <a:ext uri="{FF2B5EF4-FFF2-40B4-BE49-F238E27FC236}">
                <a16:creationId xmlns:a16="http://schemas.microsoft.com/office/drawing/2014/main" id="{011B9901-D3E5-4DDC-A5B9-0A564BD3FC72}"/>
              </a:ext>
            </a:extLst>
          </p:cNvPr>
          <p:cNvSpPr>
            <a:spLocks noGrp="1"/>
          </p:cNvSpPr>
          <p:nvPr>
            <p:ph idx="1"/>
          </p:nvPr>
        </p:nvSpPr>
        <p:spPr/>
        <p:txBody>
          <a:bodyPr/>
          <a:lstStyle/>
          <a:p>
            <a:r>
              <a:rPr lang="en-US" dirty="0"/>
              <a:t>Change one mechanistic ingredient at a time (here: how LPP and emotion enter encoding).</a:t>
            </a:r>
          </a:p>
          <a:p>
            <a:r>
              <a:rPr lang="en-US" dirty="0"/>
              <a:t>Include a psychologically meaningful baseline (here: an emotion-only model).</a:t>
            </a:r>
          </a:p>
          <a:p>
            <a:r>
              <a:rPr lang="en-US" dirty="0"/>
              <a:t>Ensure each model corresponds to a verbal story you can explain in a couple of sentences.</a:t>
            </a:r>
          </a:p>
          <a:p>
            <a:r>
              <a:rPr lang="en-US" dirty="0"/>
              <a:t>Aim to ask whether the data clearly disfavor a given ingredient, clearly favor it, or leave it underdetermined.</a:t>
            </a:r>
          </a:p>
        </p:txBody>
      </p:sp>
    </p:spTree>
    <p:extLst>
      <p:ext uri="{BB962C8B-B14F-4D97-AF65-F5344CB8AC3E}">
        <p14:creationId xmlns:p14="http://schemas.microsoft.com/office/powerpoint/2010/main" val="581430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32CDE-7EA1-C170-99CF-1F82663C4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115BF-0EB2-444F-E67A-F7AE65FC147A}"/>
              </a:ext>
            </a:extLst>
          </p:cNvPr>
          <p:cNvSpPr>
            <a:spLocks noGrp="1"/>
          </p:cNvSpPr>
          <p:nvPr>
            <p:ph type="title"/>
          </p:nvPr>
        </p:nvSpPr>
        <p:spPr/>
        <p:txBody>
          <a:bodyPr/>
          <a:lstStyle/>
          <a:p>
            <a:r>
              <a:rPr lang="en-US" dirty="0"/>
              <a:t>What could ‘LPP as a stand-in for emotion’ mean?</a:t>
            </a:r>
            <a:endParaRPr lang="en-US" i="1" dirty="0"/>
          </a:p>
        </p:txBody>
      </p:sp>
      <p:sp>
        <p:nvSpPr>
          <p:cNvPr id="3" name="Content Placeholder 2">
            <a:extLst>
              <a:ext uri="{FF2B5EF4-FFF2-40B4-BE49-F238E27FC236}">
                <a16:creationId xmlns:a16="http://schemas.microsoft.com/office/drawing/2014/main" id="{8FFA0C77-D35E-EBD7-D259-F7CA3370AF61}"/>
              </a:ext>
            </a:extLst>
          </p:cNvPr>
          <p:cNvSpPr>
            <a:spLocks noGrp="1"/>
          </p:cNvSpPr>
          <p:nvPr>
            <p:ph idx="1"/>
          </p:nvPr>
        </p:nvSpPr>
        <p:spPr>
          <a:xfrm>
            <a:off x="361305" y="1395412"/>
            <a:ext cx="8374063" cy="4067175"/>
          </a:xfrm>
        </p:spPr>
        <p:txBody>
          <a:bodyPr/>
          <a:lstStyle/>
          <a:p>
            <a:pPr>
              <a:spcAft>
                <a:spcPts val="600"/>
              </a:spcAft>
            </a:pPr>
            <a:r>
              <a:rPr lang="en-US" dirty="0"/>
              <a:t>Our statistical model and plots so far tell us:</a:t>
            </a:r>
          </a:p>
          <a:p>
            <a:pPr lvl="1">
              <a:spcAft>
                <a:spcPts val="600"/>
              </a:spcAft>
            </a:pPr>
            <a:r>
              <a:rPr lang="en-US" dirty="0"/>
              <a:t>Emotion label and Early LPP each predict recall; both matter.</a:t>
            </a:r>
          </a:p>
          <a:p>
            <a:pPr lvl="1"/>
            <a:r>
              <a:rPr lang="en-US" dirty="0"/>
              <a:t>LPP is higher on average for negative items, and highest for recalled negatives.</a:t>
            </a:r>
          </a:p>
          <a:p>
            <a:pPr>
              <a:spcAft>
                <a:spcPts val="600"/>
              </a:spcAft>
            </a:pPr>
            <a:r>
              <a:rPr lang="en-US" dirty="0"/>
              <a:t>“LPP as stand-in for emotion” can mean at least two things:</a:t>
            </a:r>
          </a:p>
          <a:p>
            <a:pPr marL="728663" lvl="1" indent="-457200">
              <a:spcAft>
                <a:spcPts val="600"/>
              </a:spcAft>
              <a:buFont typeface="+mj-lt"/>
              <a:buAutoNum type="arabicPeriod"/>
            </a:pPr>
            <a:r>
              <a:rPr lang="en-US" b="1" dirty="0"/>
              <a:t>Strong version:</a:t>
            </a:r>
            <a:r>
              <a:rPr lang="en-US" dirty="0"/>
              <a:t> drop the emotion label; LPP alone drives the “emotional” mechanism.</a:t>
            </a:r>
          </a:p>
          <a:p>
            <a:pPr marL="728663" lvl="1" indent="-457200">
              <a:buFont typeface="+mj-lt"/>
              <a:buAutoNum type="arabicPeriod"/>
            </a:pPr>
            <a:r>
              <a:rPr lang="en-US" b="1" dirty="0"/>
              <a:t>Weaker version:</a:t>
            </a:r>
            <a:r>
              <a:rPr lang="en-US" dirty="0"/>
              <a:t> LPP is the graded input to an emotional channel in the model, but condition labels may still carry extra information (e.g., list-level or semantic effects).</a:t>
            </a:r>
          </a:p>
          <a:p>
            <a:pPr marL="0" indent="0">
              <a:buNone/>
            </a:pPr>
            <a:r>
              <a:rPr lang="en-US" dirty="0"/>
              <a:t>Our analyses against the strong “LPP replaces emotion label” story, but do not tell us whether a model that only sees LPP can behave like one that gets explicit emotion labels as an input.</a:t>
            </a:r>
          </a:p>
        </p:txBody>
      </p:sp>
    </p:spTree>
    <p:extLst>
      <p:ext uri="{BB962C8B-B14F-4D97-AF65-F5344CB8AC3E}">
        <p14:creationId xmlns:p14="http://schemas.microsoft.com/office/powerpoint/2010/main" val="123372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B3849-5D53-918F-4B31-24C8D9EBAA21}"/>
              </a:ext>
            </a:extLst>
          </p:cNvPr>
          <p:cNvSpPr>
            <a:spLocks noGrp="1"/>
          </p:cNvSpPr>
          <p:nvPr>
            <p:ph type="title"/>
          </p:nvPr>
        </p:nvSpPr>
        <p:spPr/>
        <p:txBody>
          <a:bodyPr/>
          <a:lstStyle/>
          <a:p>
            <a:r>
              <a:rPr lang="en-US" dirty="0"/>
              <a:t>Our recall model: encoding and competition</a:t>
            </a:r>
          </a:p>
        </p:txBody>
      </p:sp>
      <p:sp>
        <p:nvSpPr>
          <p:cNvPr id="3" name="Content Placeholder 2">
            <a:extLst>
              <a:ext uri="{FF2B5EF4-FFF2-40B4-BE49-F238E27FC236}">
                <a16:creationId xmlns:a16="http://schemas.microsoft.com/office/drawing/2014/main" id="{AE131928-FE69-619C-87E6-3A9F27379A4F}"/>
              </a:ext>
            </a:extLst>
          </p:cNvPr>
          <p:cNvSpPr>
            <a:spLocks noGrp="1"/>
          </p:cNvSpPr>
          <p:nvPr>
            <p:ph idx="1"/>
          </p:nvPr>
        </p:nvSpPr>
        <p:spPr>
          <a:xfrm>
            <a:off x="288805" y="1549789"/>
            <a:ext cx="8493422" cy="1427966"/>
          </a:xfrm>
        </p:spPr>
        <p:txBody>
          <a:bodyPr/>
          <a:lstStyle/>
          <a:p>
            <a:pPr>
              <a:spcAft>
                <a:spcPts val="1200"/>
              </a:spcAft>
            </a:pPr>
            <a:r>
              <a:rPr lang="en-US" altLang="en-US" dirty="0">
                <a:latin typeface="Arial" panose="020B0604020202020204" pitchFamily="34" charset="0"/>
              </a:rPr>
              <a:t>Encoding: maps item features (emotion, LPP) to context with an encoding strength Sᵢ.</a:t>
            </a:r>
          </a:p>
          <a:p>
            <a:pPr>
              <a:spcAft>
                <a:spcPts val="1200"/>
              </a:spcAft>
            </a:pPr>
            <a:r>
              <a:rPr lang="en-US" altLang="en-US" dirty="0">
                <a:latin typeface="Arial" panose="020B0604020202020204" pitchFamily="34" charset="0"/>
              </a:rPr>
              <a:t>Retrieval: context cue </a:t>
            </a:r>
            <a:r>
              <a:rPr lang="en-US" dirty="0"/>
              <a:t>→ activations (similarity × strength) → competitive choice → Update cue → …</a:t>
            </a:r>
          </a:p>
          <a:p>
            <a:endParaRPr lang="en-US" dirty="0"/>
          </a:p>
        </p:txBody>
      </p:sp>
      <p:sp>
        <p:nvSpPr>
          <p:cNvPr id="18" name="Oval 17">
            <a:extLst>
              <a:ext uri="{FF2B5EF4-FFF2-40B4-BE49-F238E27FC236}">
                <a16:creationId xmlns:a16="http://schemas.microsoft.com/office/drawing/2014/main" id="{AB08B834-1B9F-296E-36A8-EBF4EAA828D3}"/>
              </a:ext>
            </a:extLst>
          </p:cNvPr>
          <p:cNvSpPr/>
          <p:nvPr/>
        </p:nvSpPr>
        <p:spPr>
          <a:xfrm>
            <a:off x="8186066" y="4318330"/>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9" name="Oval 18">
            <a:extLst>
              <a:ext uri="{FF2B5EF4-FFF2-40B4-BE49-F238E27FC236}">
                <a16:creationId xmlns:a16="http://schemas.microsoft.com/office/drawing/2014/main" id="{87B5ACA8-206A-FBC8-C427-A9082A8C914A}"/>
              </a:ext>
            </a:extLst>
          </p:cNvPr>
          <p:cNvSpPr/>
          <p:nvPr/>
        </p:nvSpPr>
        <p:spPr>
          <a:xfrm>
            <a:off x="7428092" y="4318330"/>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0" name="Oval 19">
            <a:extLst>
              <a:ext uri="{FF2B5EF4-FFF2-40B4-BE49-F238E27FC236}">
                <a16:creationId xmlns:a16="http://schemas.microsoft.com/office/drawing/2014/main" id="{F616FEAF-A937-8E48-7D84-6C0489D509B1}"/>
              </a:ext>
            </a:extLst>
          </p:cNvPr>
          <p:cNvSpPr/>
          <p:nvPr/>
        </p:nvSpPr>
        <p:spPr>
          <a:xfrm>
            <a:off x="6715648" y="434589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1" name="Oval 20">
            <a:extLst>
              <a:ext uri="{FF2B5EF4-FFF2-40B4-BE49-F238E27FC236}">
                <a16:creationId xmlns:a16="http://schemas.microsoft.com/office/drawing/2014/main" id="{5B079B66-0A89-B5D4-483E-A96C4287EDBD}"/>
              </a:ext>
            </a:extLst>
          </p:cNvPr>
          <p:cNvSpPr/>
          <p:nvPr/>
        </p:nvSpPr>
        <p:spPr>
          <a:xfrm>
            <a:off x="5957674" y="4356785"/>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22" name="Oval 21">
            <a:extLst>
              <a:ext uri="{FF2B5EF4-FFF2-40B4-BE49-F238E27FC236}">
                <a16:creationId xmlns:a16="http://schemas.microsoft.com/office/drawing/2014/main" id="{E403D28C-9FEF-531F-6374-294105A73A8D}"/>
              </a:ext>
            </a:extLst>
          </p:cNvPr>
          <p:cNvSpPr/>
          <p:nvPr/>
        </p:nvSpPr>
        <p:spPr>
          <a:xfrm>
            <a:off x="8186066" y="345839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3" name="Oval 22">
            <a:extLst>
              <a:ext uri="{FF2B5EF4-FFF2-40B4-BE49-F238E27FC236}">
                <a16:creationId xmlns:a16="http://schemas.microsoft.com/office/drawing/2014/main" id="{88FE69BA-4C40-DB0F-880B-59AC2C6627DD}"/>
              </a:ext>
            </a:extLst>
          </p:cNvPr>
          <p:cNvSpPr/>
          <p:nvPr/>
        </p:nvSpPr>
        <p:spPr>
          <a:xfrm>
            <a:off x="7428092" y="345839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4" name="Oval 23">
            <a:extLst>
              <a:ext uri="{FF2B5EF4-FFF2-40B4-BE49-F238E27FC236}">
                <a16:creationId xmlns:a16="http://schemas.microsoft.com/office/drawing/2014/main" id="{239FE8DA-E30E-58FC-72C6-C25B4351C65B}"/>
              </a:ext>
            </a:extLst>
          </p:cNvPr>
          <p:cNvSpPr/>
          <p:nvPr/>
        </p:nvSpPr>
        <p:spPr>
          <a:xfrm>
            <a:off x="6715648" y="3485961"/>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5" name="Oval 24">
            <a:extLst>
              <a:ext uri="{FF2B5EF4-FFF2-40B4-BE49-F238E27FC236}">
                <a16:creationId xmlns:a16="http://schemas.microsoft.com/office/drawing/2014/main" id="{CB6C7267-F1CC-DEA5-A95F-301621F0EBB0}"/>
              </a:ext>
            </a:extLst>
          </p:cNvPr>
          <p:cNvSpPr/>
          <p:nvPr/>
        </p:nvSpPr>
        <p:spPr>
          <a:xfrm>
            <a:off x="5957674" y="349684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26" name="Straight Arrow Connector 25">
            <a:extLst>
              <a:ext uri="{FF2B5EF4-FFF2-40B4-BE49-F238E27FC236}">
                <a16:creationId xmlns:a16="http://schemas.microsoft.com/office/drawing/2014/main" id="{05C1091E-B3E1-5A7E-6837-9DD395F0711D}"/>
              </a:ext>
            </a:extLst>
          </p:cNvPr>
          <p:cNvCxnSpPr>
            <a:stCxn id="21" idx="0"/>
            <a:endCxn id="25" idx="4"/>
          </p:cNvCxnSpPr>
          <p:nvPr/>
        </p:nvCxnSpPr>
        <p:spPr>
          <a:xfrm flipV="1">
            <a:off x="6260461" y="4088518"/>
            <a:ext cx="0"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98B035B-65C1-F4E9-3641-0BCCA12D2509}"/>
              </a:ext>
            </a:extLst>
          </p:cNvPr>
          <p:cNvCxnSpPr>
            <a:stCxn id="21" idx="0"/>
            <a:endCxn id="24" idx="4"/>
          </p:cNvCxnSpPr>
          <p:nvPr/>
        </p:nvCxnSpPr>
        <p:spPr>
          <a:xfrm flipV="1">
            <a:off x="6260461" y="4077632"/>
            <a:ext cx="757974" cy="279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05C2CDF4-B780-A537-842C-B1A1443F3A0A}"/>
              </a:ext>
            </a:extLst>
          </p:cNvPr>
          <p:cNvCxnSpPr>
            <a:stCxn id="21" idx="0"/>
            <a:endCxn id="23" idx="4"/>
          </p:cNvCxnSpPr>
          <p:nvPr/>
        </p:nvCxnSpPr>
        <p:spPr>
          <a:xfrm flipV="1">
            <a:off x="6260461" y="4050063"/>
            <a:ext cx="1470418"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41C207D-0481-BFDE-5D02-23D13E2E735C}"/>
              </a:ext>
            </a:extLst>
          </p:cNvPr>
          <p:cNvCxnSpPr>
            <a:stCxn id="21" idx="0"/>
            <a:endCxn id="22" idx="4"/>
          </p:cNvCxnSpPr>
          <p:nvPr/>
        </p:nvCxnSpPr>
        <p:spPr>
          <a:xfrm flipV="1">
            <a:off x="6260461" y="4050063"/>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018C356-C443-BDEA-8F50-EC97B8372513}"/>
              </a:ext>
            </a:extLst>
          </p:cNvPr>
          <p:cNvSpPr txBox="1"/>
          <p:nvPr/>
        </p:nvSpPr>
        <p:spPr>
          <a:xfrm>
            <a:off x="5957674" y="4463925"/>
            <a:ext cx="2531174" cy="369332"/>
          </a:xfrm>
          <a:prstGeom prst="rect">
            <a:avLst/>
          </a:prstGeom>
          <a:noFill/>
        </p:spPr>
        <p:txBody>
          <a:bodyPr wrap="square">
            <a:spAutoFit/>
          </a:bodyPr>
          <a:lstStyle/>
          <a:p>
            <a:r>
              <a:rPr lang="en-US" dirty="0">
                <a:solidFill>
                  <a:srgbClr val="050808"/>
                </a:solidFill>
              </a:rPr>
              <a:t>Item</a:t>
            </a:r>
          </a:p>
        </p:txBody>
      </p:sp>
      <p:sp>
        <p:nvSpPr>
          <p:cNvPr id="31" name="TextBox 30">
            <a:extLst>
              <a:ext uri="{FF2B5EF4-FFF2-40B4-BE49-F238E27FC236}">
                <a16:creationId xmlns:a16="http://schemas.microsoft.com/office/drawing/2014/main" id="{81AABFD3-A281-7DD5-FC38-FA48D62470DD}"/>
              </a:ext>
            </a:extLst>
          </p:cNvPr>
          <p:cNvSpPr txBox="1"/>
          <p:nvPr/>
        </p:nvSpPr>
        <p:spPr>
          <a:xfrm>
            <a:off x="6099786" y="3581233"/>
            <a:ext cx="2086280" cy="369332"/>
          </a:xfrm>
          <a:prstGeom prst="rect">
            <a:avLst/>
          </a:prstGeom>
          <a:noFill/>
        </p:spPr>
        <p:txBody>
          <a:bodyPr wrap="square">
            <a:spAutoFit/>
          </a:bodyPr>
          <a:lstStyle/>
          <a:p>
            <a:r>
              <a:rPr lang="en-US" dirty="0">
                <a:solidFill>
                  <a:srgbClr val="050808"/>
                </a:solidFill>
              </a:rPr>
              <a:t>c1</a:t>
            </a:r>
          </a:p>
        </p:txBody>
      </p:sp>
      <p:sp>
        <p:nvSpPr>
          <p:cNvPr id="32" name="TextBox 31">
            <a:extLst>
              <a:ext uri="{FF2B5EF4-FFF2-40B4-BE49-F238E27FC236}">
                <a16:creationId xmlns:a16="http://schemas.microsoft.com/office/drawing/2014/main" id="{0EAD0163-8B81-8D15-8ED0-F2A9D4406312}"/>
              </a:ext>
            </a:extLst>
          </p:cNvPr>
          <p:cNvSpPr txBox="1"/>
          <p:nvPr/>
        </p:nvSpPr>
        <p:spPr>
          <a:xfrm>
            <a:off x="-228600" y="4833257"/>
            <a:ext cx="184731" cy="369332"/>
          </a:xfrm>
          <a:prstGeom prst="rect">
            <a:avLst/>
          </a:prstGeom>
          <a:noFill/>
        </p:spPr>
        <p:txBody>
          <a:bodyPr wrap="none" rtlCol="0">
            <a:spAutoFit/>
          </a:bodyPr>
          <a:lstStyle/>
          <a:p>
            <a:endParaRPr lang="en-US" dirty="0">
              <a:solidFill>
                <a:srgbClr val="050808"/>
              </a:solidFill>
            </a:endParaRPr>
          </a:p>
        </p:txBody>
      </p:sp>
      <p:pic>
        <p:nvPicPr>
          <p:cNvPr id="45" name="Picture 44">
            <a:extLst>
              <a:ext uri="{FF2B5EF4-FFF2-40B4-BE49-F238E27FC236}">
                <a16:creationId xmlns:a16="http://schemas.microsoft.com/office/drawing/2014/main" id="{0BC32BDD-3E1D-2130-6CB5-85E7836EEC3D}"/>
              </a:ext>
            </a:extLst>
          </p:cNvPr>
          <p:cNvPicPr>
            <a:picLocks noChangeAspect="1"/>
          </p:cNvPicPr>
          <p:nvPr/>
        </p:nvPicPr>
        <p:blipFill>
          <a:blip r:embed="rId3"/>
          <a:stretch>
            <a:fillRect/>
          </a:stretch>
        </p:blipFill>
        <p:spPr>
          <a:xfrm>
            <a:off x="946100" y="3084895"/>
            <a:ext cx="3830184" cy="2758060"/>
          </a:xfrm>
          <a:prstGeom prst="rect">
            <a:avLst/>
          </a:prstGeom>
        </p:spPr>
      </p:pic>
    </p:spTree>
    <p:extLst>
      <p:ext uri="{BB962C8B-B14F-4D97-AF65-F5344CB8AC3E}">
        <p14:creationId xmlns:p14="http://schemas.microsoft.com/office/powerpoint/2010/main" val="3741903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3A36-B4BA-EA4C-FAA1-67DC60300172}"/>
              </a:ext>
            </a:extLst>
          </p:cNvPr>
          <p:cNvSpPr>
            <a:spLocks noGrp="1"/>
          </p:cNvSpPr>
          <p:nvPr>
            <p:ph type="title"/>
          </p:nvPr>
        </p:nvSpPr>
        <p:spPr>
          <a:xfrm>
            <a:off x="353726" y="260648"/>
            <a:ext cx="8375650" cy="423862"/>
          </a:xfrm>
        </p:spPr>
        <p:txBody>
          <a:bodyPr/>
          <a:lstStyle/>
          <a:p>
            <a:r>
              <a:rPr lang="en-US" dirty="0"/>
              <a:t>Three encoding models we’ll test</a:t>
            </a:r>
          </a:p>
        </p:txBody>
      </p:sp>
      <p:sp>
        <p:nvSpPr>
          <p:cNvPr id="3" name="Content Placeholder 2">
            <a:extLst>
              <a:ext uri="{FF2B5EF4-FFF2-40B4-BE49-F238E27FC236}">
                <a16:creationId xmlns:a16="http://schemas.microsoft.com/office/drawing/2014/main" id="{1EBA6170-CADA-4996-FD26-2BBD5701E5C5}"/>
              </a:ext>
            </a:extLst>
          </p:cNvPr>
          <p:cNvSpPr>
            <a:spLocks noGrp="1"/>
          </p:cNvSpPr>
          <p:nvPr>
            <p:ph idx="1"/>
          </p:nvPr>
        </p:nvSpPr>
        <p:spPr>
          <a:xfrm>
            <a:off x="343457" y="1395412"/>
            <a:ext cx="8374063" cy="4067175"/>
          </a:xfrm>
        </p:spPr>
        <p:txBody>
          <a:bodyPr/>
          <a:lstStyle/>
          <a:p>
            <a:pPr>
              <a:spcAft>
                <a:spcPts val="0"/>
              </a:spcAft>
            </a:pPr>
            <a:r>
              <a:rPr lang="en-US" b="1" dirty="0"/>
              <a:t>Model 0 – Emotion-only</a:t>
            </a:r>
            <a:endParaRPr lang="en-US" dirty="0"/>
          </a:p>
          <a:p>
            <a:pPr lvl="1">
              <a:spcAft>
                <a:spcPts val="0"/>
              </a:spcAft>
            </a:pPr>
            <a:r>
              <a:rPr lang="en-US" dirty="0"/>
              <a:t>Encoding: Sᵢ depends only on whether the item is negative or neutral</a:t>
            </a:r>
          </a:p>
          <a:p>
            <a:pPr lvl="1">
              <a:spcAft>
                <a:spcPts val="1200"/>
              </a:spcAft>
            </a:pPr>
            <a:r>
              <a:rPr lang="en-US" dirty="0"/>
              <a:t>LPP is ignored.</a:t>
            </a:r>
          </a:p>
          <a:p>
            <a:pPr>
              <a:spcAft>
                <a:spcPts val="0"/>
              </a:spcAft>
            </a:pPr>
            <a:r>
              <a:rPr lang="en-US" b="1" dirty="0"/>
              <a:t>Model 1 – LPP only</a:t>
            </a:r>
            <a:endParaRPr lang="en-US" dirty="0"/>
          </a:p>
          <a:p>
            <a:pPr lvl="1">
              <a:spcAft>
                <a:spcPts val="0"/>
              </a:spcAft>
            </a:pPr>
            <a:r>
              <a:rPr lang="en-US" dirty="0"/>
              <a:t>Encoding: Sᵢ depends only on the item’s Early LPP amplitude</a:t>
            </a:r>
          </a:p>
          <a:p>
            <a:pPr lvl="1">
              <a:spcAft>
                <a:spcPts val="1200"/>
              </a:spcAft>
            </a:pPr>
            <a:r>
              <a:rPr lang="en-US" dirty="0"/>
              <a:t>Emotion labels are ignored</a:t>
            </a:r>
          </a:p>
          <a:p>
            <a:pPr>
              <a:spcAft>
                <a:spcPts val="0"/>
              </a:spcAft>
            </a:pPr>
            <a:r>
              <a:rPr lang="en-US" b="1" dirty="0"/>
              <a:t>Model 2 – EEG interaction</a:t>
            </a:r>
            <a:endParaRPr lang="en-US" dirty="0"/>
          </a:p>
          <a:p>
            <a:pPr lvl="1">
              <a:spcAft>
                <a:spcPts val="0"/>
              </a:spcAft>
            </a:pPr>
            <a:r>
              <a:rPr lang="en-US" dirty="0"/>
              <a:t>Encoding: Sᵢ depends only on the item’s Early LPP amplitude</a:t>
            </a:r>
          </a:p>
          <a:p>
            <a:pPr lvl="1">
              <a:spcAft>
                <a:spcPts val="1200"/>
              </a:spcAft>
            </a:pPr>
            <a:r>
              <a:rPr lang="en-US" dirty="0"/>
              <a:t>Model sees a binary emotion factor </a:t>
            </a:r>
            <a:r>
              <a:rPr lang="en-US" i="1" dirty="0"/>
              <a:t>and</a:t>
            </a:r>
            <a:r>
              <a:rPr lang="en-US" dirty="0"/>
              <a:t> graded neural signal</a:t>
            </a:r>
          </a:p>
          <a:p>
            <a:pPr marL="271463" lvl="1" indent="0">
              <a:spcAft>
                <a:spcPts val="1200"/>
              </a:spcAft>
              <a:buNone/>
            </a:pPr>
            <a:endParaRPr lang="en-US" dirty="0"/>
          </a:p>
          <a:p>
            <a:pPr marL="271463" lvl="1" indent="0">
              <a:spcAft>
                <a:spcPts val="1200"/>
              </a:spcAft>
              <a:buNone/>
            </a:pPr>
            <a:r>
              <a:rPr lang="en-US" dirty="0"/>
              <a:t>Retrieval dynamics (context &amp; competition) are identical in all three models; only the encoding rule changes.</a:t>
            </a:r>
          </a:p>
        </p:txBody>
      </p:sp>
    </p:spTree>
    <p:extLst>
      <p:ext uri="{BB962C8B-B14F-4D97-AF65-F5344CB8AC3E}">
        <p14:creationId xmlns:p14="http://schemas.microsoft.com/office/powerpoint/2010/main" val="1223163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FE729-354A-F490-7806-3F9A90D45325}"/>
              </a:ext>
            </a:extLst>
          </p:cNvPr>
          <p:cNvSpPr>
            <a:spLocks noGrp="1"/>
          </p:cNvSpPr>
          <p:nvPr>
            <p:ph type="title"/>
          </p:nvPr>
        </p:nvSpPr>
        <p:spPr/>
        <p:txBody>
          <a:bodyPr/>
          <a:lstStyle/>
          <a:p>
            <a:r>
              <a:rPr lang="en-US" dirty="0"/>
              <a:t>From likelihood to AIC: scoring models</a:t>
            </a:r>
          </a:p>
        </p:txBody>
      </p:sp>
      <p:sp>
        <p:nvSpPr>
          <p:cNvPr id="3" name="Content Placeholder 2">
            <a:extLst>
              <a:ext uri="{FF2B5EF4-FFF2-40B4-BE49-F238E27FC236}">
                <a16:creationId xmlns:a16="http://schemas.microsoft.com/office/drawing/2014/main" id="{A8AB0891-B856-1C5F-EE0A-63EE524BC82C}"/>
              </a:ext>
            </a:extLst>
          </p:cNvPr>
          <p:cNvSpPr>
            <a:spLocks noGrp="1"/>
          </p:cNvSpPr>
          <p:nvPr>
            <p:ph idx="1"/>
          </p:nvPr>
        </p:nvSpPr>
        <p:spPr/>
        <p:txBody>
          <a:bodyPr/>
          <a:lstStyle/>
          <a:p>
            <a:r>
              <a:rPr lang="en-US" dirty="0" err="1"/>
              <a:t>logL</a:t>
            </a:r>
            <a:r>
              <a:rPr lang="en-US" baseline="-25000" dirty="0" err="1"/>
              <a:t>s,m</a:t>
            </a:r>
            <a:r>
              <a:rPr lang="en-US" dirty="0"/>
              <a:t>: set-based log likelihood for subject </a:t>
            </a:r>
            <a:r>
              <a:rPr lang="en-US" i="1" dirty="0"/>
              <a:t>s </a:t>
            </a:r>
            <a:r>
              <a:rPr lang="en-US" dirty="0"/>
              <a:t>under model </a:t>
            </a:r>
            <a:r>
              <a:rPr lang="en-US" i="1" dirty="0"/>
              <a:t>m</a:t>
            </a:r>
          </a:p>
          <a:p>
            <a:r>
              <a:rPr lang="en-US" dirty="0"/>
              <a:t>k</a:t>
            </a:r>
            <a:r>
              <a:rPr lang="en-US" baseline="-25000" dirty="0"/>
              <a:t>m</a:t>
            </a:r>
            <a:r>
              <a:rPr lang="en-US" dirty="0"/>
              <a:t>: number of free parameters in model </a:t>
            </a:r>
            <a:r>
              <a:rPr lang="en-US" i="1" dirty="0"/>
              <a:t>m</a:t>
            </a:r>
            <a:endParaRPr lang="en-US" dirty="0"/>
          </a:p>
          <a:p>
            <a:r>
              <a:rPr lang="en-US" dirty="0" err="1"/>
              <a:t>AIC</a:t>
            </a:r>
            <a:r>
              <a:rPr lang="en-US" baseline="-25000" dirty="0" err="1"/>
              <a:t>s,m</a:t>
            </a:r>
            <a:r>
              <a:rPr lang="en-US" dirty="0"/>
              <a:t> = 2 * k</a:t>
            </a:r>
            <a:r>
              <a:rPr lang="en-US" baseline="-25000" dirty="0"/>
              <a:t>m</a:t>
            </a:r>
            <a:r>
              <a:rPr lang="en-US" dirty="0"/>
              <a:t> - 2 * </a:t>
            </a:r>
            <a:r>
              <a:rPr lang="en-US" dirty="0" err="1"/>
              <a:t>logL</a:t>
            </a:r>
            <a:r>
              <a:rPr lang="en-US" baseline="-25000" dirty="0" err="1"/>
              <a:t>s,m</a:t>
            </a:r>
            <a:endParaRPr lang="en-US" baseline="-25000" dirty="0"/>
          </a:p>
          <a:p>
            <a:r>
              <a:rPr lang="en-US" dirty="0"/>
              <a:t>Lower AIC ≈ better expected predictive performance for that subject (fit - complexity penalty).</a:t>
            </a:r>
          </a:p>
          <a:p>
            <a:endParaRPr lang="en-US" dirty="0"/>
          </a:p>
        </p:txBody>
      </p:sp>
    </p:spTree>
    <p:extLst>
      <p:ext uri="{BB962C8B-B14F-4D97-AF65-F5344CB8AC3E}">
        <p14:creationId xmlns:p14="http://schemas.microsoft.com/office/powerpoint/2010/main" val="3073377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755F-309C-592A-6317-A3E277609616}"/>
              </a:ext>
            </a:extLst>
          </p:cNvPr>
          <p:cNvSpPr>
            <a:spLocks noGrp="1"/>
          </p:cNvSpPr>
          <p:nvPr>
            <p:ph type="title"/>
          </p:nvPr>
        </p:nvSpPr>
        <p:spPr>
          <a:xfrm>
            <a:off x="381167" y="332656"/>
            <a:ext cx="8375650" cy="423862"/>
          </a:xfrm>
        </p:spPr>
        <p:txBody>
          <a:bodyPr/>
          <a:lstStyle/>
          <a:p>
            <a:r>
              <a:rPr lang="en-US" dirty="0" err="1"/>
              <a:t>Emotion+LPP</a:t>
            </a:r>
            <a:r>
              <a:rPr lang="en-US" dirty="0"/>
              <a:t> clearly best; LPP-only clearly worst</a:t>
            </a:r>
          </a:p>
        </p:txBody>
      </p:sp>
      <p:sp>
        <p:nvSpPr>
          <p:cNvPr id="3" name="Content Placeholder 2">
            <a:extLst>
              <a:ext uri="{FF2B5EF4-FFF2-40B4-BE49-F238E27FC236}">
                <a16:creationId xmlns:a16="http://schemas.microsoft.com/office/drawing/2014/main" id="{B42A9853-A4C2-E090-C97F-8D56594AE56A}"/>
              </a:ext>
            </a:extLst>
          </p:cNvPr>
          <p:cNvSpPr>
            <a:spLocks noGrp="1"/>
          </p:cNvSpPr>
          <p:nvPr>
            <p:ph idx="1"/>
          </p:nvPr>
        </p:nvSpPr>
        <p:spPr>
          <a:xfrm>
            <a:off x="382754" y="1628800"/>
            <a:ext cx="8374063" cy="4067175"/>
          </a:xfrm>
        </p:spPr>
        <p:txBody>
          <a:bodyPr/>
          <a:lstStyle/>
          <a:p>
            <a:r>
              <a:rPr lang="en-US" sz="2400" dirty="0"/>
              <a:t>Comparison:	Mean </a:t>
            </a:r>
            <a:r>
              <a:rPr lang="el-GR" sz="2400" dirty="0"/>
              <a:t>Δ</a:t>
            </a:r>
            <a:r>
              <a:rPr lang="en-US" sz="2400" dirty="0"/>
              <a:t>AIC [95% CI]</a:t>
            </a:r>
          </a:p>
          <a:p>
            <a:r>
              <a:rPr lang="en-US" sz="2400" dirty="0" err="1"/>
              <a:t>Emotion+LPP</a:t>
            </a:r>
            <a:r>
              <a:rPr lang="en-US" sz="2400" dirty="0"/>
              <a:t> vs Emotion-only: −3.98 [−5.71, −2.25]</a:t>
            </a:r>
          </a:p>
          <a:p>
            <a:r>
              <a:rPr lang="en-US" sz="2400" dirty="0" err="1"/>
              <a:t>Emotion+LPP</a:t>
            </a:r>
            <a:r>
              <a:rPr lang="en-US" sz="2400" dirty="0"/>
              <a:t> vs LPP-only: −6.69 [−9.31, −4.07]</a:t>
            </a:r>
          </a:p>
          <a:p>
            <a:r>
              <a:rPr lang="en-US" sz="2400" dirty="0"/>
              <a:t>Emotion-only vs LPP-only: −2.71 [−5.55, 0.13]</a:t>
            </a:r>
          </a:p>
          <a:p>
            <a:pPr marL="0" indent="0">
              <a:buNone/>
            </a:pPr>
            <a:endParaRPr lang="en-US" sz="2400" dirty="0"/>
          </a:p>
          <a:p>
            <a:pPr marL="0" indent="0">
              <a:buNone/>
            </a:pPr>
            <a:r>
              <a:rPr lang="en-US" sz="2400" dirty="0"/>
              <a:t>When bootstrap interval is entirely below zero and comfortably beyond ±2 band, that’s our cue that the left model really is better for most subjects, not just on average.</a:t>
            </a:r>
          </a:p>
        </p:txBody>
      </p:sp>
    </p:spTree>
    <p:extLst>
      <p:ext uri="{BB962C8B-B14F-4D97-AF65-F5344CB8AC3E}">
        <p14:creationId xmlns:p14="http://schemas.microsoft.com/office/powerpoint/2010/main" val="1835109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3E63-3BD8-C22B-14C0-8F3A8D66E8E0}"/>
              </a:ext>
            </a:extLst>
          </p:cNvPr>
          <p:cNvSpPr>
            <a:spLocks noGrp="1"/>
          </p:cNvSpPr>
          <p:nvPr>
            <p:ph type="title"/>
          </p:nvPr>
        </p:nvSpPr>
        <p:spPr>
          <a:xfrm>
            <a:off x="382588" y="260648"/>
            <a:ext cx="8375650" cy="423862"/>
          </a:xfrm>
        </p:spPr>
        <p:txBody>
          <a:bodyPr/>
          <a:lstStyle/>
          <a:p>
            <a:r>
              <a:rPr lang="en-US" dirty="0"/>
              <a:t>Interpretation by Simulation: </a:t>
            </a:r>
            <a:br>
              <a:rPr lang="en-US" dirty="0"/>
            </a:br>
            <a:r>
              <a:rPr lang="en-US" dirty="0"/>
              <a:t>Emotion-Only Model Cannot Capture LPP Patterns</a:t>
            </a:r>
          </a:p>
        </p:txBody>
      </p:sp>
      <p:pic>
        <p:nvPicPr>
          <p:cNvPr id="4" name="Picture 3">
            <a:extLst>
              <a:ext uri="{FF2B5EF4-FFF2-40B4-BE49-F238E27FC236}">
                <a16:creationId xmlns:a16="http://schemas.microsoft.com/office/drawing/2014/main" id="{B91205B3-76C8-9D3C-3276-EC69DEFB1F0D}"/>
              </a:ext>
            </a:extLst>
          </p:cNvPr>
          <p:cNvPicPr>
            <a:picLocks noChangeAspect="1"/>
          </p:cNvPicPr>
          <p:nvPr/>
        </p:nvPicPr>
        <p:blipFill>
          <a:blip r:embed="rId3"/>
          <a:stretch>
            <a:fillRect/>
          </a:stretch>
        </p:blipFill>
        <p:spPr>
          <a:xfrm>
            <a:off x="2293641" y="1606773"/>
            <a:ext cx="3011388" cy="2328393"/>
          </a:xfrm>
          <a:prstGeom prst="rect">
            <a:avLst/>
          </a:prstGeom>
        </p:spPr>
      </p:pic>
      <p:pic>
        <p:nvPicPr>
          <p:cNvPr id="5" name="Picture 4">
            <a:extLst>
              <a:ext uri="{FF2B5EF4-FFF2-40B4-BE49-F238E27FC236}">
                <a16:creationId xmlns:a16="http://schemas.microsoft.com/office/drawing/2014/main" id="{5FF939B0-6009-76B0-2A4B-3F958E3F9F88}"/>
              </a:ext>
            </a:extLst>
          </p:cNvPr>
          <p:cNvPicPr>
            <a:picLocks noChangeAspect="1"/>
          </p:cNvPicPr>
          <p:nvPr/>
        </p:nvPicPr>
        <p:blipFill>
          <a:blip r:embed="rId4"/>
          <a:stretch>
            <a:fillRect/>
          </a:stretch>
        </p:blipFill>
        <p:spPr>
          <a:xfrm>
            <a:off x="2293641" y="3935166"/>
            <a:ext cx="3011389" cy="2328393"/>
          </a:xfrm>
          <a:prstGeom prst="rect">
            <a:avLst/>
          </a:prstGeom>
        </p:spPr>
      </p:pic>
      <p:pic>
        <p:nvPicPr>
          <p:cNvPr id="6" name="Picture 5">
            <a:extLst>
              <a:ext uri="{FF2B5EF4-FFF2-40B4-BE49-F238E27FC236}">
                <a16:creationId xmlns:a16="http://schemas.microsoft.com/office/drawing/2014/main" id="{3D8D872D-2649-962B-747D-80EF1C2E75DD}"/>
              </a:ext>
            </a:extLst>
          </p:cNvPr>
          <p:cNvPicPr>
            <a:picLocks noChangeAspect="1"/>
          </p:cNvPicPr>
          <p:nvPr/>
        </p:nvPicPr>
        <p:blipFill>
          <a:blip r:embed="rId5"/>
          <a:stretch>
            <a:fillRect/>
          </a:stretch>
        </p:blipFill>
        <p:spPr>
          <a:xfrm>
            <a:off x="5652120" y="1515521"/>
            <a:ext cx="3397099" cy="2510899"/>
          </a:xfrm>
          <a:prstGeom prst="rect">
            <a:avLst/>
          </a:prstGeom>
        </p:spPr>
      </p:pic>
      <p:pic>
        <p:nvPicPr>
          <p:cNvPr id="7" name="Picture 6">
            <a:extLst>
              <a:ext uri="{FF2B5EF4-FFF2-40B4-BE49-F238E27FC236}">
                <a16:creationId xmlns:a16="http://schemas.microsoft.com/office/drawing/2014/main" id="{CABEBA8B-7717-2833-852D-1A6D9DF1D9BD}"/>
              </a:ext>
            </a:extLst>
          </p:cNvPr>
          <p:cNvPicPr>
            <a:picLocks noChangeAspect="1"/>
          </p:cNvPicPr>
          <p:nvPr/>
        </p:nvPicPr>
        <p:blipFill>
          <a:blip r:embed="rId6"/>
          <a:stretch>
            <a:fillRect/>
          </a:stretch>
        </p:blipFill>
        <p:spPr>
          <a:xfrm>
            <a:off x="5652120" y="4113514"/>
            <a:ext cx="3397099" cy="2510899"/>
          </a:xfrm>
          <a:prstGeom prst="rect">
            <a:avLst/>
          </a:prstGeom>
        </p:spPr>
      </p:pic>
      <p:sp>
        <p:nvSpPr>
          <p:cNvPr id="8" name="Content Placeholder 2">
            <a:extLst>
              <a:ext uri="{FF2B5EF4-FFF2-40B4-BE49-F238E27FC236}">
                <a16:creationId xmlns:a16="http://schemas.microsoft.com/office/drawing/2014/main" id="{6637989F-CF70-C9AE-2F73-F4D365C37634}"/>
              </a:ext>
            </a:extLst>
          </p:cNvPr>
          <p:cNvSpPr>
            <a:spLocks noGrp="1"/>
          </p:cNvSpPr>
          <p:nvPr>
            <p:ph idx="1"/>
          </p:nvPr>
        </p:nvSpPr>
        <p:spPr>
          <a:xfrm>
            <a:off x="80525" y="1901578"/>
            <a:ext cx="2198859" cy="4067175"/>
          </a:xfrm>
        </p:spPr>
        <p:txBody>
          <a:bodyPr/>
          <a:lstStyle/>
          <a:p>
            <a:r>
              <a:rPr lang="en-US" sz="1600" dirty="0"/>
              <a:t>Top: Data</a:t>
            </a:r>
          </a:p>
          <a:p>
            <a:r>
              <a:rPr lang="en-US" sz="1600" dirty="0"/>
              <a:t>Bottom: Simulations</a:t>
            </a:r>
          </a:p>
          <a:p>
            <a:r>
              <a:rPr lang="en-US" sz="1600" dirty="0"/>
              <a:t>Emotion-only model captures much of the emotional enhancement of memory, but cannot capture LPP effects</a:t>
            </a:r>
          </a:p>
          <a:p>
            <a:r>
              <a:rPr lang="en-US" sz="1600" dirty="0"/>
              <a:t>You can’t explain LPP-recall relationship with emotion and model dynamics alone!</a:t>
            </a:r>
          </a:p>
        </p:txBody>
      </p:sp>
    </p:spTree>
    <p:extLst>
      <p:ext uri="{BB962C8B-B14F-4D97-AF65-F5344CB8AC3E}">
        <p14:creationId xmlns:p14="http://schemas.microsoft.com/office/powerpoint/2010/main" val="1704872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C746-1A11-07EA-1CD9-D8D77BCCE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542C1-B78A-A4E4-CD8F-AF23191FB387}"/>
              </a:ext>
            </a:extLst>
          </p:cNvPr>
          <p:cNvSpPr>
            <a:spLocks noGrp="1"/>
          </p:cNvSpPr>
          <p:nvPr>
            <p:ph type="title"/>
          </p:nvPr>
        </p:nvSpPr>
        <p:spPr>
          <a:xfrm>
            <a:off x="382588" y="260648"/>
            <a:ext cx="8375650" cy="423862"/>
          </a:xfrm>
        </p:spPr>
        <p:txBody>
          <a:bodyPr/>
          <a:lstStyle/>
          <a:p>
            <a:r>
              <a:rPr lang="en-US" dirty="0"/>
              <a:t>Interpretation by Simulation: </a:t>
            </a:r>
            <a:br>
              <a:rPr lang="en-US" dirty="0"/>
            </a:br>
            <a:r>
              <a:rPr lang="en-US" dirty="0"/>
              <a:t>LPP-Only Model Cannot Stand-In For Emotion</a:t>
            </a:r>
          </a:p>
        </p:txBody>
      </p:sp>
      <p:pic>
        <p:nvPicPr>
          <p:cNvPr id="4" name="Picture 3">
            <a:extLst>
              <a:ext uri="{FF2B5EF4-FFF2-40B4-BE49-F238E27FC236}">
                <a16:creationId xmlns:a16="http://schemas.microsoft.com/office/drawing/2014/main" id="{87FBF724-BEF3-C912-F844-99212097BFE6}"/>
              </a:ext>
            </a:extLst>
          </p:cNvPr>
          <p:cNvPicPr>
            <a:picLocks noChangeAspect="1"/>
          </p:cNvPicPr>
          <p:nvPr/>
        </p:nvPicPr>
        <p:blipFill>
          <a:blip r:embed="rId3"/>
          <a:stretch>
            <a:fillRect/>
          </a:stretch>
        </p:blipFill>
        <p:spPr>
          <a:xfrm>
            <a:off x="2293641" y="1606773"/>
            <a:ext cx="3011388" cy="2328393"/>
          </a:xfrm>
          <a:prstGeom prst="rect">
            <a:avLst/>
          </a:prstGeom>
        </p:spPr>
      </p:pic>
      <p:pic>
        <p:nvPicPr>
          <p:cNvPr id="6" name="Picture 5">
            <a:extLst>
              <a:ext uri="{FF2B5EF4-FFF2-40B4-BE49-F238E27FC236}">
                <a16:creationId xmlns:a16="http://schemas.microsoft.com/office/drawing/2014/main" id="{24C33DAC-1EDD-8014-12B6-BF51A66D99CB}"/>
              </a:ext>
            </a:extLst>
          </p:cNvPr>
          <p:cNvPicPr>
            <a:picLocks noChangeAspect="1"/>
          </p:cNvPicPr>
          <p:nvPr/>
        </p:nvPicPr>
        <p:blipFill>
          <a:blip r:embed="rId4"/>
          <a:stretch>
            <a:fillRect/>
          </a:stretch>
        </p:blipFill>
        <p:spPr>
          <a:xfrm>
            <a:off x="5652120" y="1515521"/>
            <a:ext cx="3397099" cy="2510899"/>
          </a:xfrm>
          <a:prstGeom prst="rect">
            <a:avLst/>
          </a:prstGeom>
        </p:spPr>
      </p:pic>
      <p:sp>
        <p:nvSpPr>
          <p:cNvPr id="8" name="Content Placeholder 2">
            <a:extLst>
              <a:ext uri="{FF2B5EF4-FFF2-40B4-BE49-F238E27FC236}">
                <a16:creationId xmlns:a16="http://schemas.microsoft.com/office/drawing/2014/main" id="{28392661-0B0B-3DD7-A164-87BE98F48D9C}"/>
              </a:ext>
            </a:extLst>
          </p:cNvPr>
          <p:cNvSpPr>
            <a:spLocks noGrp="1"/>
          </p:cNvSpPr>
          <p:nvPr>
            <p:ph idx="1"/>
          </p:nvPr>
        </p:nvSpPr>
        <p:spPr>
          <a:xfrm>
            <a:off x="80525" y="1901578"/>
            <a:ext cx="2198859" cy="4067175"/>
          </a:xfrm>
        </p:spPr>
        <p:txBody>
          <a:bodyPr/>
          <a:lstStyle/>
          <a:p>
            <a:r>
              <a:rPr lang="en-US" sz="1600" dirty="0"/>
              <a:t>Top: Data</a:t>
            </a:r>
          </a:p>
          <a:p>
            <a:r>
              <a:rPr lang="en-US" sz="1600" dirty="0"/>
              <a:t>Bottom: Simulations</a:t>
            </a:r>
          </a:p>
          <a:p>
            <a:r>
              <a:rPr lang="en-US" sz="1600" dirty="0"/>
              <a:t>LPP-only model captures none of the emotional enhancement of memory, and only some LPP patterns</a:t>
            </a:r>
          </a:p>
          <a:p>
            <a:r>
              <a:rPr lang="en-US" sz="1600" dirty="0"/>
              <a:t>Can’t give extra subsequent recall boost to emotional items!</a:t>
            </a:r>
          </a:p>
        </p:txBody>
      </p:sp>
      <p:pic>
        <p:nvPicPr>
          <p:cNvPr id="3" name="Picture 2">
            <a:extLst>
              <a:ext uri="{FF2B5EF4-FFF2-40B4-BE49-F238E27FC236}">
                <a16:creationId xmlns:a16="http://schemas.microsoft.com/office/drawing/2014/main" id="{551115D5-AC60-D6B1-3C08-6B3533043DF2}"/>
              </a:ext>
            </a:extLst>
          </p:cNvPr>
          <p:cNvPicPr>
            <a:picLocks noChangeAspect="1"/>
          </p:cNvPicPr>
          <p:nvPr/>
        </p:nvPicPr>
        <p:blipFill>
          <a:blip r:embed="rId5"/>
          <a:stretch>
            <a:fillRect/>
          </a:stretch>
        </p:blipFill>
        <p:spPr>
          <a:xfrm>
            <a:off x="2293641" y="4026420"/>
            <a:ext cx="3011388" cy="2328393"/>
          </a:xfrm>
          <a:prstGeom prst="rect">
            <a:avLst/>
          </a:prstGeom>
        </p:spPr>
      </p:pic>
      <p:pic>
        <p:nvPicPr>
          <p:cNvPr id="9" name="Picture 8">
            <a:extLst>
              <a:ext uri="{FF2B5EF4-FFF2-40B4-BE49-F238E27FC236}">
                <a16:creationId xmlns:a16="http://schemas.microsoft.com/office/drawing/2014/main" id="{822FEBD2-AC03-DCB2-F3FD-E90165E098B5}"/>
              </a:ext>
            </a:extLst>
          </p:cNvPr>
          <p:cNvPicPr>
            <a:picLocks noChangeAspect="1"/>
          </p:cNvPicPr>
          <p:nvPr/>
        </p:nvPicPr>
        <p:blipFill>
          <a:blip r:embed="rId6"/>
          <a:stretch>
            <a:fillRect/>
          </a:stretch>
        </p:blipFill>
        <p:spPr>
          <a:xfrm>
            <a:off x="5652119" y="4026420"/>
            <a:ext cx="3397099" cy="2510899"/>
          </a:xfrm>
          <a:prstGeom prst="rect">
            <a:avLst/>
          </a:prstGeom>
        </p:spPr>
      </p:pic>
    </p:spTree>
    <p:extLst>
      <p:ext uri="{BB962C8B-B14F-4D97-AF65-F5344CB8AC3E}">
        <p14:creationId xmlns:p14="http://schemas.microsoft.com/office/powerpoint/2010/main" val="1560272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3B72-BBE7-B831-6A63-77B4B64C7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B9EDD-5F4C-22F0-24F0-2B5762BE9FE2}"/>
              </a:ext>
            </a:extLst>
          </p:cNvPr>
          <p:cNvSpPr>
            <a:spLocks noGrp="1"/>
          </p:cNvSpPr>
          <p:nvPr>
            <p:ph type="title"/>
          </p:nvPr>
        </p:nvSpPr>
        <p:spPr>
          <a:xfrm>
            <a:off x="382588" y="260648"/>
            <a:ext cx="8375650" cy="423862"/>
          </a:xfrm>
        </p:spPr>
        <p:txBody>
          <a:bodyPr/>
          <a:lstStyle/>
          <a:p>
            <a:r>
              <a:rPr lang="en-US" dirty="0"/>
              <a:t>Interpretation by Simulation: </a:t>
            </a:r>
            <a:br>
              <a:rPr lang="en-US" dirty="0"/>
            </a:br>
            <a:r>
              <a:rPr lang="en-US" dirty="0" err="1"/>
              <a:t>Emotion+LPP</a:t>
            </a:r>
            <a:r>
              <a:rPr lang="en-US" dirty="0"/>
              <a:t> Model Helps Capture Both!</a:t>
            </a:r>
          </a:p>
        </p:txBody>
      </p:sp>
      <p:pic>
        <p:nvPicPr>
          <p:cNvPr id="4" name="Picture 3">
            <a:extLst>
              <a:ext uri="{FF2B5EF4-FFF2-40B4-BE49-F238E27FC236}">
                <a16:creationId xmlns:a16="http://schemas.microsoft.com/office/drawing/2014/main" id="{6FBC5C87-9D1D-E021-D677-6827FB0F977A}"/>
              </a:ext>
            </a:extLst>
          </p:cNvPr>
          <p:cNvPicPr>
            <a:picLocks noChangeAspect="1"/>
          </p:cNvPicPr>
          <p:nvPr/>
        </p:nvPicPr>
        <p:blipFill>
          <a:blip r:embed="rId3"/>
          <a:stretch>
            <a:fillRect/>
          </a:stretch>
        </p:blipFill>
        <p:spPr>
          <a:xfrm>
            <a:off x="2293641" y="1606773"/>
            <a:ext cx="3011388" cy="2328393"/>
          </a:xfrm>
          <a:prstGeom prst="rect">
            <a:avLst/>
          </a:prstGeom>
        </p:spPr>
      </p:pic>
      <p:pic>
        <p:nvPicPr>
          <p:cNvPr id="6" name="Picture 5">
            <a:extLst>
              <a:ext uri="{FF2B5EF4-FFF2-40B4-BE49-F238E27FC236}">
                <a16:creationId xmlns:a16="http://schemas.microsoft.com/office/drawing/2014/main" id="{44A9F70A-5CF5-CD42-BF3E-398A893863B5}"/>
              </a:ext>
            </a:extLst>
          </p:cNvPr>
          <p:cNvPicPr>
            <a:picLocks noChangeAspect="1"/>
          </p:cNvPicPr>
          <p:nvPr/>
        </p:nvPicPr>
        <p:blipFill>
          <a:blip r:embed="rId4"/>
          <a:stretch>
            <a:fillRect/>
          </a:stretch>
        </p:blipFill>
        <p:spPr>
          <a:xfrm>
            <a:off x="5652120" y="1515521"/>
            <a:ext cx="3397099" cy="2510899"/>
          </a:xfrm>
          <a:prstGeom prst="rect">
            <a:avLst/>
          </a:prstGeom>
        </p:spPr>
      </p:pic>
      <p:sp>
        <p:nvSpPr>
          <p:cNvPr id="8" name="Content Placeholder 2">
            <a:extLst>
              <a:ext uri="{FF2B5EF4-FFF2-40B4-BE49-F238E27FC236}">
                <a16:creationId xmlns:a16="http://schemas.microsoft.com/office/drawing/2014/main" id="{8299FE1D-23D5-D634-3EAD-D0205496E518}"/>
              </a:ext>
            </a:extLst>
          </p:cNvPr>
          <p:cNvSpPr>
            <a:spLocks noGrp="1"/>
          </p:cNvSpPr>
          <p:nvPr>
            <p:ph idx="1"/>
          </p:nvPr>
        </p:nvSpPr>
        <p:spPr>
          <a:xfrm>
            <a:off x="80525" y="1901578"/>
            <a:ext cx="2198859" cy="4067175"/>
          </a:xfrm>
        </p:spPr>
        <p:txBody>
          <a:bodyPr/>
          <a:lstStyle/>
          <a:p>
            <a:r>
              <a:rPr lang="en-US" sz="1600" dirty="0"/>
              <a:t>Top: Data</a:t>
            </a:r>
          </a:p>
          <a:p>
            <a:r>
              <a:rPr lang="en-US" sz="1600" dirty="0"/>
              <a:t>Bottom: Simulations</a:t>
            </a:r>
          </a:p>
          <a:p>
            <a:r>
              <a:rPr lang="en-US" sz="1600" dirty="0" err="1"/>
              <a:t>Emotion+LPP</a:t>
            </a:r>
            <a:r>
              <a:rPr lang="en-US" sz="1600" dirty="0"/>
              <a:t> model predicts emotion-dependent encoding boost from LPP</a:t>
            </a:r>
          </a:p>
          <a:p>
            <a:r>
              <a:rPr lang="en-US" sz="1600" dirty="0"/>
              <a:t>Improves prediction of emotional enhancement of memory AND emotion x LPP interaction effect</a:t>
            </a:r>
          </a:p>
        </p:txBody>
      </p:sp>
      <p:pic>
        <p:nvPicPr>
          <p:cNvPr id="5" name="Picture 4">
            <a:extLst>
              <a:ext uri="{FF2B5EF4-FFF2-40B4-BE49-F238E27FC236}">
                <a16:creationId xmlns:a16="http://schemas.microsoft.com/office/drawing/2014/main" id="{B30B9876-5CA3-4121-1090-F6A9C8A15082}"/>
              </a:ext>
            </a:extLst>
          </p:cNvPr>
          <p:cNvPicPr>
            <a:picLocks noChangeAspect="1"/>
          </p:cNvPicPr>
          <p:nvPr/>
        </p:nvPicPr>
        <p:blipFill>
          <a:blip r:embed="rId5"/>
          <a:stretch>
            <a:fillRect/>
          </a:stretch>
        </p:blipFill>
        <p:spPr>
          <a:xfrm>
            <a:off x="2293641" y="3935165"/>
            <a:ext cx="3011388" cy="2328393"/>
          </a:xfrm>
          <a:prstGeom prst="rect">
            <a:avLst/>
          </a:prstGeom>
        </p:spPr>
      </p:pic>
      <p:pic>
        <p:nvPicPr>
          <p:cNvPr id="7" name="Picture 6">
            <a:extLst>
              <a:ext uri="{FF2B5EF4-FFF2-40B4-BE49-F238E27FC236}">
                <a16:creationId xmlns:a16="http://schemas.microsoft.com/office/drawing/2014/main" id="{6DC98983-8EC3-5490-E2AB-1C64D8D103D0}"/>
              </a:ext>
            </a:extLst>
          </p:cNvPr>
          <p:cNvPicPr>
            <a:picLocks noChangeAspect="1"/>
          </p:cNvPicPr>
          <p:nvPr/>
        </p:nvPicPr>
        <p:blipFill>
          <a:blip r:embed="rId6"/>
          <a:stretch>
            <a:fillRect/>
          </a:stretch>
        </p:blipFill>
        <p:spPr>
          <a:xfrm>
            <a:off x="5652119" y="4086452"/>
            <a:ext cx="3397100" cy="2510900"/>
          </a:xfrm>
          <a:prstGeom prst="rect">
            <a:avLst/>
          </a:prstGeom>
        </p:spPr>
      </p:pic>
    </p:spTree>
    <p:extLst>
      <p:ext uri="{BB962C8B-B14F-4D97-AF65-F5344CB8AC3E}">
        <p14:creationId xmlns:p14="http://schemas.microsoft.com/office/powerpoint/2010/main" val="3710364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A6BCC-B5DA-0EAF-F690-399ABCC314EA}"/>
              </a:ext>
            </a:extLst>
          </p:cNvPr>
          <p:cNvSpPr>
            <a:spLocks noGrp="1"/>
          </p:cNvSpPr>
          <p:nvPr>
            <p:ph type="title"/>
          </p:nvPr>
        </p:nvSpPr>
        <p:spPr/>
        <p:txBody>
          <a:bodyPr/>
          <a:lstStyle/>
          <a:p>
            <a:r>
              <a:rPr lang="en-US" dirty="0"/>
              <a:t>What modelling bought us (and what it didn’t)</a:t>
            </a:r>
          </a:p>
        </p:txBody>
      </p:sp>
      <p:sp>
        <p:nvSpPr>
          <p:cNvPr id="3" name="Content Placeholder 2">
            <a:extLst>
              <a:ext uri="{FF2B5EF4-FFF2-40B4-BE49-F238E27FC236}">
                <a16:creationId xmlns:a16="http://schemas.microsoft.com/office/drawing/2014/main" id="{9B771251-185C-D710-D7A2-38B7C8C3122F}"/>
              </a:ext>
            </a:extLst>
          </p:cNvPr>
          <p:cNvSpPr>
            <a:spLocks noGrp="1"/>
          </p:cNvSpPr>
          <p:nvPr>
            <p:ph idx="1"/>
          </p:nvPr>
        </p:nvSpPr>
        <p:spPr>
          <a:xfrm>
            <a:off x="362042" y="1395412"/>
            <a:ext cx="8374063" cy="4067175"/>
          </a:xfrm>
        </p:spPr>
        <p:txBody>
          <a:bodyPr/>
          <a:lstStyle/>
          <a:p>
            <a:r>
              <a:rPr lang="en-US" sz="1600" b="1" dirty="0"/>
              <a:t>Why cognitive models vs stats?</a:t>
            </a:r>
            <a:br>
              <a:rPr lang="en-US" sz="1600" dirty="0"/>
            </a:br>
            <a:r>
              <a:rPr lang="en-US" sz="1600" dirty="0"/>
              <a:t>The GLMM told us there is an Emotion × LPP interaction in recall and that both factors matter; the models showed that an emotion-only process and an LPP-only process are both inadequate in this recall framework.</a:t>
            </a:r>
          </a:p>
          <a:p>
            <a:r>
              <a:rPr lang="en-US" sz="1600" b="1" dirty="0"/>
              <a:t>What does likelihood-based fitting mean and why bother?</a:t>
            </a:r>
            <a:br>
              <a:rPr lang="en-US" sz="1600" b="1" dirty="0"/>
            </a:br>
            <a:r>
              <a:rPr lang="en-US" sz="1600" dirty="0"/>
              <a:t>We used a set-based likelihood over recall sets to evaluate models on the full trial-level pattern, then converted that into AIC scores per subject that balance fit and complexity.</a:t>
            </a:r>
          </a:p>
          <a:p>
            <a:r>
              <a:rPr lang="en-US" sz="1600" b="1" dirty="0"/>
              <a:t>How did we choose models?</a:t>
            </a:r>
            <a:br>
              <a:rPr lang="en-US" sz="1600" dirty="0"/>
            </a:br>
            <a:r>
              <a:rPr lang="en-US" sz="1600" dirty="0"/>
              <a:t>We built three encoding variants that differed only in which signals drive encoding strength: an emotion-only baseline, an LPP-only “strong stand-in” model, and an </a:t>
            </a:r>
            <a:r>
              <a:rPr lang="en-US" sz="1600" dirty="0" err="1"/>
              <a:t>emotion+LPP</a:t>
            </a:r>
            <a:r>
              <a:rPr lang="en-US" sz="1600" dirty="0"/>
              <a:t> model corresponding to the weaker stand-in idea; retrieval dynamics were held fixed.</a:t>
            </a:r>
          </a:p>
          <a:p>
            <a:r>
              <a:rPr lang="en-US" sz="1600" b="1" dirty="0"/>
              <a:t>How did we compare them and what did we learn?</a:t>
            </a:r>
            <a:br>
              <a:rPr lang="en-US" sz="1600" dirty="0"/>
            </a:br>
            <a:r>
              <a:rPr lang="en-US" sz="1600" dirty="0"/>
              <a:t>AIC differences showed that the </a:t>
            </a:r>
            <a:r>
              <a:rPr lang="en-US" sz="1600" dirty="0" err="1"/>
              <a:t>emotion+LPP</a:t>
            </a:r>
            <a:r>
              <a:rPr lang="en-US" sz="1600" dirty="0"/>
              <a:t> model clearly outperforms emotion-only and LPP-only, that the LPP-only model is clearly inferior to </a:t>
            </a:r>
            <a:r>
              <a:rPr lang="en-US" sz="1600" dirty="0" err="1"/>
              <a:t>emotion+LPP</a:t>
            </a:r>
            <a:r>
              <a:rPr lang="en-US" sz="1600" dirty="0"/>
              <a:t> and never better than emotion-only, and that the strong “LPP can fully replace the emotion label” story is not supported in this model class.</a:t>
            </a:r>
          </a:p>
          <a:p>
            <a:endParaRPr lang="en-US" sz="1600" dirty="0"/>
          </a:p>
          <a:p>
            <a:endParaRPr lang="en-US" sz="1600" dirty="0"/>
          </a:p>
        </p:txBody>
      </p:sp>
    </p:spTree>
    <p:extLst>
      <p:ext uri="{BB962C8B-B14F-4D97-AF65-F5344CB8AC3E}">
        <p14:creationId xmlns:p14="http://schemas.microsoft.com/office/powerpoint/2010/main" val="1058899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Thanks!!</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idx="1"/>
          </p:nvPr>
        </p:nvSpPr>
        <p:spPr/>
        <p:txBody>
          <a:bodyPr/>
          <a:lstStyle/>
          <a:p>
            <a:pPr eaLnBrk="1" hangingPunct="1"/>
            <a:r>
              <a:rPr lang="en-GB" kern="1200" dirty="0">
                <a:solidFill>
                  <a:srgbClr val="050808"/>
                </a:solidFill>
                <a:latin typeface="Arial" charset="0"/>
              </a:rPr>
              <a:t>Robin Hellerstedt, </a:t>
            </a:r>
            <a:r>
              <a:rPr lang="en-US" dirty="0">
                <a:solidFill>
                  <a:srgbClr val="050808"/>
                </a:solidFill>
              </a:rPr>
              <a:t>Universidad </a:t>
            </a:r>
            <a:r>
              <a:rPr lang="en-US" dirty="0" err="1">
                <a:solidFill>
                  <a:srgbClr val="050808"/>
                </a:solidFill>
              </a:rPr>
              <a:t>Politecnica</a:t>
            </a:r>
            <a:r>
              <a:rPr lang="en-US" dirty="0">
                <a:solidFill>
                  <a:srgbClr val="050808"/>
                </a:solidFill>
              </a:rPr>
              <a:t> de Madrid</a:t>
            </a:r>
            <a:endParaRPr lang="en-US" altLang="en-US" dirty="0">
              <a:solidFill>
                <a:srgbClr val="050808"/>
              </a:solidFill>
            </a:endParaRPr>
          </a:p>
          <a:p>
            <a:pPr eaLnBrk="1" hangingPunct="1"/>
            <a:r>
              <a:rPr lang="en-US" altLang="en-US" dirty="0">
                <a:solidFill>
                  <a:srgbClr val="050808"/>
                </a:solidFill>
              </a:rPr>
              <a:t>Vanessa Zarubin, Northwestern University</a:t>
            </a:r>
          </a:p>
          <a:p>
            <a:pPr eaLnBrk="1" hangingPunct="1"/>
            <a:r>
              <a:rPr lang="en-US" altLang="en-US" dirty="0">
                <a:solidFill>
                  <a:srgbClr val="050808"/>
                </a:solidFill>
              </a:rPr>
              <a:t>Katherine R. </a:t>
            </a:r>
            <a:r>
              <a:rPr lang="en-US" altLang="en-US" dirty="0" err="1">
                <a:solidFill>
                  <a:srgbClr val="050808"/>
                </a:solidFill>
              </a:rPr>
              <a:t>Mickley</a:t>
            </a:r>
            <a:r>
              <a:rPr lang="en-US" altLang="en-US" dirty="0">
                <a:solidFill>
                  <a:srgbClr val="050808"/>
                </a:solidFill>
              </a:rPr>
              <a:t> Steinmetz, Wofford College</a:t>
            </a:r>
          </a:p>
          <a:p>
            <a:pPr eaLnBrk="1" hangingPunct="1"/>
            <a:r>
              <a:rPr lang="en-US" altLang="en-US" dirty="0">
                <a:solidFill>
                  <a:srgbClr val="050808"/>
                </a:solidFill>
              </a:rPr>
              <a:t>Nathaniel D. </a:t>
            </a:r>
            <a:r>
              <a:rPr lang="en-US" altLang="en-US" dirty="0" err="1">
                <a:solidFill>
                  <a:srgbClr val="050808"/>
                </a:solidFill>
              </a:rPr>
              <a:t>Daw</a:t>
            </a:r>
            <a:r>
              <a:rPr lang="en-US" altLang="en-US" dirty="0">
                <a:solidFill>
                  <a:srgbClr val="050808"/>
                </a:solidFill>
              </a:rPr>
              <a:t>, Princeton University</a:t>
            </a:r>
          </a:p>
          <a:p>
            <a:pPr eaLnBrk="1" hangingPunct="1"/>
            <a:r>
              <a:rPr lang="en-US" altLang="en-US" dirty="0">
                <a:solidFill>
                  <a:srgbClr val="050808"/>
                </a:solidFill>
              </a:rPr>
              <a:t>Deborah </a:t>
            </a:r>
            <a:r>
              <a:rPr lang="en-US" altLang="en-US" dirty="0" err="1">
                <a:solidFill>
                  <a:srgbClr val="050808"/>
                </a:solidFill>
              </a:rPr>
              <a:t>Talmi</a:t>
            </a:r>
            <a:r>
              <a:rPr lang="en-US" altLang="en-US" dirty="0">
                <a:solidFill>
                  <a:srgbClr val="050808"/>
                </a:solidFill>
              </a:rPr>
              <a:t>, University of Cambridge</a:t>
            </a:r>
          </a:p>
          <a:p>
            <a:pPr eaLnBrk="1" hangingPunct="1"/>
            <a:endParaRPr lang="en-US" altLang="en-US" dirty="0"/>
          </a:p>
        </p:txBody>
      </p:sp>
    </p:spTree>
    <p:extLst>
      <p:ext uri="{BB962C8B-B14F-4D97-AF65-F5344CB8AC3E}">
        <p14:creationId xmlns:p14="http://schemas.microsoft.com/office/powerpoint/2010/main" val="3081911339"/>
      </p:ext>
    </p:extLst>
  </p:cSld>
  <p:clrMapOvr>
    <a:masterClrMapping/>
  </p:clrMapOvr>
  <mc:AlternateContent xmlns:mc="http://schemas.openxmlformats.org/markup-compatibility/2006" xmlns:p14="http://schemas.microsoft.com/office/powerpoint/2010/main">
    <mc:Choice Requires="p14">
      <p:transition spd="slow" p14:dur="2000" advTm="12112"/>
    </mc:Choice>
    <mc:Fallback xmlns="">
      <p:transition spd="slow" advTm="12112"/>
    </mc:Fallback>
  </mc:AlternateContent>
</p:sld>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11180</TotalTime>
  <Words>4668</Words>
  <Application>Microsoft Macintosh PowerPoint</Application>
  <PresentationFormat>On-screen Show (4:3)</PresentationFormat>
  <Paragraphs>244</Paragraphs>
  <Slides>23</Slides>
  <Notes>23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vt:i4>
      </vt:variant>
    </vt:vector>
  </HeadingPairs>
  <TitlesOfParts>
    <vt:vector size="25" baseType="lpstr">
      <vt:lpstr>Arial</vt:lpstr>
      <vt:lpstr>blank</vt:lpstr>
      <vt:lpstr>Assessing neurocognitive hypotheses using likelihood-based models</vt:lpstr>
      <vt:lpstr>What I want you to get from this talk</vt:lpstr>
      <vt:lpstr>Our running example: emotional memory, LPP, and free recall</vt:lpstr>
      <vt:lpstr>Key Behavioral Result:  The Emotional Enhancement of Memory (EEM) </vt:lpstr>
      <vt:lpstr>Key Neural Result:  Early LPP is Higher for Emotional Items</vt:lpstr>
      <vt:lpstr>LPP Predicts Recall More Strongly for Emotional Items </vt:lpstr>
      <vt:lpstr>LPP Reflects Both Emotion and Later Recall</vt:lpstr>
      <vt:lpstr>LPP Predicts Recall More Strongly for Emotional Items </vt:lpstr>
      <vt:lpstr>Two ways to fit a model</vt:lpstr>
      <vt:lpstr>Ideal likelihood if we had full recall sequences: p(sequence_t | model, θ) per trial.</vt:lpstr>
      <vt:lpstr>Our data: recall sets, not sequences</vt:lpstr>
      <vt:lpstr>Why we chose likelihood</vt:lpstr>
      <vt:lpstr>Choosing models: general principles</vt:lpstr>
      <vt:lpstr>What could ‘LPP as a stand-in for emotion’ mean?</vt:lpstr>
      <vt:lpstr>Our recall model: encoding and competition</vt:lpstr>
      <vt:lpstr>Three encoding models we’ll test</vt:lpstr>
      <vt:lpstr>From likelihood to AIC: scoring models</vt:lpstr>
      <vt:lpstr>Emotion+LPP clearly best; LPP-only clearly worst</vt:lpstr>
      <vt:lpstr>Interpretation by Simulation:  Emotion-Only Model Cannot Capture LPP Patterns</vt:lpstr>
      <vt:lpstr>Interpretation by Simulation:  LPP-Only Model Cannot Stand-In For Emotion</vt:lpstr>
      <vt:lpstr>Interpretation by Simulation:  Emotion+LPP Model Helps Capture Both!</vt:lpstr>
      <vt:lpstr>What modelling bought us (and what it didn’t)</vt:lpstr>
      <vt:lpstr>Thanks!!</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Jordan Gunn</cp:lastModifiedBy>
  <cp:revision>58</cp:revision>
  <cp:lastPrinted>1601-01-01T00:00:00Z</cp:lastPrinted>
  <dcterms:created xsi:type="dcterms:W3CDTF">2008-03-27T10:29:55Z</dcterms:created>
  <dcterms:modified xsi:type="dcterms:W3CDTF">2025-11-25T13:29:52Z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