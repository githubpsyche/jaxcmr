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6" r:id="rId2"/>
    <p:sldId id="271" r:id="rId3"/>
    <p:sldId id="259" r:id="rId4"/>
    <p:sldId id="274" r:id="rId5"/>
    <p:sldId id="289" r:id="rId6"/>
    <p:sldId id="275" r:id="rId7"/>
    <p:sldId id="277" r:id="rId8"/>
    <p:sldId id="273" r:id="rId9"/>
    <p:sldId id="278" r:id="rId10"/>
    <p:sldId id="279" r:id="rId11"/>
    <p:sldId id="280" r:id="rId12"/>
    <p:sldId id="281" r:id="rId13"/>
    <p:sldId id="282" r:id="rId14"/>
    <p:sldId id="283" r:id="rId15"/>
    <p:sldId id="284" r:id="rId16"/>
    <p:sldId id="285" r:id="rId17"/>
    <p:sldId id="286" r:id="rId18"/>
    <p:sldId id="288" r:id="rId19"/>
    <p:sldId id="287" r:id="rId20"/>
    <p:sldId id="265" r:id="rId21"/>
  </p:sldIdLst>
  <p:sldSz cx="9144000" cy="6858000" type="screen4x3"/>
  <p:notesSz cx="6858000" cy="9144000"/>
  <p:defaultTextStyle>
    <a:defPPr>
      <a:defRPr lang="en-GB"/>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0808"/>
    <a:srgbClr val="003E72"/>
    <a:srgbClr val="6AADE4"/>
    <a:srgbClr val="00305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67"/>
    <p:restoredTop sz="75250"/>
  </p:normalViewPr>
  <p:slideViewPr>
    <p:cSldViewPr>
      <p:cViewPr varScale="1">
        <p:scale>
          <a:sx n="86" d="100"/>
          <a:sy n="86" d="100"/>
        </p:scale>
        <p:origin x="208" y="272"/>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454829FD-AA8D-402C-B969-9BDD42140469}"/>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smtClean="0">
                <a:latin typeface="Arial" charset="0"/>
              </a:defRPr>
            </a:lvl1pPr>
          </a:lstStyle>
          <a:p>
            <a:pPr>
              <a:defRPr/>
            </a:pPr>
            <a:endParaRPr lang="en-GB" altLang="en-US"/>
          </a:p>
        </p:txBody>
      </p:sp>
      <p:sp>
        <p:nvSpPr>
          <p:cNvPr id="9219" name="Rectangle 3">
            <a:extLst>
              <a:ext uri="{FF2B5EF4-FFF2-40B4-BE49-F238E27FC236}">
                <a16:creationId xmlns:a16="http://schemas.microsoft.com/office/drawing/2014/main" id="{5705EE3B-642B-4B31-81F1-D1E1046BF93E}"/>
              </a:ext>
            </a:extLst>
          </p:cNvPr>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smtClean="0">
                <a:latin typeface="Arial" charset="0"/>
              </a:defRPr>
            </a:lvl1pPr>
          </a:lstStyle>
          <a:p>
            <a:pPr>
              <a:defRPr/>
            </a:pPr>
            <a:endParaRPr lang="en-GB" altLang="en-US"/>
          </a:p>
        </p:txBody>
      </p:sp>
      <p:sp>
        <p:nvSpPr>
          <p:cNvPr id="9220" name="Rectangle 4">
            <a:extLst>
              <a:ext uri="{FF2B5EF4-FFF2-40B4-BE49-F238E27FC236}">
                <a16:creationId xmlns:a16="http://schemas.microsoft.com/office/drawing/2014/main" id="{B6EE33C4-7597-4898-BE8A-32CA814848BB}"/>
              </a:ext>
            </a:extLst>
          </p:cNvPr>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smtClean="0">
                <a:latin typeface="Arial" charset="0"/>
              </a:defRPr>
            </a:lvl1pPr>
          </a:lstStyle>
          <a:p>
            <a:pPr>
              <a:defRPr/>
            </a:pPr>
            <a:endParaRPr lang="en-GB" altLang="en-US"/>
          </a:p>
        </p:txBody>
      </p:sp>
      <p:sp>
        <p:nvSpPr>
          <p:cNvPr id="9221" name="Rectangle 5">
            <a:extLst>
              <a:ext uri="{FF2B5EF4-FFF2-40B4-BE49-F238E27FC236}">
                <a16:creationId xmlns:a16="http://schemas.microsoft.com/office/drawing/2014/main" id="{A05EDBA9-BACD-43D6-BF5D-181E303C3DF6}"/>
              </a:ext>
            </a:extLst>
          </p:cNvPr>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4B67D7FD-786C-4CB7-8AF4-D718F2B264DC}" type="slidenum">
              <a:rPr lang="en-GB" altLang="en-US"/>
              <a:pPr/>
              <a:t>‹#›</a:t>
            </a:fld>
            <a:endParaRPr lang="en-GB"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D6CA4456-F361-4B44-A308-3E6D964ED5EE}"/>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smtClean="0">
                <a:latin typeface="Arial" charset="0"/>
              </a:defRPr>
            </a:lvl1pPr>
          </a:lstStyle>
          <a:p>
            <a:pPr>
              <a:defRPr/>
            </a:pPr>
            <a:endParaRPr lang="en-GB" altLang="en-US"/>
          </a:p>
        </p:txBody>
      </p:sp>
      <p:sp>
        <p:nvSpPr>
          <p:cNvPr id="8195" name="Rectangle 3">
            <a:extLst>
              <a:ext uri="{FF2B5EF4-FFF2-40B4-BE49-F238E27FC236}">
                <a16:creationId xmlns:a16="http://schemas.microsoft.com/office/drawing/2014/main" id="{08C818F8-B2DF-401F-97D5-3C4C43187B6E}"/>
              </a:ext>
            </a:extLst>
          </p:cNvPr>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smtClean="0">
                <a:latin typeface="Arial" charset="0"/>
              </a:defRPr>
            </a:lvl1pPr>
          </a:lstStyle>
          <a:p>
            <a:pPr>
              <a:defRPr/>
            </a:pPr>
            <a:endParaRPr lang="en-GB" altLang="en-US"/>
          </a:p>
        </p:txBody>
      </p:sp>
      <p:sp>
        <p:nvSpPr>
          <p:cNvPr id="5124" name="Rectangle 4">
            <a:extLst>
              <a:ext uri="{FF2B5EF4-FFF2-40B4-BE49-F238E27FC236}">
                <a16:creationId xmlns:a16="http://schemas.microsoft.com/office/drawing/2014/main" id="{B359CEE7-979E-4ECA-B60E-F8371A4D883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7" name="Rectangle 5">
            <a:extLst>
              <a:ext uri="{FF2B5EF4-FFF2-40B4-BE49-F238E27FC236}">
                <a16:creationId xmlns:a16="http://schemas.microsoft.com/office/drawing/2014/main" id="{C80015F8-FF0A-4A7F-ABD6-7BD6E40F6ACE}"/>
              </a:ext>
            </a:extLst>
          </p:cNvPr>
          <p:cNvSpPr>
            <a:spLocks noGrp="1" noChangeArrowheads="1"/>
          </p:cNvSpPr>
          <p:nvPr>
            <p:ph type="body" sz="quarter" idx="3"/>
          </p:nvPr>
        </p:nvSpPr>
        <p:spPr bwMode="auto">
          <a:xfrm>
            <a:off x="1143000" y="4343400"/>
            <a:ext cx="4556125"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GB" altLang="en-US" noProof="0"/>
              <a:t>Click to edit Master text styles</a:t>
            </a:r>
          </a:p>
          <a:p>
            <a:pPr lvl="1"/>
            <a:r>
              <a:rPr lang="en-GB" altLang="en-US" noProof="0"/>
              <a:t>Second level</a:t>
            </a:r>
          </a:p>
          <a:p>
            <a:pPr lvl="2"/>
            <a:r>
              <a:rPr lang="en-GB" altLang="en-US" noProof="0"/>
              <a:t>Third level</a:t>
            </a:r>
          </a:p>
          <a:p>
            <a:pPr lvl="3"/>
            <a:r>
              <a:rPr lang="en-GB" altLang="en-US" noProof="0"/>
              <a:t>Fourth level</a:t>
            </a:r>
          </a:p>
          <a:p>
            <a:pPr lvl="4"/>
            <a:r>
              <a:rPr lang="en-GB" altLang="en-US" noProof="0"/>
              <a:t>Fifth level</a:t>
            </a:r>
          </a:p>
        </p:txBody>
      </p:sp>
      <p:sp>
        <p:nvSpPr>
          <p:cNvPr id="8198" name="Rectangle 6">
            <a:extLst>
              <a:ext uri="{FF2B5EF4-FFF2-40B4-BE49-F238E27FC236}">
                <a16:creationId xmlns:a16="http://schemas.microsoft.com/office/drawing/2014/main" id="{FC8A3E9C-3A05-4F0F-A897-F596674ECFB3}"/>
              </a:ext>
            </a:extLst>
          </p:cNvPr>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smtClean="0">
                <a:latin typeface="Arial" charset="0"/>
              </a:defRPr>
            </a:lvl1pPr>
          </a:lstStyle>
          <a:p>
            <a:pPr>
              <a:defRPr/>
            </a:pPr>
            <a:endParaRPr lang="en-GB" altLang="en-US"/>
          </a:p>
        </p:txBody>
      </p:sp>
      <p:sp>
        <p:nvSpPr>
          <p:cNvPr id="8199" name="Rectangle 7">
            <a:extLst>
              <a:ext uri="{FF2B5EF4-FFF2-40B4-BE49-F238E27FC236}">
                <a16:creationId xmlns:a16="http://schemas.microsoft.com/office/drawing/2014/main" id="{419914C5-D7AD-4B98-AE8F-0F6C07EE7AED}"/>
              </a:ext>
            </a:extLst>
          </p:cNvPr>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CEA5AD2E-89E1-4370-8739-344D4E353C41}" type="slidenum">
              <a:rPr lang="en-GB" altLang="en-US"/>
              <a:pPr/>
              <a:t>‹#›</a:t>
            </a:fld>
            <a:endParaRPr lang="en-GB"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a:extLst>
              <a:ext uri="{FF2B5EF4-FFF2-40B4-BE49-F238E27FC236}">
                <a16:creationId xmlns:a16="http://schemas.microsoft.com/office/drawing/2014/main" id="{C7D363F4-AFB4-4666-B181-6ABB76387421}"/>
              </a:ext>
            </a:extLst>
          </p:cNvPr>
          <p:cNvSpPr>
            <a:spLocks noGrp="1" noChangeArrowheads="1"/>
          </p:cNvSpPr>
          <p:nvPr>
            <p:ph type="sldNum" sz="quarter" idx="5"/>
          </p:nvPr>
        </p:nvSpPr>
        <p:spPr>
          <a:noFill/>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725734EB-D06B-4794-9C0B-3CA60BFA27EA}" type="slidenum">
              <a:rPr lang="en-GB" altLang="en-US"/>
              <a:pPr eaLnBrk="1" hangingPunct="1"/>
              <a:t>1</a:t>
            </a:fld>
            <a:endParaRPr lang="en-GB" altLang="en-US"/>
          </a:p>
        </p:txBody>
      </p:sp>
      <p:sp>
        <p:nvSpPr>
          <p:cNvPr id="6147" name="Rectangle 2">
            <a:extLst>
              <a:ext uri="{FF2B5EF4-FFF2-40B4-BE49-F238E27FC236}">
                <a16:creationId xmlns:a16="http://schemas.microsoft.com/office/drawing/2014/main" id="{ABC7FC18-B57B-495C-A9F0-E0D19CB7E12A}"/>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E5DCEC76-4B29-4493-B2CF-E1CC273C2E90}"/>
              </a:ext>
            </a:extLst>
          </p:cNvPr>
          <p:cNvSpPr>
            <a:spLocks noGrp="1" noChangeArrowheads="1"/>
          </p:cNvSpPr>
          <p:nvPr>
            <p:ph type="body" idx="1"/>
          </p:nvPr>
        </p:nvSpPr>
        <p:spPr>
          <a:noFill/>
        </p:spPr>
        <p:txBody>
          <a:bodyPr/>
          <a:lstStyle/>
          <a:p>
            <a:r>
              <a:rPr lang="en-US" dirty="0"/>
              <a:t>Hi, my name is Jordan Gunn and I am a postdoc in Deborah Talmi's group in the Psych department who started here just this past September. This is a tutorial style talk about using cognitive models and likelihood to think about neural and </a:t>
            </a:r>
            <a:r>
              <a:rPr lang="en-US" dirty="0" err="1"/>
              <a:t>behaviour</a:t>
            </a:r>
            <a:r>
              <a:rPr lang="en-US" dirty="0"/>
              <a:t> relationships. From afar, cognitive modelling can look like an opaque, overcomplicated exercise in parameter tuning that somehow always fits everything but clarifies very little. When brain data enters the picture, it can be even harder to see how neural signals relate to the mechanisms in the model.</a:t>
            </a:r>
          </a:p>
          <a:p>
            <a:endParaRPr lang="en-US" dirty="0"/>
          </a:p>
          <a:p>
            <a:r>
              <a:rPr lang="en-US" dirty="0"/>
              <a:t>I want to use one concrete example to sketch a more constructive picture where cognitive models help clarify what our data can and cannot say about mechanisms, rather than adding an extra layer of obfuscation.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things I’m hoping you’ll take away.”</a:t>
            </a:r>
          </a:p>
          <a:p>
            <a:r>
              <a:rPr lang="en-US" dirty="0"/>
              <a:t>“First, why we sometimes want cognitive models in addition to statistical models. Regressions are great for telling us that a neural signal or other factor predicts some behavioral outcome, but they don’t tell us where in the process that effect lives. Models give us a place to put those ideas.”</a:t>
            </a:r>
          </a:p>
          <a:p>
            <a:r>
              <a:rPr lang="en-US" dirty="0"/>
              <a:t>“Second, what it actually means to fit a model by likelihood. I’ll show you how we treat the model as a generator of trial-by-trial </a:t>
            </a:r>
            <a:r>
              <a:rPr lang="en-US" dirty="0" err="1"/>
              <a:t>behaviour</a:t>
            </a:r>
            <a:r>
              <a:rPr lang="en-US" dirty="0"/>
              <a:t> and use that to define a loss function, and why that’s more informative than just making one summary curve line up.”</a:t>
            </a:r>
          </a:p>
          <a:p>
            <a:r>
              <a:rPr lang="en-US" dirty="0"/>
              <a:t>“Third, how to go from vague hypotheses like ‘maybe the EEG signal is boosting encoding’ to a small set of explicit models that embody different stories. We’ll see that </a:t>
            </a:r>
            <a:r>
              <a:rPr lang="en-US" dirty="0" err="1"/>
              <a:t>formalising</a:t>
            </a:r>
            <a:r>
              <a:rPr lang="en-US" dirty="0"/>
              <a:t> those stories is already informative.”</a:t>
            </a:r>
          </a:p>
          <a:p>
            <a:r>
              <a:rPr lang="en-US" dirty="0"/>
              <a:t>“And fourth, how to compare those models in a way that lets us say which stories are clearly ruled out, which are supported, and where the data simply don’t distinguish between them. That, in my mind, is one of the key reasons to do cognitive modelling.”</a:t>
            </a:r>
          </a:p>
          <a:p>
            <a:r>
              <a:rPr lang="en-US" dirty="0"/>
              <a:t>“I’ll use one emotional memory EEG dataset as a running example so we’re not talking in the abstract, but I’ll keep circling back to these four questions rather than the specifics of that experiment.”</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2</a:t>
            </a:fld>
            <a:endParaRPr lang="en-GB" altLang="en-US"/>
          </a:p>
        </p:txBody>
      </p:sp>
    </p:spTree>
    <p:extLst>
      <p:ext uri="{BB962C8B-B14F-4D97-AF65-F5344CB8AC3E}">
        <p14:creationId xmlns:p14="http://schemas.microsoft.com/office/powerpoint/2010/main" val="1671032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data from a study by Zarubin et al. (2020). In this experiment, participants studied lists of negative and neutral images, then did a short math distractor task, and then freely recalled as many images as they could. This procedure was repeated nine times with twenty-two images per list.</a:t>
            </a:r>
          </a:p>
          <a:p>
            <a:endParaRPr lang="en-US" dirty="0"/>
          </a:p>
          <a:p>
            <a:r>
              <a:rPr lang="en-US" dirty="0"/>
              <a:t>For the modelling, the key point is that for each list we know, for each item, its emotion label, its Early-LPP amplitude at encoding, and whether it was later recalled. Important for later, we do not know recall order. And in the original analysis the first two </a:t>
            </a:r>
            <a:r>
              <a:rPr lang="en-US" b="1" dirty="0"/>
              <a:t>studied</a:t>
            </a:r>
            <a:r>
              <a:rPr lang="en-US" dirty="0"/>
              <a:t> items on each list were treated as buffers and their recall data were dropped, to control for primacy. So we treat each trial as a twenty-item list with a recalled set rather than a full recall sequence.</a:t>
            </a:r>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3</a:t>
            </a:fld>
            <a:endParaRPr lang="en-GB" altLang="en-US"/>
          </a:p>
        </p:txBody>
      </p:sp>
    </p:spTree>
    <p:extLst>
      <p:ext uri="{BB962C8B-B14F-4D97-AF65-F5344CB8AC3E}">
        <p14:creationId xmlns:p14="http://schemas.microsoft.com/office/powerpoint/2010/main" val="2703332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Behaviourally</a:t>
            </a:r>
            <a:r>
              <a:rPr lang="en-US" dirty="0"/>
              <a:t> in this dataset, we see the familiar emotional enhancement of memory: negative items are more likely to be recalled than neutral ones across serial position.”</a:t>
            </a:r>
          </a:p>
          <a:p>
            <a:r>
              <a:rPr lang="en-US" dirty="0"/>
              <a:t>“Any model we use later will at least have to capture this basic pattern.</a:t>
            </a:r>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4</a:t>
            </a:fld>
            <a:endParaRPr lang="en-GB" altLang="en-US"/>
          </a:p>
        </p:txBody>
      </p:sp>
    </p:spTree>
    <p:extLst>
      <p:ext uri="{BB962C8B-B14F-4D97-AF65-F5344CB8AC3E}">
        <p14:creationId xmlns:p14="http://schemas.microsoft.com/office/powerpoint/2010/main" val="2400150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DF731-7E1B-E7AD-1688-4DFD016620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F18366-8130-D914-1676-6ABF94585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19C97A-83D0-DA93-2FFE-1FEE8D9FD89B}"/>
              </a:ext>
            </a:extLst>
          </p:cNvPr>
          <p:cNvSpPr>
            <a:spLocks noGrp="1"/>
          </p:cNvSpPr>
          <p:nvPr>
            <p:ph type="body" idx="1"/>
          </p:nvPr>
        </p:nvSpPr>
        <p:spPr/>
        <p:txBody>
          <a:bodyPr/>
          <a:lstStyle/>
          <a:p>
            <a:r>
              <a:rPr lang="en-US" dirty="0"/>
              <a:t>“</a:t>
            </a:r>
            <a:r>
              <a:rPr lang="en-US" dirty="0" err="1"/>
              <a:t>Behaviourally</a:t>
            </a:r>
            <a:r>
              <a:rPr lang="en-US" dirty="0"/>
              <a:t> in this dataset, we see the familiar emotional enhancement of memory: negative items are more likely to be recalled than neutral ones across serial position.”</a:t>
            </a:r>
          </a:p>
          <a:p>
            <a:r>
              <a:rPr lang="en-US" dirty="0"/>
              <a:t>“Any model we use later will at least have to capture this basic pattern.</a:t>
            </a:r>
          </a:p>
        </p:txBody>
      </p:sp>
      <p:sp>
        <p:nvSpPr>
          <p:cNvPr id="4" name="Slide Number Placeholder 3">
            <a:extLst>
              <a:ext uri="{FF2B5EF4-FFF2-40B4-BE49-F238E27FC236}">
                <a16:creationId xmlns:a16="http://schemas.microsoft.com/office/drawing/2014/main" id="{2D090522-C77F-56DD-2ADD-8D5B0977962C}"/>
              </a:ext>
            </a:extLst>
          </p:cNvPr>
          <p:cNvSpPr>
            <a:spLocks noGrp="1"/>
          </p:cNvSpPr>
          <p:nvPr>
            <p:ph type="sldNum" sz="quarter" idx="5"/>
          </p:nvPr>
        </p:nvSpPr>
        <p:spPr/>
        <p:txBody>
          <a:bodyPr/>
          <a:lstStyle/>
          <a:p>
            <a:fld id="{CEA5AD2E-89E1-4370-8739-344D4E353C41}" type="slidenum">
              <a:rPr lang="en-GB" altLang="en-US" smtClean="0"/>
              <a:pPr/>
              <a:t>5</a:t>
            </a:fld>
            <a:endParaRPr lang="en-GB" altLang="en-US"/>
          </a:p>
        </p:txBody>
      </p:sp>
    </p:spTree>
    <p:extLst>
      <p:ext uri="{BB962C8B-B14F-4D97-AF65-F5344CB8AC3E}">
        <p14:creationId xmlns:p14="http://schemas.microsoft.com/office/powerpoint/2010/main" val="30321704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look at the EEG, we see that Early LPP tends to be larger for negative items that are later recalled than for negative items that are not recalled.”</a:t>
            </a:r>
          </a:p>
          <a:p>
            <a:r>
              <a:rPr lang="en-US" dirty="0"/>
              <a:t>“Within neutral items, the difference between recalled and unrecalled is much smaller.”</a:t>
            </a:r>
          </a:p>
          <a:p>
            <a:r>
              <a:rPr lang="en-US" dirty="0"/>
              <a:t>“So even before fitting any model, we have this descriptive picture: LPP seems more strongly tied to recall for negative items than for neutral ones.”</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6</a:t>
            </a:fld>
            <a:endParaRPr lang="en-GB" altLang="en-US"/>
          </a:p>
        </p:txBody>
      </p:sp>
    </p:spTree>
    <p:extLst>
      <p:ext uri="{BB962C8B-B14F-4D97-AF65-F5344CB8AC3E}">
        <p14:creationId xmlns:p14="http://schemas.microsoft.com/office/powerpoint/2010/main" val="3823544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6CA17-FD42-8D5D-A661-A7F59B5E5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032DD3-713F-21A8-F360-122D0D9866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AD2BD-6835-3C73-A577-13D39C0B22EB}"/>
              </a:ext>
            </a:extLst>
          </p:cNvPr>
          <p:cNvSpPr>
            <a:spLocks noGrp="1"/>
          </p:cNvSpPr>
          <p:nvPr>
            <p:ph type="body" idx="1"/>
          </p:nvPr>
        </p:nvSpPr>
        <p:spPr/>
        <p:txBody>
          <a:bodyPr/>
          <a:lstStyle/>
          <a:p>
            <a:r>
              <a:rPr lang="en-US" sz="1200" b="0" i="0" kern="1200" dirty="0">
                <a:solidFill>
                  <a:schemeClr val="tx1"/>
                </a:solidFill>
                <a:effectLst/>
                <a:latin typeface="Arial" charset="0"/>
                <a:ea typeface="+mn-ea"/>
                <a:cs typeface="+mn-cs"/>
              </a:rPr>
              <a:t>Here, we superimpose Early-LPP curves to highlight joint structure. Recalled emotional items have the highest Early LPPs. Unrecalled emotional items overlap with both recalled and unrecalled neutral items. Two simple linking stories are inconsistent with this pattern. First, if LPP simply reflected item type, recalled and unrecalled items of the same type would have similar LPPs; instead, recall status clearly separates Early LPP within the emotional condition. Second, if LPP simply reflected recall probability, recalled items across item types would align; instead, recalled emotional items have higher LPPs than recalled neutral items. Neither pattern holds, convincing us that each factor has separable consequences for memory.</a:t>
            </a:r>
            <a:endParaRPr lang="en-US" dirty="0"/>
          </a:p>
        </p:txBody>
      </p:sp>
      <p:sp>
        <p:nvSpPr>
          <p:cNvPr id="4" name="Slide Number Placeholder 3">
            <a:extLst>
              <a:ext uri="{FF2B5EF4-FFF2-40B4-BE49-F238E27FC236}">
                <a16:creationId xmlns:a16="http://schemas.microsoft.com/office/drawing/2014/main" id="{C6FA8CFB-9551-32A5-C497-C6327F788516}"/>
              </a:ext>
            </a:extLst>
          </p:cNvPr>
          <p:cNvSpPr>
            <a:spLocks noGrp="1"/>
          </p:cNvSpPr>
          <p:nvPr>
            <p:ph type="sldNum" sz="quarter" idx="5"/>
          </p:nvPr>
        </p:nvSpPr>
        <p:spPr/>
        <p:txBody>
          <a:bodyPr/>
          <a:lstStyle/>
          <a:p>
            <a:fld id="{CEA5AD2E-89E1-4370-8739-344D4E353C41}" type="slidenum">
              <a:rPr lang="en-GB" altLang="en-US" smtClean="0"/>
              <a:pPr/>
              <a:t>7</a:t>
            </a:fld>
            <a:endParaRPr lang="en-GB" altLang="en-US"/>
          </a:p>
        </p:txBody>
      </p:sp>
    </p:spTree>
    <p:extLst>
      <p:ext uri="{BB962C8B-B14F-4D97-AF65-F5344CB8AC3E}">
        <p14:creationId xmlns:p14="http://schemas.microsoft.com/office/powerpoint/2010/main" val="8743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t>
            </a:r>
            <a:r>
              <a:rPr lang="en-US" dirty="0" err="1"/>
              <a:t>formalise</a:t>
            </a:r>
            <a:r>
              <a:rPr lang="en-US" dirty="0"/>
              <a:t> the descriptive patterns with a logistic mixed model that predicts recall from emotion, Early LPP, and their interaction.”</a:t>
            </a:r>
          </a:p>
          <a:p>
            <a:r>
              <a:rPr lang="en-US" dirty="0"/>
              <a:t>“All three terms are significant: negative items are recalled more often than neutral ones; higher LPP is associated with higher recall probability; and the LPP–recall slope is steeper within negative items than within neutral ones.”</a:t>
            </a:r>
          </a:p>
          <a:p>
            <a:r>
              <a:rPr lang="en-US" dirty="0"/>
              <a:t>“It’s very natural to read this as ‘LPP has a special, extra impact on the encoding of negative items; the learning rule must have an explicit emotion-by-LPP interaction’.”</a:t>
            </a:r>
          </a:p>
          <a:p>
            <a:r>
              <a:rPr lang="en-US" dirty="0"/>
              <a:t>“The modelling part of the talk is going to ask a more careful question: given this regression result, how many different process-level stories are actually compatible with it? Can we, for example, rule out a simpler story where LPP and emotion have purely additive effects at encoding and the interaction in recall emerges downstream from the way items compete during retrieval?”</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8</a:t>
            </a:fld>
            <a:endParaRPr lang="en-GB" altLang="en-US"/>
          </a:p>
        </p:txBody>
      </p:sp>
    </p:spTree>
    <p:extLst>
      <p:ext uri="{BB962C8B-B14F-4D97-AF65-F5344CB8AC3E}">
        <p14:creationId xmlns:p14="http://schemas.microsoft.com/office/powerpoint/2010/main" val="473124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way to connect a model to data is to pick a few summary curves – a serial-position curve, maybe a binned LPP–recall curve – and tune parameters so those curves line up.”</a:t>
            </a:r>
          </a:p>
          <a:p>
            <a:r>
              <a:rPr lang="en-US" dirty="0"/>
              <a:t>“That approach is very common and often useful, but it forces you to choose which summaries matter and how to weight them, and it ignores a lot of the trial-by-trial structure the model actually predicts.”</a:t>
            </a:r>
          </a:p>
          <a:p>
            <a:r>
              <a:rPr lang="en-US" dirty="0"/>
              <a:t>“Because we care about relatively subtle differences between models in how they treat LPP, we’re going to use a likelihood-based approach instead: treat the model as a generator of recall sets and ask, for each parameter setting, how probable the actually observed recall sets are.”</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9</a:t>
            </a:fld>
            <a:endParaRPr lang="en-GB" altLang="en-US"/>
          </a:p>
        </p:txBody>
      </p:sp>
    </p:spTree>
    <p:extLst>
      <p:ext uri="{BB962C8B-B14F-4D97-AF65-F5344CB8AC3E}">
        <p14:creationId xmlns:p14="http://schemas.microsoft.com/office/powerpoint/2010/main" val="18137000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did have full recall sequences, this is the sort of likelihood we’d like to compute. In the flow chart on the left, the model simulates study and then simulates the retrieval process one response at a time. At each step it assigns probabilities to all possible responses, including a STOP response, and we look up the probability of whatever the participant actually did – recalling ‘tree’, then ‘queen’, then ‘king’, and so on, as shown on the right.</a:t>
            </a:r>
          </a:p>
          <a:p>
            <a:r>
              <a:rPr lang="en-US" dirty="0"/>
              <a:t>By multiplying those probabilities across the whole sequence, we get the likelihood of that recall sequence under the current parameter setting. Fitting the model by likelihood would then mean adjusting the parameters so that the sequences we actually observed are as probable as possible under this generative process.”</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10</a:t>
            </a:fld>
            <a:endParaRPr lang="en-GB" altLang="en-US"/>
          </a:p>
        </p:txBody>
      </p:sp>
    </p:spTree>
    <p:extLst>
      <p:ext uri="{BB962C8B-B14F-4D97-AF65-F5344CB8AC3E}">
        <p14:creationId xmlns:p14="http://schemas.microsoft.com/office/powerpoint/2010/main" val="452860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dataset, we don’t have full recall sequences; we only know, for each list, which items were recalled.”</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The question then becomes: how do we adapt the ideal sequence likelihood to this situation, where what we observe is just the set S sub t for each list?”</a:t>
            </a:r>
          </a:p>
          <a:p>
            <a:endParaRPr lang="en-US" dirty="0"/>
          </a:p>
          <a:p>
            <a:r>
              <a:rPr lang="en-US" dirty="0"/>
              <a:t>“To adapt the idea of likelihood, we define a likelihood over sets. For each trial, we look at the sequences that would result in that recalled set – different orders, maybe repeats – and we aggregate their probabilities under the model.</a:t>
            </a:r>
          </a:p>
          <a:p>
            <a:endParaRPr lang="en-US" dirty="0"/>
          </a:p>
          <a:p>
            <a:r>
              <a:rPr lang="en-US" dirty="0"/>
              <a:t>“In practice, we approximate that sum by sampling random permutations of the recalled set and averaging their sequence probabilities. It’s a Monte Carlo approximation, but it respects the generative structure and gives us a log likelihood for each trial and model.”</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11</a:t>
            </a:fld>
            <a:endParaRPr lang="en-GB" altLang="en-US"/>
          </a:p>
        </p:txBody>
      </p:sp>
    </p:spTree>
    <p:extLst>
      <p:ext uri="{BB962C8B-B14F-4D97-AF65-F5344CB8AC3E}">
        <p14:creationId xmlns:p14="http://schemas.microsoft.com/office/powerpoint/2010/main" val="22977361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go to the trouble of defining this set-based likelihood rather than just matching an SPC and an LPP–recall curve?”</a:t>
            </a:r>
          </a:p>
          <a:p>
            <a:r>
              <a:rPr lang="en-US" dirty="0"/>
              <a:t>“First, it means we are evaluating models on the full trial-level pattern of which items are recalled, not just on one or two summary curves we chose.”</a:t>
            </a:r>
          </a:p>
          <a:p>
            <a:r>
              <a:rPr lang="en-US" dirty="0"/>
              <a:t>“Second, it forces us to use the same encoding and retrieval parameters to both generate and score </a:t>
            </a:r>
            <a:r>
              <a:rPr lang="en-US" dirty="0" err="1"/>
              <a:t>behaviour</a:t>
            </a:r>
            <a:r>
              <a:rPr lang="en-US" dirty="0"/>
              <a:t>, which is important if we care about where in the process the effect lives.”</a:t>
            </a:r>
          </a:p>
          <a:p>
            <a:r>
              <a:rPr lang="en-US" dirty="0"/>
              <a:t>“Third, once we have these log likelihoods per subject and model, we can convert them into a simple model-comparison score that accounts for parameter count – AIC – which I’ll come back to later. That will let us say, in a principled way, which of our models are clearly ruled out by the </a:t>
            </a:r>
            <a:r>
              <a:rPr lang="en-US" dirty="0" err="1"/>
              <a:t>behaviour</a:t>
            </a:r>
            <a:r>
              <a:rPr lang="en-US" dirty="0"/>
              <a:t> and where two different process stories are effectively tied.”</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12</a:t>
            </a:fld>
            <a:endParaRPr lang="en-GB" altLang="en-US"/>
          </a:p>
        </p:txBody>
      </p:sp>
    </p:spTree>
    <p:extLst>
      <p:ext uri="{BB962C8B-B14F-4D97-AF65-F5344CB8AC3E}">
        <p14:creationId xmlns:p14="http://schemas.microsoft.com/office/powerpoint/2010/main" val="29879828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Objective</a:t>
            </a:r>
            <a:endParaRPr lang="en-US" dirty="0"/>
          </a:p>
          <a:p>
            <a:r>
              <a:rPr lang="en-US" dirty="0"/>
              <a:t>Make Q3 concrete in words: show that there are at least two mechanistic ways to read the GLMM interaction, and that these will become your competing model variants.</a:t>
            </a:r>
          </a:p>
          <a:p>
            <a:r>
              <a:rPr lang="en-US" b="1" dirty="0"/>
              <a:t>Key things to say</a:t>
            </a:r>
            <a:endParaRPr lang="en-US" dirty="0"/>
          </a:p>
          <a:p>
            <a:r>
              <a:rPr lang="en-US" dirty="0"/>
              <a:t>“The mixed model told us that recall depends on emotion, Early LPP, and their interaction: LPP is more strongly related to recall within negative items than within neutral items.”</a:t>
            </a:r>
          </a:p>
          <a:p>
            <a:r>
              <a:rPr lang="en-US" dirty="0"/>
              <a:t>“The natural story is to say: LPP must have a special, extra impact on the encoding of negative items. That’s Story B, the explicit encoding interaction story.”</a:t>
            </a:r>
          </a:p>
          <a:p>
            <a:r>
              <a:rPr lang="en-US" dirty="0"/>
              <a:t>“But there is another possibility. In Story A, emotion and LPP each add to encoding strength, and the way those strengths feed into a nonlinear competitive recall process creates an effective LPP × emotion interaction at the level of recall probabilities, even without an explicit interaction term in the learning rule.”</a:t>
            </a:r>
          </a:p>
          <a:p>
            <a:r>
              <a:rPr lang="en-US" dirty="0"/>
              <a:t>“Both stories are compatible with the GLMM. The modelling question is whether the full pattern of recall sets forces us towards one of them, or whether, for this dataset, they remain equally plausible.”</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13</a:t>
            </a:fld>
            <a:endParaRPr lang="en-GB" altLang="en-US"/>
          </a:p>
        </p:txBody>
      </p:sp>
    </p:spTree>
    <p:extLst>
      <p:ext uri="{BB962C8B-B14F-4D97-AF65-F5344CB8AC3E}">
        <p14:creationId xmlns:p14="http://schemas.microsoft.com/office/powerpoint/2010/main" val="33759723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these stories we embed them in a simple recall model with two main stages.”</a:t>
            </a:r>
          </a:p>
          <a:p>
            <a:r>
              <a:rPr lang="en-US" dirty="0"/>
              <a:t>“At study, items are encoded with a strength Sᵢ and linked to a context representation. At test, a cue drives a context state that activates items based on their similarity to the cue and their strength, and a competitive choice rule produces recalls or a STOP decision.”</a:t>
            </a:r>
          </a:p>
          <a:p>
            <a:r>
              <a:rPr lang="en-US" dirty="0"/>
              <a:t>“Across all the models I’ll show you, the retrieval stage – context dynamics, similarity, and competition – is the same.”</a:t>
            </a:r>
          </a:p>
          <a:p>
            <a:r>
              <a:rPr lang="en-US" dirty="0"/>
              <a:t>“What we’re going to manipulate is the encoding rule: how emotion and LPP are allowed to feed into the encoding strength Sᵢ.”</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14</a:t>
            </a:fld>
            <a:endParaRPr lang="en-GB" altLang="en-US"/>
          </a:p>
        </p:txBody>
      </p:sp>
    </p:spTree>
    <p:extLst>
      <p:ext uri="{BB962C8B-B14F-4D97-AF65-F5344CB8AC3E}">
        <p14:creationId xmlns:p14="http://schemas.microsoft.com/office/powerpoint/2010/main" val="15257323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emotion-only model, Model 0, never sees LPP. It just implements a generic emotional boost at encoding plus the standard retrieval dynamics.”</a:t>
            </a:r>
          </a:p>
          <a:p>
            <a:r>
              <a:rPr lang="en-US" dirty="0"/>
              <a:t>“Model 1, the EEG main-effects model, lets emotion and LPP each influence encoding strength Sᵢ additively. In this model, any LPP × emotion interaction in recall has to come from the nonlinearity in the competitive retrieval process.”</a:t>
            </a:r>
          </a:p>
          <a:p>
            <a:r>
              <a:rPr lang="en-US" dirty="0"/>
              <a:t>“Model 2, the EEG interaction model, adds an explicit Emotion × LPP term in the encoding rule, so the interaction is literally in the trace: emotional items with high LPP get a special boost at encoding.”</a:t>
            </a:r>
          </a:p>
          <a:p>
            <a:r>
              <a:rPr lang="en-US" dirty="0"/>
              <a:t>“These three models are the formal counterparts of the stories we just outlined: emotion-only, main-effects plus competition, and explicit encoding interaction.”</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15</a:t>
            </a:fld>
            <a:endParaRPr lang="en-GB" altLang="en-US"/>
          </a:p>
        </p:txBody>
      </p:sp>
    </p:spTree>
    <p:extLst>
      <p:ext uri="{BB962C8B-B14F-4D97-AF65-F5344CB8AC3E}">
        <p14:creationId xmlns:p14="http://schemas.microsoft.com/office/powerpoint/2010/main" val="30730784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away from this dataset, what are some general rules of thumb for choosing models to compare?”</a:t>
            </a:r>
          </a:p>
          <a:p>
            <a:r>
              <a:rPr lang="en-US" dirty="0"/>
              <a:t>“First, you want models to differ in focused ways: ideally one mechanistic ingredient at a time. Here, the ingredient we’re playing with is where and how LPP and emotion enter the encoding rule.”</a:t>
            </a:r>
          </a:p>
          <a:p>
            <a:r>
              <a:rPr lang="en-US" dirty="0"/>
              <a:t>“Second, you want a baseline that is psychologically meaningful, not just an obviously bad model. In our case, an emotion-only recall model that never sees LPP is a reasonable baseline.”</a:t>
            </a:r>
          </a:p>
          <a:p>
            <a:r>
              <a:rPr lang="en-US" dirty="0"/>
              <a:t>“Third, you want each model to correspond to a verbal story you could explain to someone in a couple of sentences, because the point is to ask whether that story is clearly ruled out, clearly supported, or simply left underdetermined by the data.”</a:t>
            </a:r>
          </a:p>
          <a:p>
            <a:r>
              <a:rPr lang="en-US" dirty="0"/>
              <a:t>“In the rest of the talk, we’ll see one example of each: an emotion-only model that is clearly ruled out once we look at the fits, and two EEG-aware models where, for this dataset, the </a:t>
            </a:r>
            <a:r>
              <a:rPr lang="en-US" dirty="0" err="1"/>
              <a:t>behaviour</a:t>
            </a:r>
            <a:r>
              <a:rPr lang="en-US" dirty="0"/>
              <a:t> effectively ties them.”</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16</a:t>
            </a:fld>
            <a:endParaRPr lang="en-GB" altLang="en-US"/>
          </a:p>
        </p:txBody>
      </p:sp>
    </p:spTree>
    <p:extLst>
      <p:ext uri="{BB962C8B-B14F-4D97-AF65-F5344CB8AC3E}">
        <p14:creationId xmlns:p14="http://schemas.microsoft.com/office/powerpoint/2010/main" val="33591693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Objective</a:t>
            </a:r>
            <a:endParaRPr lang="en-US" dirty="0"/>
          </a:p>
          <a:p>
            <a:r>
              <a:rPr lang="en-US" dirty="0"/>
              <a:t>Explain how you turn the log-likelihoods you just defined into a comparison score that accounts for parameter count. This answers Q4’s “how do we compare models?” at a high level.</a:t>
            </a:r>
          </a:p>
          <a:p>
            <a:r>
              <a:rPr lang="en-US" b="1" dirty="0"/>
              <a:t>What you say</a:t>
            </a:r>
            <a:endParaRPr lang="en-US" dirty="0"/>
          </a:p>
          <a:p>
            <a:r>
              <a:rPr lang="en-US" dirty="0"/>
              <a:t>“For each participant and each model we have a log likelihood from the set-based fit: how probable their recall sets are under that model at its best-fitting parameters.”</a:t>
            </a:r>
          </a:p>
          <a:p>
            <a:r>
              <a:rPr lang="en-US" dirty="0"/>
              <a:t>“We use AIC to turn that into a model score. It rewards high log likelihood but </a:t>
            </a:r>
            <a:r>
              <a:rPr lang="en-US" dirty="0" err="1"/>
              <a:t>penalises</a:t>
            </a:r>
            <a:r>
              <a:rPr lang="en-US" dirty="0"/>
              <a:t> models with more free parameters.”</a:t>
            </a:r>
          </a:p>
          <a:p>
            <a:r>
              <a:rPr lang="en-US" dirty="0"/>
              <a:t>“Formally, AIC is 2 times the number of parameters minus 2 times the log likelihood; the important part is that lower AIC means better expected predictive performance for that participant, after accounting for model complexity.”</a:t>
            </a:r>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17</a:t>
            </a:fld>
            <a:endParaRPr lang="en-GB" altLang="en-US"/>
          </a:p>
        </p:txBody>
      </p:sp>
    </p:spTree>
    <p:extLst>
      <p:ext uri="{BB962C8B-B14F-4D97-AF65-F5344CB8AC3E}">
        <p14:creationId xmlns:p14="http://schemas.microsoft.com/office/powerpoint/2010/main" val="32510485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Objective</a:t>
            </a:r>
            <a:endParaRPr lang="en-US" dirty="0"/>
          </a:p>
          <a:p>
            <a:r>
              <a:rPr lang="en-US" dirty="0"/>
              <a:t>Deliver the more nuanced conclusion: within the EEG-aware family, the data do </a:t>
            </a:r>
            <a:r>
              <a:rPr lang="en-US" i="1" dirty="0"/>
              <a:t>not</a:t>
            </a:r>
            <a:r>
              <a:rPr lang="en-US" dirty="0"/>
              <a:t> provide a clear preference for the explicit encoding interaction over the main-effects-only model. This is where you demonstrate “under-determination” explicitly.</a:t>
            </a:r>
          </a:p>
          <a:p>
            <a:r>
              <a:rPr lang="en-US" b="1" dirty="0"/>
              <a:t>What you say</a:t>
            </a:r>
            <a:endParaRPr lang="en-US" dirty="0"/>
          </a:p>
          <a:p>
            <a:r>
              <a:rPr lang="en-US" dirty="0"/>
              <a:t>“Now we look at the AIC difference between the EEG main-effects model and the explicit interaction model. Here </a:t>
            </a:r>
            <a:r>
              <a:rPr lang="el-GR" dirty="0"/>
              <a:t>Δ</a:t>
            </a:r>
            <a:r>
              <a:rPr lang="en-US" dirty="0"/>
              <a:t>AIC is AIC main-effects minus AIC interaction, so negative values would </a:t>
            </a:r>
            <a:r>
              <a:rPr lang="en-US" dirty="0" err="1"/>
              <a:t>favour</a:t>
            </a:r>
            <a:r>
              <a:rPr lang="en-US" dirty="0"/>
              <a:t> the interaction model; positive values would </a:t>
            </a:r>
            <a:r>
              <a:rPr lang="en-US" dirty="0" err="1"/>
              <a:t>favour</a:t>
            </a:r>
            <a:r>
              <a:rPr lang="en-US" dirty="0"/>
              <a:t> the main-effects model.”</a:t>
            </a:r>
          </a:p>
          <a:p>
            <a:r>
              <a:rPr lang="en-US" dirty="0"/>
              <a:t>“On average, the interaction model has slightly lower AIC – about half a unit – but the confidence interval crosses zero and sits entirely inside our ±2-unit practical-equivalence band.”</a:t>
            </a:r>
          </a:p>
          <a:p>
            <a:r>
              <a:rPr lang="en-US" dirty="0"/>
              <a:t>“In other words, for this dataset, the two EEG-aware models are effectively tied in AIC terms. The current data do not justify a strong claim that the LPP × emotion effect has to be implemented as an explicit interaction in the learning rule rather than emerging from the nonlinear competition at retrieval.”</a:t>
            </a:r>
          </a:p>
          <a:p>
            <a:r>
              <a:rPr lang="en-US" dirty="0"/>
              <a:t>“From a mechanistic point of view, we’ve learned two things: EEG clearly matters beyond emotion labels, but the GLMM interaction does not uniquely pin down where in the process that effect lives. Both an explicit encoding interaction and a main-effects-plus-competition story are equally compatible with the recall patterns within this model class.”</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18</a:t>
            </a:fld>
            <a:endParaRPr lang="en-GB" altLang="en-US"/>
          </a:p>
        </p:txBody>
      </p:sp>
    </p:spTree>
    <p:extLst>
      <p:ext uri="{BB962C8B-B14F-4D97-AF65-F5344CB8AC3E}">
        <p14:creationId xmlns:p14="http://schemas.microsoft.com/office/powerpoint/2010/main" val="23773346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“Coming back to the four questions I started with, this example shows both what modelling can and cannot do for us.”</a:t>
            </a:r>
          </a:p>
          <a:p>
            <a:r>
              <a:rPr lang="en-US" dirty="0"/>
              <a:t>“First, it sharpened a regression result into a process-level statement: models that incorporate trial-wise LPP clearly outperform an emotion-only model, which we can now talk about in terms of encoding strength and competition in a recall model.”</a:t>
            </a:r>
          </a:p>
          <a:p>
            <a:r>
              <a:rPr lang="en-US" dirty="0"/>
              <a:t>“Second, it helped us see where our intuitions were not warranted. The GLMM interaction by itself does not tell us whether the effect lives in the learning rule or emerges from retrieval dynamics, because both implementations fit essentially equally well under a principled loss.”</a:t>
            </a:r>
          </a:p>
          <a:p>
            <a:r>
              <a:rPr lang="en-US" dirty="0"/>
              <a:t>“More generally, the modelling workflow we walked through – pick a generative model, choose a loss that matches it to the data, </a:t>
            </a:r>
            <a:r>
              <a:rPr lang="en-US" dirty="0" err="1"/>
              <a:t>formalise</a:t>
            </a:r>
            <a:r>
              <a:rPr lang="en-US" dirty="0"/>
              <a:t> competing mechanistic stories as model variants, and compare them carefully – is something you can apply in other tasks and with other signals to see which aspects of your </a:t>
            </a:r>
            <a:r>
              <a:rPr lang="en-US" dirty="0" err="1"/>
              <a:t>favourite</a:t>
            </a:r>
            <a:r>
              <a:rPr lang="en-US" dirty="0"/>
              <a:t> stories are actually constrained, and which remain underdetermined.”</a:t>
            </a:r>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19</a:t>
            </a:fld>
            <a:endParaRPr lang="en-GB" altLang="en-US"/>
          </a:p>
        </p:txBody>
      </p:sp>
    </p:spTree>
    <p:extLst>
      <p:ext uri="{BB962C8B-B14F-4D97-AF65-F5344CB8AC3E}">
        <p14:creationId xmlns:p14="http://schemas.microsoft.com/office/powerpoint/2010/main" val="31296989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Finally I want to thank my collaborators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kern="1200" dirty="0">
                <a:solidFill>
                  <a:srgbClr val="050808"/>
                </a:solidFill>
                <a:latin typeface="Arial" charset="0"/>
              </a:rPr>
              <a:t>Robin Hellerstedt</a:t>
            </a: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Vanessa </a:t>
            </a:r>
            <a:r>
              <a:rPr lang="en-GB" sz="1200" kern="1200" dirty="0" err="1">
                <a:solidFill>
                  <a:schemeClr val="tx1"/>
                </a:solidFill>
                <a:effectLst/>
                <a:latin typeface="Arial" charset="0"/>
                <a:ea typeface="+mn-ea"/>
                <a:cs typeface="+mn-cs"/>
              </a:rPr>
              <a:t>Zarubin</a:t>
            </a: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Katherine </a:t>
            </a:r>
            <a:r>
              <a:rPr lang="en-GB" sz="1200" kern="1200" dirty="0" err="1">
                <a:solidFill>
                  <a:schemeClr val="tx1"/>
                </a:solidFill>
                <a:effectLst/>
                <a:latin typeface="Arial" charset="0"/>
                <a:ea typeface="+mn-ea"/>
                <a:cs typeface="+mn-cs"/>
              </a:rPr>
              <a:t>Mickley</a:t>
            </a:r>
            <a:r>
              <a:rPr lang="en-GB" sz="1200" kern="1200" dirty="0">
                <a:solidFill>
                  <a:schemeClr val="tx1"/>
                </a:solidFill>
                <a:effectLst/>
                <a:latin typeface="Arial" charset="0"/>
                <a:ea typeface="+mn-ea"/>
                <a:cs typeface="+mn-cs"/>
              </a:rPr>
              <a:t> Steinmetz</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Nathaniel Daw</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Deborah </a:t>
            </a:r>
            <a:r>
              <a:rPr lang="en-GB" sz="1200" kern="1200" dirty="0" err="1">
                <a:solidFill>
                  <a:schemeClr val="tx1"/>
                </a:solidFill>
                <a:effectLst/>
                <a:latin typeface="Arial" charset="0"/>
                <a:ea typeface="+mn-ea"/>
                <a:cs typeface="+mn-cs"/>
              </a:rPr>
              <a:t>Talmi</a:t>
            </a: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1"/>
                </a:solidFill>
                <a:effectLst/>
                <a:latin typeface="Arial" charset="0"/>
                <a:ea typeface="+mn-ea"/>
                <a:cs typeface="+mn-cs"/>
              </a:rPr>
              <a:t>And I also want to thank you for listening</a:t>
            </a:r>
          </a:p>
          <a:p>
            <a:endParaRPr lang="en-US" dirty="0"/>
          </a:p>
        </p:txBody>
      </p:sp>
      <p:sp>
        <p:nvSpPr>
          <p:cNvPr id="4" name="Slide Number Placeholder 3"/>
          <p:cNvSpPr>
            <a:spLocks noGrp="1"/>
          </p:cNvSpPr>
          <p:nvPr>
            <p:ph type="sldNum" sz="quarter" idx="5"/>
          </p:nvPr>
        </p:nvSpPr>
        <p:spPr/>
        <p:txBody>
          <a:bodyPr/>
          <a:lstStyle/>
          <a:p>
            <a:fld id="{CEA5AD2E-89E1-4370-8739-344D4E353C41}" type="slidenum">
              <a:rPr lang="en-GB" altLang="en-US" smtClean="0"/>
              <a:pPr/>
              <a:t>20</a:t>
            </a:fld>
            <a:endParaRPr lang="en-GB" altLang="en-US"/>
          </a:p>
        </p:txBody>
      </p:sp>
    </p:spTree>
    <p:extLst>
      <p:ext uri="{BB962C8B-B14F-4D97-AF65-F5344CB8AC3E}">
        <p14:creationId xmlns:p14="http://schemas.microsoft.com/office/powerpoint/2010/main" val="370908795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bwMode="auto">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4" name="Rectangle 13">
            <a:extLst>
              <a:ext uri="{FF2B5EF4-FFF2-40B4-BE49-F238E27FC236}">
                <a16:creationId xmlns:a16="http://schemas.microsoft.com/office/drawing/2014/main" id="{5625AB8A-B804-4C05-BD28-FB95C54EF652}"/>
              </a:ext>
            </a:extLst>
          </p:cNvPr>
          <p:cNvSpPr>
            <a:spLocks noChangeArrowheads="1"/>
          </p:cNvSpPr>
          <p:nvPr/>
        </p:nvSpPr>
        <p:spPr bwMode="auto">
          <a:xfrm>
            <a:off x="0" y="5365750"/>
            <a:ext cx="9140825" cy="665163"/>
          </a:xfrm>
          <a:prstGeom prst="rect">
            <a:avLst/>
          </a:prstGeom>
          <a:solidFill>
            <a:srgbClr val="003E72"/>
          </a:solidFill>
          <a:ln>
            <a:noFill/>
          </a:ln>
          <a:effectLst/>
          <a:extLst>
            <a:ext uri="{91240B29-F687-4F45-9708-019B960494DF}">
              <a14:hiddenLine xmlns:a14="http://schemas.microsoft.com/office/drawing/2010/main" w="127">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p>
        </p:txBody>
      </p:sp>
      <p:sp>
        <p:nvSpPr>
          <p:cNvPr id="5" name="Rectangle 14">
            <a:extLst>
              <a:ext uri="{FF2B5EF4-FFF2-40B4-BE49-F238E27FC236}">
                <a16:creationId xmlns:a16="http://schemas.microsoft.com/office/drawing/2014/main" id="{F7517D6D-681A-4295-9A0D-8CED85D1C217}"/>
              </a:ext>
            </a:extLst>
          </p:cNvPr>
          <p:cNvSpPr>
            <a:spLocks noChangeArrowheads="1"/>
          </p:cNvSpPr>
          <p:nvPr/>
        </p:nvSpPr>
        <p:spPr bwMode="auto">
          <a:xfrm>
            <a:off x="0" y="6030913"/>
            <a:ext cx="9140825" cy="173037"/>
          </a:xfrm>
          <a:prstGeom prst="rect">
            <a:avLst/>
          </a:prstGeom>
          <a:solidFill>
            <a:srgbClr val="6AADE4"/>
          </a:solidFill>
          <a:ln>
            <a:noFill/>
          </a:ln>
          <a:effectLst/>
          <a:extLst>
            <a:ext uri="{91240B29-F687-4F45-9708-019B960494DF}">
              <a14:hiddenLine xmlns:a14="http://schemas.microsoft.com/office/drawing/2010/main" w="127">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p>
        </p:txBody>
      </p:sp>
      <p:sp>
        <p:nvSpPr>
          <p:cNvPr id="5122" name="Rectangle 2"/>
          <p:cNvSpPr>
            <a:spLocks noGrp="1" noChangeArrowheads="1"/>
          </p:cNvSpPr>
          <p:nvPr>
            <p:ph type="ctrTitle"/>
          </p:nvPr>
        </p:nvSpPr>
        <p:spPr>
          <a:xfrm>
            <a:off x="384175" y="2016125"/>
            <a:ext cx="8374063" cy="576263"/>
          </a:xfrm>
        </p:spPr>
        <p:txBody>
          <a:bodyPr/>
          <a:lstStyle>
            <a:lvl1pPr>
              <a:defRPr sz="3600"/>
            </a:lvl1pPr>
          </a:lstStyle>
          <a:p>
            <a:pPr lvl="0"/>
            <a:r>
              <a:rPr lang="en-GB" altLang="en-US" noProof="0"/>
              <a:t>Click to edit Master title style</a:t>
            </a:r>
          </a:p>
        </p:txBody>
      </p:sp>
      <p:sp>
        <p:nvSpPr>
          <p:cNvPr id="5123" name="Rectangle 3"/>
          <p:cNvSpPr>
            <a:spLocks noGrp="1" noChangeArrowheads="1"/>
          </p:cNvSpPr>
          <p:nvPr>
            <p:ph type="subTitle" idx="1"/>
          </p:nvPr>
        </p:nvSpPr>
        <p:spPr>
          <a:xfrm>
            <a:off x="384175" y="2774950"/>
            <a:ext cx="8374063" cy="539750"/>
          </a:xfrm>
        </p:spPr>
        <p:txBody>
          <a:bodyPr/>
          <a:lstStyle>
            <a:lvl1pPr marL="0" indent="0">
              <a:buFontTx/>
              <a:buNone/>
              <a:defRPr sz="1800" b="1">
                <a:solidFill>
                  <a:schemeClr val="tx2"/>
                </a:solidFill>
              </a:defRPr>
            </a:lvl1pPr>
          </a:lstStyle>
          <a:p>
            <a:pPr lvl="0"/>
            <a:r>
              <a:rPr lang="en-GB" altLang="en-US" noProof="0"/>
              <a:t>Click to edit Master subtitle style</a:t>
            </a:r>
          </a:p>
        </p:txBody>
      </p:sp>
      <p:sp>
        <p:nvSpPr>
          <p:cNvPr id="6" name="Rectangle 10">
            <a:extLst>
              <a:ext uri="{FF2B5EF4-FFF2-40B4-BE49-F238E27FC236}">
                <a16:creationId xmlns:a16="http://schemas.microsoft.com/office/drawing/2014/main" id="{4E20DC7D-5229-49FD-AE0A-6709536DD943}"/>
              </a:ext>
            </a:extLst>
          </p:cNvPr>
          <p:cNvSpPr>
            <a:spLocks noGrp="1" noChangeArrowheads="1"/>
          </p:cNvSpPr>
          <p:nvPr>
            <p:ph type="sldNum" sz="quarter" idx="10"/>
          </p:nvPr>
        </p:nvSpPr>
        <p:spPr>
          <a:xfrm>
            <a:off x="7862888" y="6448425"/>
            <a:ext cx="900112" cy="179388"/>
          </a:xfrm>
        </p:spPr>
        <p:txBody>
          <a:bodyPr/>
          <a:lstStyle>
            <a:lvl1pPr>
              <a:defRPr>
                <a:solidFill>
                  <a:schemeClr val="tx1"/>
                </a:solidFill>
              </a:defRPr>
            </a:lvl1pPr>
          </a:lstStyle>
          <a:p>
            <a:fld id="{B97AC216-041A-44A4-B5AB-80C1521BAB14}" type="slidenum">
              <a:rPr lang="en-GB" altLang="en-US"/>
              <a:pPr/>
              <a:t>‹#›</a:t>
            </a:fld>
            <a:endParaRPr lang="en-GB" altLang="en-US"/>
          </a:p>
        </p:txBody>
      </p:sp>
    </p:spTree>
    <p:extLst>
      <p:ext uri="{BB962C8B-B14F-4D97-AF65-F5344CB8AC3E}">
        <p14:creationId xmlns:p14="http://schemas.microsoft.com/office/powerpoint/2010/main" val="40842101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6">
            <a:extLst>
              <a:ext uri="{FF2B5EF4-FFF2-40B4-BE49-F238E27FC236}">
                <a16:creationId xmlns:a16="http://schemas.microsoft.com/office/drawing/2014/main" id="{D9EA17AB-B8D2-4FBB-8F3A-3C36E1D9E0AE}"/>
              </a:ext>
            </a:extLst>
          </p:cNvPr>
          <p:cNvSpPr>
            <a:spLocks noGrp="1" noChangeArrowheads="1"/>
          </p:cNvSpPr>
          <p:nvPr>
            <p:ph type="sldNum" sz="quarter" idx="10"/>
          </p:nvPr>
        </p:nvSpPr>
        <p:spPr>
          <a:ln/>
        </p:spPr>
        <p:txBody>
          <a:bodyPr/>
          <a:lstStyle>
            <a:lvl1pPr>
              <a:defRPr/>
            </a:lvl1pPr>
          </a:lstStyle>
          <a:p>
            <a:fld id="{2A4D10C6-676A-42AD-AF0A-D202E481C773}" type="slidenum">
              <a:rPr lang="en-GB" altLang="en-US"/>
              <a:pPr/>
              <a:t>‹#›</a:t>
            </a:fld>
            <a:endParaRPr lang="en-GB" altLang="en-US"/>
          </a:p>
        </p:txBody>
      </p:sp>
    </p:spTree>
    <p:extLst>
      <p:ext uri="{BB962C8B-B14F-4D97-AF65-F5344CB8AC3E}">
        <p14:creationId xmlns:p14="http://schemas.microsoft.com/office/powerpoint/2010/main" val="23486882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a:extLst>
              <a:ext uri="{FF2B5EF4-FFF2-40B4-BE49-F238E27FC236}">
                <a16:creationId xmlns:a16="http://schemas.microsoft.com/office/drawing/2014/main" id="{0FEBCDE6-F095-448E-A91C-5229FB1878E8}"/>
              </a:ext>
            </a:extLst>
          </p:cNvPr>
          <p:cNvSpPr>
            <a:spLocks noGrp="1" noChangeArrowheads="1"/>
          </p:cNvSpPr>
          <p:nvPr>
            <p:ph type="sldNum" sz="quarter" idx="10"/>
          </p:nvPr>
        </p:nvSpPr>
        <p:spPr>
          <a:ln/>
        </p:spPr>
        <p:txBody>
          <a:bodyPr/>
          <a:lstStyle>
            <a:lvl1pPr>
              <a:defRPr/>
            </a:lvl1pPr>
          </a:lstStyle>
          <a:p>
            <a:fld id="{BE9A6FEA-E865-43B0-9CBB-C1502FF683E7}" type="slidenum">
              <a:rPr lang="en-GB" altLang="en-US"/>
              <a:pPr/>
              <a:t>‹#›</a:t>
            </a:fld>
            <a:endParaRPr lang="en-GB" altLang="en-US"/>
          </a:p>
        </p:txBody>
      </p:sp>
    </p:spTree>
    <p:extLst>
      <p:ext uri="{BB962C8B-B14F-4D97-AF65-F5344CB8AC3E}">
        <p14:creationId xmlns:p14="http://schemas.microsoft.com/office/powerpoint/2010/main" val="1224981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84175" y="1708150"/>
            <a:ext cx="4110038"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6613" y="1708150"/>
            <a:ext cx="4111625"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6">
            <a:extLst>
              <a:ext uri="{FF2B5EF4-FFF2-40B4-BE49-F238E27FC236}">
                <a16:creationId xmlns:a16="http://schemas.microsoft.com/office/drawing/2014/main" id="{C78F397C-52FB-4AEF-A4BD-A1B4D8834BD2}"/>
              </a:ext>
            </a:extLst>
          </p:cNvPr>
          <p:cNvSpPr>
            <a:spLocks noGrp="1" noChangeArrowheads="1"/>
          </p:cNvSpPr>
          <p:nvPr>
            <p:ph type="sldNum" sz="quarter" idx="10"/>
          </p:nvPr>
        </p:nvSpPr>
        <p:spPr>
          <a:ln/>
        </p:spPr>
        <p:txBody>
          <a:bodyPr/>
          <a:lstStyle>
            <a:lvl1pPr>
              <a:defRPr/>
            </a:lvl1pPr>
          </a:lstStyle>
          <a:p>
            <a:fld id="{DF55023D-4CAB-4A05-9EE6-2A94DFF1D144}" type="slidenum">
              <a:rPr lang="en-GB" altLang="en-US"/>
              <a:pPr/>
              <a:t>‹#›</a:t>
            </a:fld>
            <a:endParaRPr lang="en-GB" altLang="en-US"/>
          </a:p>
        </p:txBody>
      </p:sp>
    </p:spTree>
    <p:extLst>
      <p:ext uri="{BB962C8B-B14F-4D97-AF65-F5344CB8AC3E}">
        <p14:creationId xmlns:p14="http://schemas.microsoft.com/office/powerpoint/2010/main" val="36053884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6">
            <a:extLst>
              <a:ext uri="{FF2B5EF4-FFF2-40B4-BE49-F238E27FC236}">
                <a16:creationId xmlns:a16="http://schemas.microsoft.com/office/drawing/2014/main" id="{7979B699-388C-4529-9C82-930F4C829832}"/>
              </a:ext>
            </a:extLst>
          </p:cNvPr>
          <p:cNvSpPr>
            <a:spLocks noGrp="1" noChangeArrowheads="1"/>
          </p:cNvSpPr>
          <p:nvPr>
            <p:ph type="sldNum" sz="quarter" idx="10"/>
          </p:nvPr>
        </p:nvSpPr>
        <p:spPr>
          <a:ln/>
        </p:spPr>
        <p:txBody>
          <a:bodyPr/>
          <a:lstStyle>
            <a:lvl1pPr>
              <a:defRPr/>
            </a:lvl1pPr>
          </a:lstStyle>
          <a:p>
            <a:fld id="{06ADC1E3-72DD-4285-A87B-2DFA9C60E3AA}" type="slidenum">
              <a:rPr lang="en-GB" altLang="en-US"/>
              <a:pPr/>
              <a:t>‹#›</a:t>
            </a:fld>
            <a:endParaRPr lang="en-GB" altLang="en-US"/>
          </a:p>
        </p:txBody>
      </p:sp>
    </p:spTree>
    <p:extLst>
      <p:ext uri="{BB962C8B-B14F-4D97-AF65-F5344CB8AC3E}">
        <p14:creationId xmlns:p14="http://schemas.microsoft.com/office/powerpoint/2010/main" val="11949471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6">
            <a:extLst>
              <a:ext uri="{FF2B5EF4-FFF2-40B4-BE49-F238E27FC236}">
                <a16:creationId xmlns:a16="http://schemas.microsoft.com/office/drawing/2014/main" id="{82D588D0-AD0E-4314-A631-95E18A584F58}"/>
              </a:ext>
            </a:extLst>
          </p:cNvPr>
          <p:cNvSpPr>
            <a:spLocks noGrp="1" noChangeArrowheads="1"/>
          </p:cNvSpPr>
          <p:nvPr>
            <p:ph type="sldNum" sz="quarter" idx="10"/>
          </p:nvPr>
        </p:nvSpPr>
        <p:spPr>
          <a:ln/>
        </p:spPr>
        <p:txBody>
          <a:bodyPr/>
          <a:lstStyle>
            <a:lvl1pPr>
              <a:defRPr/>
            </a:lvl1pPr>
          </a:lstStyle>
          <a:p>
            <a:fld id="{3F22CD49-8928-488B-B09F-6730EA983BEA}" type="slidenum">
              <a:rPr lang="en-GB" altLang="en-US"/>
              <a:pPr/>
              <a:t>‹#›</a:t>
            </a:fld>
            <a:endParaRPr lang="en-GB" altLang="en-US"/>
          </a:p>
        </p:txBody>
      </p:sp>
    </p:spTree>
    <p:extLst>
      <p:ext uri="{BB962C8B-B14F-4D97-AF65-F5344CB8AC3E}">
        <p14:creationId xmlns:p14="http://schemas.microsoft.com/office/powerpoint/2010/main" val="10330463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435B7FC8-0946-454B-B375-D7BE6401A6E8}"/>
              </a:ext>
            </a:extLst>
          </p:cNvPr>
          <p:cNvSpPr>
            <a:spLocks noGrp="1" noChangeArrowheads="1"/>
          </p:cNvSpPr>
          <p:nvPr>
            <p:ph type="sldNum" sz="quarter" idx="10"/>
          </p:nvPr>
        </p:nvSpPr>
        <p:spPr>
          <a:ln/>
        </p:spPr>
        <p:txBody>
          <a:bodyPr/>
          <a:lstStyle>
            <a:lvl1pPr>
              <a:defRPr/>
            </a:lvl1pPr>
          </a:lstStyle>
          <a:p>
            <a:fld id="{0C66430D-5D7F-4DC0-A9CE-56B173CE581F}" type="slidenum">
              <a:rPr lang="en-GB" altLang="en-US"/>
              <a:pPr/>
              <a:t>‹#›</a:t>
            </a:fld>
            <a:endParaRPr lang="en-GB" altLang="en-US"/>
          </a:p>
        </p:txBody>
      </p:sp>
    </p:spTree>
    <p:extLst>
      <p:ext uri="{BB962C8B-B14F-4D97-AF65-F5344CB8AC3E}">
        <p14:creationId xmlns:p14="http://schemas.microsoft.com/office/powerpoint/2010/main" val="24307617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AF1A47D0-EF0C-45FF-A0CB-86F80988FD1C}"/>
              </a:ext>
            </a:extLst>
          </p:cNvPr>
          <p:cNvSpPr>
            <a:spLocks noGrp="1" noChangeArrowheads="1"/>
          </p:cNvSpPr>
          <p:nvPr>
            <p:ph type="sldNum" sz="quarter" idx="10"/>
          </p:nvPr>
        </p:nvSpPr>
        <p:spPr>
          <a:ln/>
        </p:spPr>
        <p:txBody>
          <a:bodyPr/>
          <a:lstStyle>
            <a:lvl1pPr>
              <a:defRPr/>
            </a:lvl1pPr>
          </a:lstStyle>
          <a:p>
            <a:fld id="{FD3112A3-5F43-48B3-9919-6C69ADA7D71A}" type="slidenum">
              <a:rPr lang="en-GB" altLang="en-US"/>
              <a:pPr/>
              <a:t>‹#›</a:t>
            </a:fld>
            <a:endParaRPr lang="en-GB" altLang="en-US"/>
          </a:p>
        </p:txBody>
      </p:sp>
    </p:spTree>
    <p:extLst>
      <p:ext uri="{BB962C8B-B14F-4D97-AF65-F5344CB8AC3E}">
        <p14:creationId xmlns:p14="http://schemas.microsoft.com/office/powerpoint/2010/main" val="1194820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a:extLst>
              <a:ext uri="{FF2B5EF4-FFF2-40B4-BE49-F238E27FC236}">
                <a16:creationId xmlns:a16="http://schemas.microsoft.com/office/drawing/2014/main" id="{239648E4-5F4D-41DA-86F5-AE988A7C1293}"/>
              </a:ext>
            </a:extLst>
          </p:cNvPr>
          <p:cNvSpPr>
            <a:spLocks noGrp="1" noChangeArrowheads="1"/>
          </p:cNvSpPr>
          <p:nvPr>
            <p:ph type="sldNum" sz="quarter" idx="10"/>
          </p:nvPr>
        </p:nvSpPr>
        <p:spPr>
          <a:ln/>
        </p:spPr>
        <p:txBody>
          <a:bodyPr/>
          <a:lstStyle>
            <a:lvl1pPr>
              <a:defRPr/>
            </a:lvl1pPr>
          </a:lstStyle>
          <a:p>
            <a:fld id="{0879EC82-3A38-42F8-B20F-C4BA196B4427}" type="slidenum">
              <a:rPr lang="en-GB" altLang="en-US"/>
              <a:pPr/>
              <a:t>‹#›</a:t>
            </a:fld>
            <a:endParaRPr lang="en-GB" altLang="en-US"/>
          </a:p>
        </p:txBody>
      </p:sp>
    </p:spTree>
    <p:extLst>
      <p:ext uri="{BB962C8B-B14F-4D97-AF65-F5344CB8AC3E}">
        <p14:creationId xmlns:p14="http://schemas.microsoft.com/office/powerpoint/2010/main" val="414436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6">
            <a:extLst>
              <a:ext uri="{FF2B5EF4-FFF2-40B4-BE49-F238E27FC236}">
                <a16:creationId xmlns:a16="http://schemas.microsoft.com/office/drawing/2014/main" id="{9C73F3B9-EB4B-48B0-A499-3A6BEF8D4633}"/>
              </a:ext>
            </a:extLst>
          </p:cNvPr>
          <p:cNvSpPr>
            <a:spLocks noGrp="1" noChangeArrowheads="1"/>
          </p:cNvSpPr>
          <p:nvPr>
            <p:ph type="sldNum" sz="quarter" idx="10"/>
          </p:nvPr>
        </p:nvSpPr>
        <p:spPr>
          <a:ln/>
        </p:spPr>
        <p:txBody>
          <a:bodyPr/>
          <a:lstStyle>
            <a:lvl1pPr>
              <a:defRPr/>
            </a:lvl1pPr>
          </a:lstStyle>
          <a:p>
            <a:fld id="{0E00A4F9-908B-416C-9D26-7A92CE4F39D6}" type="slidenum">
              <a:rPr lang="en-GB" altLang="en-US"/>
              <a:pPr/>
              <a:t>‹#›</a:t>
            </a:fld>
            <a:endParaRPr lang="en-GB" altLang="en-US"/>
          </a:p>
        </p:txBody>
      </p:sp>
    </p:spTree>
    <p:extLst>
      <p:ext uri="{BB962C8B-B14F-4D97-AF65-F5344CB8AC3E}">
        <p14:creationId xmlns:p14="http://schemas.microsoft.com/office/powerpoint/2010/main" val="420922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65913" y="398463"/>
            <a:ext cx="2093912" cy="537686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384175" y="398463"/>
            <a:ext cx="6129338" cy="53768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6">
            <a:extLst>
              <a:ext uri="{FF2B5EF4-FFF2-40B4-BE49-F238E27FC236}">
                <a16:creationId xmlns:a16="http://schemas.microsoft.com/office/drawing/2014/main" id="{0DF798D2-1C06-4475-BA0D-CA6FB90A27AA}"/>
              </a:ext>
            </a:extLst>
          </p:cNvPr>
          <p:cNvSpPr>
            <a:spLocks noGrp="1" noChangeArrowheads="1"/>
          </p:cNvSpPr>
          <p:nvPr>
            <p:ph type="sldNum" sz="quarter" idx="10"/>
          </p:nvPr>
        </p:nvSpPr>
        <p:spPr>
          <a:ln/>
        </p:spPr>
        <p:txBody>
          <a:bodyPr/>
          <a:lstStyle>
            <a:lvl1pPr>
              <a:defRPr/>
            </a:lvl1pPr>
          </a:lstStyle>
          <a:p>
            <a:fld id="{80954144-9285-4E94-97F5-BA7785277F49}" type="slidenum">
              <a:rPr lang="en-GB" altLang="en-US"/>
              <a:pPr/>
              <a:t>‹#›</a:t>
            </a:fld>
            <a:endParaRPr lang="en-GB" altLang="en-US"/>
          </a:p>
        </p:txBody>
      </p:sp>
    </p:spTree>
    <p:extLst>
      <p:ext uri="{BB962C8B-B14F-4D97-AF65-F5344CB8AC3E}">
        <p14:creationId xmlns:p14="http://schemas.microsoft.com/office/powerpoint/2010/main" val="378503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89B15AB-FD17-404F-A74B-EB6D08463C50}"/>
              </a:ext>
            </a:extLst>
          </p:cNvPr>
          <p:cNvSpPr>
            <a:spLocks noGrp="1" noChangeArrowheads="1"/>
          </p:cNvSpPr>
          <p:nvPr>
            <p:ph type="title"/>
          </p:nvPr>
        </p:nvSpPr>
        <p:spPr bwMode="auto">
          <a:xfrm>
            <a:off x="384175" y="398463"/>
            <a:ext cx="8375650" cy="423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p>
            <a:pPr lvl="0"/>
            <a:r>
              <a:rPr lang="en-GB" altLang="en-US"/>
              <a:t>Click to edit Master title style</a:t>
            </a:r>
          </a:p>
        </p:txBody>
      </p:sp>
      <p:sp>
        <p:nvSpPr>
          <p:cNvPr id="1027" name="Rectangle 3">
            <a:extLst>
              <a:ext uri="{FF2B5EF4-FFF2-40B4-BE49-F238E27FC236}">
                <a16:creationId xmlns:a16="http://schemas.microsoft.com/office/drawing/2014/main" id="{45F34970-0ED4-41B5-B528-16141A7588CE}"/>
              </a:ext>
            </a:extLst>
          </p:cNvPr>
          <p:cNvSpPr>
            <a:spLocks noGrp="1" noChangeArrowheads="1"/>
          </p:cNvSpPr>
          <p:nvPr>
            <p:ph type="body" idx="1"/>
          </p:nvPr>
        </p:nvSpPr>
        <p:spPr bwMode="auto">
          <a:xfrm>
            <a:off x="384175" y="1708150"/>
            <a:ext cx="8374063" cy="406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p>
            <a:pPr lvl="0"/>
            <a:r>
              <a:rPr lang="en-GB" altLang="en-US"/>
              <a:t>Click to edit Master text styles</a:t>
            </a:r>
          </a:p>
          <a:p>
            <a:pPr lvl="1"/>
            <a:r>
              <a:rPr lang="en-GB" altLang="en-US"/>
              <a:t>Second level</a:t>
            </a:r>
          </a:p>
          <a:p>
            <a:pPr lvl="2"/>
            <a:r>
              <a:rPr lang="en-GB" altLang="en-US"/>
              <a:t>Third level</a:t>
            </a:r>
          </a:p>
          <a:p>
            <a:pPr lvl="3"/>
            <a:r>
              <a:rPr lang="en-GB" altLang="en-US"/>
              <a:t>Fourth level</a:t>
            </a:r>
          </a:p>
          <a:p>
            <a:pPr lvl="4"/>
            <a:r>
              <a:rPr lang="en-GB" altLang="en-US"/>
              <a:t>Fifth level</a:t>
            </a:r>
          </a:p>
        </p:txBody>
      </p:sp>
      <p:sp>
        <p:nvSpPr>
          <p:cNvPr id="1030" name="Rectangle 6">
            <a:extLst>
              <a:ext uri="{FF2B5EF4-FFF2-40B4-BE49-F238E27FC236}">
                <a16:creationId xmlns:a16="http://schemas.microsoft.com/office/drawing/2014/main" id="{F1DE82EC-9569-4E10-B1A0-0F2A2411A1CB}"/>
              </a:ext>
            </a:extLst>
          </p:cNvPr>
          <p:cNvSpPr>
            <a:spLocks noGrp="1" noChangeArrowheads="1"/>
          </p:cNvSpPr>
          <p:nvPr>
            <p:ph type="sldNum" sz="quarter" idx="4"/>
          </p:nvPr>
        </p:nvSpPr>
        <p:spPr bwMode="auto">
          <a:xfrm>
            <a:off x="7862888" y="6451600"/>
            <a:ext cx="900112" cy="179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algn="r">
              <a:defRPr sz="1000">
                <a:solidFill>
                  <a:schemeClr val="tx2"/>
                </a:solidFill>
              </a:defRPr>
            </a:lvl1pPr>
          </a:lstStyle>
          <a:p>
            <a:fld id="{4CF5641A-EC8F-47E8-B385-FEB744445A42}" type="slidenum">
              <a:rPr lang="en-GB" altLang="en-US"/>
              <a:pPr/>
              <a:t>‹#›</a:t>
            </a:fld>
            <a:endParaRPr lang="en-GB" altLang="en-US"/>
          </a:p>
        </p:txBody>
      </p:sp>
    </p:spTree>
  </p:cSld>
  <p:clrMap bg1="lt1" tx1="dk1" bg2="lt2" tx2="dk2" accent1="accent1" accent2="accent2" accent3="accent3" accent4="accent4" accent5="accent5" accent6="accent6" hlink="hlink" folHlink="folHlink"/>
  <p:sldLayoutIdLst>
    <p:sldLayoutId id="2147483671"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Lst>
  <p:txStyles>
    <p:titleStyle>
      <a:lvl1pPr algn="l" rtl="0" eaLnBrk="0" fontAlgn="base" hangingPunct="0">
        <a:spcBef>
          <a:spcPct val="0"/>
        </a:spcBef>
        <a:spcAft>
          <a:spcPct val="0"/>
        </a:spcAft>
        <a:defRPr sz="2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p:titleStyle>
    <p:bodyStyle>
      <a:lvl1pPr marL="269875" indent="-269875" algn="l" rtl="0" eaLnBrk="0" fontAlgn="base" hangingPunct="0">
        <a:spcBef>
          <a:spcPct val="0"/>
        </a:spcBef>
        <a:spcAft>
          <a:spcPct val="75000"/>
        </a:spcAft>
        <a:buChar char="•"/>
        <a:defRPr sz="2000">
          <a:solidFill>
            <a:schemeClr val="tx1"/>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F7415F0D-5CE4-4FEC-AEE3-DA8FE2AE2C8F}"/>
              </a:ext>
            </a:extLst>
          </p:cNvPr>
          <p:cNvSpPr>
            <a:spLocks noGrp="1" noChangeArrowheads="1"/>
          </p:cNvSpPr>
          <p:nvPr>
            <p:ph type="ctrTitle"/>
          </p:nvPr>
        </p:nvSpPr>
        <p:spPr>
          <a:xfrm>
            <a:off x="384175" y="1988840"/>
            <a:ext cx="8374063" cy="576263"/>
          </a:xfrm>
        </p:spPr>
        <p:txBody>
          <a:bodyPr/>
          <a:lstStyle/>
          <a:p>
            <a:pPr eaLnBrk="1" hangingPunct="1"/>
            <a:r>
              <a:rPr lang="en-US" altLang="en-US" sz="2800" dirty="0"/>
              <a:t>Assessing neurocognitive hypotheses using likelihood-based models</a:t>
            </a:r>
          </a:p>
        </p:txBody>
      </p:sp>
      <p:sp>
        <p:nvSpPr>
          <p:cNvPr id="3076" name="Rectangle 4">
            <a:extLst>
              <a:ext uri="{FF2B5EF4-FFF2-40B4-BE49-F238E27FC236}">
                <a16:creationId xmlns:a16="http://schemas.microsoft.com/office/drawing/2014/main" id="{B13D353B-4EE6-45FB-850E-FA83841DBAC4}"/>
              </a:ext>
            </a:extLst>
          </p:cNvPr>
          <p:cNvSpPr>
            <a:spLocks noChangeArrowheads="1"/>
          </p:cNvSpPr>
          <p:nvPr/>
        </p:nvSpPr>
        <p:spPr bwMode="auto">
          <a:xfrm>
            <a:off x="376410" y="3645024"/>
            <a:ext cx="8374063" cy="261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GB" altLang="en-US" b="1" dirty="0">
                <a:solidFill>
                  <a:schemeClr val="tx2"/>
                </a:solidFill>
              </a:rPr>
              <a:t>Jordan Gunn</a:t>
            </a:r>
          </a:p>
        </p:txBody>
      </p:sp>
    </p:spTree>
  </p:cSld>
  <p:clrMapOvr>
    <a:masterClrMapping/>
  </p:clrMapOvr>
  <mc:AlternateContent xmlns:mc="http://schemas.openxmlformats.org/markup-compatibility/2006" xmlns:p14="http://schemas.microsoft.com/office/powerpoint/2010/main">
    <mc:Choice Requires="p14">
      <p:transition spd="slow" p14:dur="2000" advTm="20604"/>
    </mc:Choice>
    <mc:Fallback xmlns="">
      <p:transition spd="slow" advTm="206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4E5A-4CEC-DC3F-745F-20BE405E9C27}"/>
              </a:ext>
            </a:extLst>
          </p:cNvPr>
          <p:cNvSpPr>
            <a:spLocks noGrp="1"/>
          </p:cNvSpPr>
          <p:nvPr>
            <p:ph type="title"/>
          </p:nvPr>
        </p:nvSpPr>
        <p:spPr/>
        <p:txBody>
          <a:bodyPr/>
          <a:lstStyle/>
          <a:p>
            <a:r>
              <a:rPr lang="en-US" dirty="0"/>
              <a:t>What I want you to get from this talk</a:t>
            </a:r>
          </a:p>
        </p:txBody>
      </p:sp>
      <p:sp>
        <p:nvSpPr>
          <p:cNvPr id="3" name="Content Placeholder 2">
            <a:extLst>
              <a:ext uri="{FF2B5EF4-FFF2-40B4-BE49-F238E27FC236}">
                <a16:creationId xmlns:a16="http://schemas.microsoft.com/office/drawing/2014/main" id="{E4C5D927-3FCC-5B55-CB14-E4565AE82BAB}"/>
              </a:ext>
            </a:extLst>
          </p:cNvPr>
          <p:cNvSpPr>
            <a:spLocks noGrp="1"/>
          </p:cNvSpPr>
          <p:nvPr>
            <p:ph idx="1"/>
          </p:nvPr>
        </p:nvSpPr>
        <p:spPr>
          <a:xfrm>
            <a:off x="365219" y="1628800"/>
            <a:ext cx="8374063" cy="4067175"/>
          </a:xfrm>
        </p:spPr>
        <p:txBody>
          <a:bodyPr/>
          <a:lstStyle/>
          <a:p>
            <a:pPr marL="457200" indent="-457200">
              <a:spcAft>
                <a:spcPts val="0"/>
              </a:spcAft>
              <a:buFont typeface="+mj-lt"/>
              <a:buAutoNum type="arabicPeriod"/>
            </a:pPr>
            <a:r>
              <a:rPr lang="en-US" b="1" dirty="0"/>
              <a:t>Why build cognitive models as well as statistical models.</a:t>
            </a:r>
          </a:p>
          <a:p>
            <a:pPr lvl="1"/>
            <a:r>
              <a:rPr lang="en-US" dirty="0"/>
              <a:t>How they let us ask questions about process (encoding, retrieval, competition) rather than just “does this signal predict recall”.</a:t>
            </a:r>
          </a:p>
          <a:p>
            <a:pPr marL="457200" indent="-457200">
              <a:spcAft>
                <a:spcPts val="0"/>
              </a:spcAft>
              <a:buFont typeface="+mj-lt"/>
              <a:buAutoNum type="arabicPeriod"/>
            </a:pPr>
            <a:r>
              <a:rPr lang="en-US" b="1" dirty="0"/>
              <a:t>What it means to fit a model by likelihood.</a:t>
            </a:r>
          </a:p>
          <a:p>
            <a:pPr lvl="1"/>
            <a:r>
              <a:rPr lang="en-US" dirty="0"/>
              <a:t>How we connect a generative model to trial-by-trial data, and why that is worth more effort than just matching one curve.</a:t>
            </a:r>
          </a:p>
          <a:p>
            <a:pPr marL="457200" indent="-457200">
              <a:spcAft>
                <a:spcPts val="0"/>
              </a:spcAft>
              <a:buFont typeface="+mj-lt"/>
              <a:buAutoNum type="arabicPeriod"/>
            </a:pPr>
            <a:r>
              <a:rPr lang="en-US" b="1" dirty="0"/>
              <a:t>How to turn verbal hypotheses into models.</a:t>
            </a:r>
          </a:p>
          <a:p>
            <a:pPr lvl="1"/>
            <a:r>
              <a:rPr lang="en-US" dirty="0"/>
              <a:t>How to go from “maybe the EEG signal does X” to a small set of concrete model variants we can actually fit and compare.</a:t>
            </a:r>
          </a:p>
          <a:p>
            <a:pPr marL="457200" indent="-457200">
              <a:spcAft>
                <a:spcPts val="0"/>
              </a:spcAft>
              <a:buFont typeface="+mj-lt"/>
              <a:buAutoNum type="arabicPeriod"/>
            </a:pPr>
            <a:r>
              <a:rPr lang="en-US" b="1" dirty="0"/>
              <a:t>How to compare those models and read the result.</a:t>
            </a:r>
          </a:p>
          <a:p>
            <a:pPr lvl="1"/>
            <a:r>
              <a:rPr lang="en-US" dirty="0"/>
              <a:t>How to see which stories are clearly ruled out, which are supported, and which remain underdetermined by the data.</a:t>
            </a:r>
          </a:p>
        </p:txBody>
      </p:sp>
    </p:spTree>
    <p:extLst>
      <p:ext uri="{BB962C8B-B14F-4D97-AF65-F5344CB8AC3E}">
        <p14:creationId xmlns:p14="http://schemas.microsoft.com/office/powerpoint/2010/main" val="1912863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E4505-22FD-D645-9C34-3FE3C09C88D8}"/>
              </a:ext>
            </a:extLst>
          </p:cNvPr>
          <p:cNvSpPr>
            <a:spLocks noGrp="1"/>
          </p:cNvSpPr>
          <p:nvPr>
            <p:ph type="title"/>
          </p:nvPr>
        </p:nvSpPr>
        <p:spPr>
          <a:xfrm>
            <a:off x="389910" y="207839"/>
            <a:ext cx="8375650" cy="423862"/>
          </a:xfrm>
        </p:spPr>
        <p:txBody>
          <a:bodyPr/>
          <a:lstStyle/>
          <a:p>
            <a:r>
              <a:rPr lang="en-US" dirty="0"/>
              <a:t>Our running example: emotional memory, LPP, and free recall</a:t>
            </a:r>
          </a:p>
        </p:txBody>
      </p:sp>
      <p:sp>
        <p:nvSpPr>
          <p:cNvPr id="5" name="Rounded Rectangle 4">
            <a:extLst>
              <a:ext uri="{FF2B5EF4-FFF2-40B4-BE49-F238E27FC236}">
                <a16:creationId xmlns:a16="http://schemas.microsoft.com/office/drawing/2014/main" id="{71B28D83-E8A1-644A-8C4B-26E87AAA12F5}"/>
              </a:ext>
            </a:extLst>
          </p:cNvPr>
          <p:cNvSpPr/>
          <p:nvPr/>
        </p:nvSpPr>
        <p:spPr>
          <a:xfrm>
            <a:off x="821702" y="4709236"/>
            <a:ext cx="1728192" cy="100811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t>Encoding</a:t>
            </a:r>
            <a:endParaRPr lang="en-US" sz="1400" dirty="0"/>
          </a:p>
          <a:p>
            <a:pPr algn="ctr"/>
            <a:r>
              <a:rPr lang="en-US" sz="1400" dirty="0"/>
              <a:t>22 images</a:t>
            </a:r>
          </a:p>
          <a:p>
            <a:pPr algn="ctr"/>
            <a:r>
              <a:rPr lang="en-US" sz="1400" dirty="0"/>
              <a:t>2s image display</a:t>
            </a:r>
          </a:p>
          <a:p>
            <a:pPr algn="ctr"/>
            <a:r>
              <a:rPr lang="en-US" sz="1400" dirty="0"/>
              <a:t>4s seconds ITI</a:t>
            </a:r>
          </a:p>
        </p:txBody>
      </p:sp>
      <p:sp>
        <p:nvSpPr>
          <p:cNvPr id="6" name="Rounded Rectangle 5">
            <a:extLst>
              <a:ext uri="{FF2B5EF4-FFF2-40B4-BE49-F238E27FC236}">
                <a16:creationId xmlns:a16="http://schemas.microsoft.com/office/drawing/2014/main" id="{0AD01C88-E45C-1349-84A7-420FF63D09FB}"/>
              </a:ext>
            </a:extLst>
          </p:cNvPr>
          <p:cNvSpPr/>
          <p:nvPr/>
        </p:nvSpPr>
        <p:spPr>
          <a:xfrm>
            <a:off x="6156176" y="4709237"/>
            <a:ext cx="1656184" cy="99998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t>Retrieval</a:t>
            </a:r>
            <a:endParaRPr lang="en-US" sz="1400" dirty="0"/>
          </a:p>
          <a:p>
            <a:pPr algn="ctr"/>
            <a:r>
              <a:rPr lang="en-US" sz="1400" dirty="0"/>
              <a:t>Up to 3 minutes</a:t>
            </a:r>
          </a:p>
          <a:p>
            <a:pPr algn="ctr"/>
            <a:endParaRPr lang="en-US" sz="1400" dirty="0"/>
          </a:p>
          <a:p>
            <a:pPr algn="ctr"/>
            <a:endParaRPr lang="en-US" sz="1400" dirty="0"/>
          </a:p>
        </p:txBody>
      </p:sp>
      <p:sp>
        <p:nvSpPr>
          <p:cNvPr id="7" name="Rounded Rectangle 6">
            <a:extLst>
              <a:ext uri="{FF2B5EF4-FFF2-40B4-BE49-F238E27FC236}">
                <a16:creationId xmlns:a16="http://schemas.microsoft.com/office/drawing/2014/main" id="{BB624DC8-6FFA-7844-81ED-F2B3497864EF}"/>
              </a:ext>
            </a:extLst>
          </p:cNvPr>
          <p:cNvSpPr/>
          <p:nvPr/>
        </p:nvSpPr>
        <p:spPr>
          <a:xfrm>
            <a:off x="3401667" y="4709237"/>
            <a:ext cx="1812523" cy="100639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t>Math Distractor Task</a:t>
            </a:r>
            <a:endParaRPr lang="en-US" sz="1400" dirty="0"/>
          </a:p>
          <a:p>
            <a:pPr algn="ctr"/>
            <a:r>
              <a:rPr lang="en-US" sz="1400" dirty="0"/>
              <a:t>1 minute</a:t>
            </a:r>
          </a:p>
          <a:p>
            <a:pPr algn="ctr"/>
            <a:endParaRPr lang="en-US" sz="1400" dirty="0"/>
          </a:p>
        </p:txBody>
      </p:sp>
      <p:sp>
        <p:nvSpPr>
          <p:cNvPr id="10" name="Right Arrow 9">
            <a:extLst>
              <a:ext uri="{FF2B5EF4-FFF2-40B4-BE49-F238E27FC236}">
                <a16:creationId xmlns:a16="http://schemas.microsoft.com/office/drawing/2014/main" id="{5BFA3CB4-85B2-A242-8FB8-673B656A3BA9}"/>
              </a:ext>
            </a:extLst>
          </p:cNvPr>
          <p:cNvSpPr/>
          <p:nvPr/>
        </p:nvSpPr>
        <p:spPr>
          <a:xfrm>
            <a:off x="2777279" y="5101216"/>
            <a:ext cx="432048" cy="21602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41689985-7BFB-3641-8AA4-8E9B492873C9}"/>
              </a:ext>
            </a:extLst>
          </p:cNvPr>
          <p:cNvSpPr/>
          <p:nvPr/>
        </p:nvSpPr>
        <p:spPr>
          <a:xfrm>
            <a:off x="5468164" y="5101216"/>
            <a:ext cx="432048" cy="21602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37A203F-1A3B-D34D-A4BB-3F5AB7CD0518}"/>
              </a:ext>
            </a:extLst>
          </p:cNvPr>
          <p:cNvSpPr txBox="1"/>
          <p:nvPr/>
        </p:nvSpPr>
        <p:spPr>
          <a:xfrm>
            <a:off x="987905" y="5805615"/>
            <a:ext cx="1775557" cy="307777"/>
          </a:xfrm>
          <a:prstGeom prst="rect">
            <a:avLst/>
          </a:prstGeom>
          <a:noFill/>
        </p:spPr>
        <p:txBody>
          <a:bodyPr wrap="square" rtlCol="0">
            <a:spAutoFit/>
          </a:bodyPr>
          <a:lstStyle/>
          <a:p>
            <a:r>
              <a:rPr lang="en-US" sz="1400" dirty="0">
                <a:solidFill>
                  <a:srgbClr val="050808"/>
                </a:solidFill>
              </a:rPr>
              <a:t>EEG Recording</a:t>
            </a:r>
          </a:p>
        </p:txBody>
      </p:sp>
      <p:sp>
        <p:nvSpPr>
          <p:cNvPr id="13" name="Rectangle 4">
            <a:extLst>
              <a:ext uri="{FF2B5EF4-FFF2-40B4-BE49-F238E27FC236}">
                <a16:creationId xmlns:a16="http://schemas.microsoft.com/office/drawing/2014/main" id="{3AF6F1F2-BB62-F944-8100-AD053E665B71}"/>
              </a:ext>
            </a:extLst>
          </p:cNvPr>
          <p:cNvSpPr>
            <a:spLocks noChangeArrowheads="1"/>
          </p:cNvSpPr>
          <p:nvPr/>
        </p:nvSpPr>
        <p:spPr bwMode="auto">
          <a:xfrm>
            <a:off x="2195736" y="6267828"/>
            <a:ext cx="8374063" cy="261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GB" altLang="en-US" sz="1600" b="1" dirty="0" err="1">
                <a:solidFill>
                  <a:schemeClr val="tx2"/>
                </a:solidFill>
              </a:rPr>
              <a:t>Zarubin</a:t>
            </a:r>
            <a:r>
              <a:rPr lang="en-GB" altLang="en-US" sz="1600" b="1" dirty="0">
                <a:solidFill>
                  <a:schemeClr val="tx2"/>
                </a:solidFill>
              </a:rPr>
              <a:t> et al. 2020, </a:t>
            </a:r>
            <a:r>
              <a:rPr lang="en-GB" altLang="en-US" sz="1600" b="1" i="1" dirty="0">
                <a:solidFill>
                  <a:schemeClr val="tx2"/>
                </a:solidFill>
              </a:rPr>
              <a:t>Affective Science</a:t>
            </a:r>
          </a:p>
        </p:txBody>
      </p:sp>
      <p:sp>
        <p:nvSpPr>
          <p:cNvPr id="9" name="Content Placeholder 8">
            <a:extLst>
              <a:ext uri="{FF2B5EF4-FFF2-40B4-BE49-F238E27FC236}">
                <a16:creationId xmlns:a16="http://schemas.microsoft.com/office/drawing/2014/main" id="{410A2F43-9F8B-B8D3-B151-DEC3E0448EA0}"/>
              </a:ext>
            </a:extLst>
          </p:cNvPr>
          <p:cNvSpPr>
            <a:spLocks noGrp="1"/>
          </p:cNvSpPr>
          <p:nvPr>
            <p:ph idx="1"/>
          </p:nvPr>
        </p:nvSpPr>
        <p:spPr>
          <a:xfrm>
            <a:off x="127566" y="1355188"/>
            <a:ext cx="5086624" cy="1150272"/>
          </a:xfrm>
        </p:spPr>
        <p:txBody>
          <a:bodyPr/>
          <a:lstStyle/>
          <a:p>
            <a:pPr>
              <a:spcAft>
                <a:spcPts val="600"/>
              </a:spcAft>
            </a:pPr>
            <a:r>
              <a:rPr lang="en-US" dirty="0">
                <a:solidFill>
                  <a:srgbClr val="050808"/>
                </a:solidFill>
              </a:rPr>
              <a:t>Data from Zarubin et al. 2020, </a:t>
            </a:r>
            <a:r>
              <a:rPr lang="en-US" i="1" dirty="0">
                <a:solidFill>
                  <a:srgbClr val="050808"/>
                </a:solidFill>
              </a:rPr>
              <a:t>Affective Science</a:t>
            </a:r>
          </a:p>
          <a:p>
            <a:pPr>
              <a:spcAft>
                <a:spcPts val="600"/>
              </a:spcAft>
            </a:pPr>
            <a:r>
              <a:rPr lang="en-US" i="1" dirty="0">
                <a:solidFill>
                  <a:srgbClr val="050808"/>
                </a:solidFill>
              </a:rPr>
              <a:t>N = </a:t>
            </a:r>
            <a:r>
              <a:rPr lang="en-US" dirty="0">
                <a:solidFill>
                  <a:srgbClr val="050808"/>
                </a:solidFill>
              </a:rPr>
              <a:t>38</a:t>
            </a:r>
            <a:r>
              <a:rPr lang="en-US" i="1" dirty="0">
                <a:solidFill>
                  <a:srgbClr val="050808"/>
                </a:solidFill>
              </a:rPr>
              <a:t>; </a:t>
            </a:r>
            <a:r>
              <a:rPr lang="en-US" dirty="0">
                <a:solidFill>
                  <a:srgbClr val="050808"/>
                </a:solidFill>
              </a:rPr>
              <a:t>Negative and neutral images shown intermixed in 9 lists.</a:t>
            </a:r>
          </a:p>
          <a:p>
            <a:pPr>
              <a:spcAft>
                <a:spcPts val="600"/>
              </a:spcAft>
            </a:pPr>
            <a:r>
              <a:rPr lang="en-US" altLang="en-US" dirty="0">
                <a:solidFill>
                  <a:srgbClr val="050808"/>
                </a:solidFill>
              </a:rPr>
              <a:t>Measured a widely used ERP index of attention, the Late Positive Potential (LPP)</a:t>
            </a:r>
          </a:p>
          <a:p>
            <a:pPr>
              <a:spcAft>
                <a:spcPts val="600"/>
              </a:spcAft>
            </a:pPr>
            <a:r>
              <a:rPr lang="en-US" altLang="en-US" dirty="0">
                <a:solidFill>
                  <a:srgbClr val="050808"/>
                </a:solidFill>
              </a:rPr>
              <a:t>For each item: emotion label, mean early-window LPP at encoding, recall status (recalled/not recalled)</a:t>
            </a:r>
          </a:p>
        </p:txBody>
      </p:sp>
      <p:pic>
        <p:nvPicPr>
          <p:cNvPr id="17" name="Picture 16">
            <a:extLst>
              <a:ext uri="{FF2B5EF4-FFF2-40B4-BE49-F238E27FC236}">
                <a16:creationId xmlns:a16="http://schemas.microsoft.com/office/drawing/2014/main" id="{51EC3DD7-BAA7-D235-9012-4E18BBD63DB3}"/>
              </a:ext>
            </a:extLst>
          </p:cNvPr>
          <p:cNvPicPr>
            <a:picLocks noChangeAspect="1"/>
          </p:cNvPicPr>
          <p:nvPr/>
        </p:nvPicPr>
        <p:blipFill>
          <a:blip r:embed="rId3"/>
          <a:stretch>
            <a:fillRect/>
          </a:stretch>
        </p:blipFill>
        <p:spPr>
          <a:xfrm>
            <a:off x="5359826" y="1441547"/>
            <a:ext cx="3784174" cy="2221014"/>
          </a:xfrm>
          <a:prstGeom prst="rect">
            <a:avLst/>
          </a:prstGeom>
        </p:spPr>
      </p:pic>
    </p:spTree>
    <p:extLst>
      <p:ext uri="{BB962C8B-B14F-4D97-AF65-F5344CB8AC3E}">
        <p14:creationId xmlns:p14="http://schemas.microsoft.com/office/powerpoint/2010/main" val="2782256909"/>
      </p:ext>
    </p:extLst>
  </p:cSld>
  <p:clrMapOvr>
    <a:masterClrMapping/>
  </p:clrMapOvr>
  <mc:AlternateContent xmlns:mc="http://schemas.openxmlformats.org/markup-compatibility/2006" xmlns:p14="http://schemas.microsoft.com/office/powerpoint/2010/main">
    <mc:Choice Requires="p14">
      <p:transition spd="slow" p14:dur="2000" advTm="21210"/>
    </mc:Choice>
    <mc:Fallback xmlns="">
      <p:transition spd="slow" advTm="2121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1470A-21C1-BB09-CF4D-8FB5CBCB2E31}"/>
              </a:ext>
            </a:extLst>
          </p:cNvPr>
          <p:cNvSpPr>
            <a:spLocks noGrp="1"/>
          </p:cNvSpPr>
          <p:nvPr>
            <p:ph type="title"/>
          </p:nvPr>
        </p:nvSpPr>
        <p:spPr>
          <a:xfrm>
            <a:off x="382588" y="260648"/>
            <a:ext cx="8375650" cy="423862"/>
          </a:xfrm>
        </p:spPr>
        <p:txBody>
          <a:bodyPr/>
          <a:lstStyle/>
          <a:p>
            <a:r>
              <a:rPr lang="en-US" dirty="0"/>
              <a:t>Key Behavioral Result: </a:t>
            </a:r>
            <a:br>
              <a:rPr lang="en-US" dirty="0"/>
            </a:br>
            <a:r>
              <a:rPr lang="en-US" dirty="0"/>
              <a:t>The Emotional Enhancement of Memory (EEM)</a:t>
            </a:r>
            <a:br>
              <a:rPr lang="en-US" dirty="0"/>
            </a:br>
            <a:endParaRPr lang="en-US" dirty="0"/>
          </a:p>
        </p:txBody>
      </p:sp>
      <p:sp>
        <p:nvSpPr>
          <p:cNvPr id="3" name="Content Placeholder 2">
            <a:extLst>
              <a:ext uri="{FF2B5EF4-FFF2-40B4-BE49-F238E27FC236}">
                <a16:creationId xmlns:a16="http://schemas.microsoft.com/office/drawing/2014/main" id="{FA453181-82A7-2919-D026-4D8BEE8FF5FB}"/>
              </a:ext>
            </a:extLst>
          </p:cNvPr>
          <p:cNvSpPr>
            <a:spLocks noGrp="1"/>
          </p:cNvSpPr>
          <p:nvPr>
            <p:ph idx="1"/>
          </p:nvPr>
        </p:nvSpPr>
        <p:spPr>
          <a:xfrm>
            <a:off x="382588" y="2568575"/>
            <a:ext cx="2232248" cy="1720850"/>
          </a:xfrm>
        </p:spPr>
        <p:txBody>
          <a:bodyPr/>
          <a:lstStyle/>
          <a:p>
            <a:pPr marL="0" indent="0">
              <a:buNone/>
            </a:pPr>
            <a:r>
              <a:rPr lang="en-US" dirty="0"/>
              <a:t>Negative items are recalled more often than neutral items across positions.</a:t>
            </a:r>
          </a:p>
        </p:txBody>
      </p:sp>
      <p:pic>
        <p:nvPicPr>
          <p:cNvPr id="3074" name="Picture 2">
            <a:extLst>
              <a:ext uri="{FF2B5EF4-FFF2-40B4-BE49-F238E27FC236}">
                <a16:creationId xmlns:a16="http://schemas.microsoft.com/office/drawing/2014/main" id="{35FA3D16-2569-EE58-D114-273ED2C6B8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2346" y="1412776"/>
            <a:ext cx="6119829" cy="47498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4507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97CF0-ECC8-77CB-BB59-01F824EC98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4FA92D-B59E-C463-8E9E-670E7A2D9836}"/>
              </a:ext>
            </a:extLst>
          </p:cNvPr>
          <p:cNvSpPr>
            <a:spLocks noGrp="1"/>
          </p:cNvSpPr>
          <p:nvPr>
            <p:ph type="title"/>
          </p:nvPr>
        </p:nvSpPr>
        <p:spPr>
          <a:xfrm>
            <a:off x="382588" y="260648"/>
            <a:ext cx="8375650" cy="423862"/>
          </a:xfrm>
        </p:spPr>
        <p:txBody>
          <a:bodyPr/>
          <a:lstStyle/>
          <a:p>
            <a:r>
              <a:rPr lang="en-US" dirty="0"/>
              <a:t>Key Behavioral Result: </a:t>
            </a:r>
            <a:br>
              <a:rPr lang="en-US" dirty="0"/>
            </a:br>
            <a:r>
              <a:rPr lang="en-US" dirty="0"/>
              <a:t>The Emotional Enhancement of LPP</a:t>
            </a:r>
          </a:p>
        </p:txBody>
      </p:sp>
      <p:sp>
        <p:nvSpPr>
          <p:cNvPr id="3" name="Content Placeholder 2">
            <a:extLst>
              <a:ext uri="{FF2B5EF4-FFF2-40B4-BE49-F238E27FC236}">
                <a16:creationId xmlns:a16="http://schemas.microsoft.com/office/drawing/2014/main" id="{B192B03C-E9D7-EA24-6887-DEDCFB54187F}"/>
              </a:ext>
            </a:extLst>
          </p:cNvPr>
          <p:cNvSpPr>
            <a:spLocks noGrp="1"/>
          </p:cNvSpPr>
          <p:nvPr>
            <p:ph idx="1"/>
          </p:nvPr>
        </p:nvSpPr>
        <p:spPr>
          <a:xfrm>
            <a:off x="382588" y="2568575"/>
            <a:ext cx="2232248" cy="1720850"/>
          </a:xfrm>
        </p:spPr>
        <p:txBody>
          <a:bodyPr/>
          <a:lstStyle/>
          <a:p>
            <a:pPr marL="0" indent="0">
              <a:buNone/>
            </a:pPr>
            <a:r>
              <a:rPr lang="en-US" dirty="0"/>
              <a:t>Negative items are recalled more often than neutral items across positions.</a:t>
            </a:r>
          </a:p>
        </p:txBody>
      </p:sp>
      <p:pic>
        <p:nvPicPr>
          <p:cNvPr id="3074" name="Picture 2">
            <a:extLst>
              <a:ext uri="{FF2B5EF4-FFF2-40B4-BE49-F238E27FC236}">
                <a16:creationId xmlns:a16="http://schemas.microsoft.com/office/drawing/2014/main" id="{218DA8AE-0C24-069C-84B8-54F6FE018F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2346" y="1412776"/>
            <a:ext cx="6119829" cy="47498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5638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A9A46E-7FA8-F515-CC2F-A858EBCDE475}"/>
              </a:ext>
            </a:extLst>
          </p:cNvPr>
          <p:cNvSpPr>
            <a:spLocks noGrp="1"/>
          </p:cNvSpPr>
          <p:nvPr>
            <p:ph type="title"/>
          </p:nvPr>
        </p:nvSpPr>
        <p:spPr>
          <a:xfrm>
            <a:off x="245839" y="548680"/>
            <a:ext cx="8652321" cy="504056"/>
          </a:xfrm>
        </p:spPr>
        <p:txBody>
          <a:bodyPr/>
          <a:lstStyle/>
          <a:p>
            <a:r>
              <a:rPr lang="en-US" dirty="0"/>
              <a:t>LPP Predicts Recall More </a:t>
            </a:r>
            <a:r>
              <a:rPr lang="en-US" i="1" dirty="0"/>
              <a:t>Strongly</a:t>
            </a:r>
            <a:r>
              <a:rPr lang="en-US" dirty="0"/>
              <a:t> for Emotional Items</a:t>
            </a:r>
            <a:br>
              <a:rPr lang="en-US" dirty="0"/>
            </a:br>
            <a:endParaRPr lang="en-US" dirty="0"/>
          </a:p>
        </p:txBody>
      </p:sp>
      <p:pic>
        <p:nvPicPr>
          <p:cNvPr id="4098" name="Picture 2">
            <a:extLst>
              <a:ext uri="{FF2B5EF4-FFF2-40B4-BE49-F238E27FC236}">
                <a16:creationId xmlns:a16="http://schemas.microsoft.com/office/drawing/2014/main" id="{31CF294B-D128-2ABB-BA03-280F5E5832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9" y="1765363"/>
            <a:ext cx="4572000" cy="3415507"/>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D5F3E084-E56E-78E8-58D8-F1E9C8D537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9259" y="1765363"/>
            <a:ext cx="4572000" cy="341550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613A151-1E2F-97CC-6D3D-B380BC6E9784}"/>
              </a:ext>
            </a:extLst>
          </p:cNvPr>
          <p:cNvSpPr txBox="1"/>
          <p:nvPr/>
        </p:nvSpPr>
        <p:spPr>
          <a:xfrm>
            <a:off x="122918" y="5247166"/>
            <a:ext cx="8898161" cy="646331"/>
          </a:xfrm>
          <a:prstGeom prst="rect">
            <a:avLst/>
          </a:prstGeom>
          <a:noFill/>
        </p:spPr>
        <p:txBody>
          <a:bodyPr wrap="square">
            <a:spAutoFit/>
          </a:bodyPr>
          <a:lstStyle/>
          <a:p>
            <a:pPr algn="ctr"/>
            <a:r>
              <a:rPr lang="en-US" b="0" i="0" dirty="0">
                <a:solidFill>
                  <a:srgbClr val="050808"/>
                </a:solidFill>
                <a:effectLst/>
                <a:latin typeface="+mn-lt"/>
              </a:rPr>
              <a:t>LPP by recall status and item type</a:t>
            </a:r>
            <a:endParaRPr lang="en-US" dirty="0">
              <a:solidFill>
                <a:srgbClr val="050808"/>
              </a:solidFill>
              <a:latin typeface="+mn-lt"/>
            </a:endParaRPr>
          </a:p>
          <a:p>
            <a:pPr algn="ctr"/>
            <a:r>
              <a:rPr lang="en-US" dirty="0">
                <a:solidFill>
                  <a:srgbClr val="050808"/>
                </a:solidFill>
                <a:latin typeface="+mn-lt"/>
              </a:rPr>
              <a:t>split by NEGATIVE items (LEFT) and NEUTRAL items (RIGHT).</a:t>
            </a:r>
          </a:p>
        </p:txBody>
      </p:sp>
    </p:spTree>
    <p:extLst>
      <p:ext uri="{BB962C8B-B14F-4D97-AF65-F5344CB8AC3E}">
        <p14:creationId xmlns:p14="http://schemas.microsoft.com/office/powerpoint/2010/main" val="1171510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9D0A8-F3E7-613D-DA6B-1C755ECD73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F71F53E-FBA8-44CC-F637-05B8C3717BB9}"/>
              </a:ext>
            </a:extLst>
          </p:cNvPr>
          <p:cNvSpPr>
            <a:spLocks noGrp="1"/>
          </p:cNvSpPr>
          <p:nvPr>
            <p:ph type="title"/>
          </p:nvPr>
        </p:nvSpPr>
        <p:spPr>
          <a:xfrm>
            <a:off x="245839" y="548680"/>
            <a:ext cx="8652321" cy="504056"/>
          </a:xfrm>
        </p:spPr>
        <p:txBody>
          <a:bodyPr/>
          <a:lstStyle/>
          <a:p>
            <a:r>
              <a:rPr lang="en-US" dirty="0"/>
              <a:t>LPP a Poor Index of Emotionality or Recall Alone</a:t>
            </a:r>
          </a:p>
        </p:txBody>
      </p:sp>
      <p:sp>
        <p:nvSpPr>
          <p:cNvPr id="6" name="TextBox 5">
            <a:extLst>
              <a:ext uri="{FF2B5EF4-FFF2-40B4-BE49-F238E27FC236}">
                <a16:creationId xmlns:a16="http://schemas.microsoft.com/office/drawing/2014/main" id="{50FB077A-BCBD-204B-4ABD-E8744AA7A73A}"/>
              </a:ext>
            </a:extLst>
          </p:cNvPr>
          <p:cNvSpPr txBox="1"/>
          <p:nvPr/>
        </p:nvSpPr>
        <p:spPr>
          <a:xfrm>
            <a:off x="122918" y="5247166"/>
            <a:ext cx="8898161" cy="646331"/>
          </a:xfrm>
          <a:prstGeom prst="rect">
            <a:avLst/>
          </a:prstGeom>
          <a:noFill/>
        </p:spPr>
        <p:txBody>
          <a:bodyPr wrap="square">
            <a:spAutoFit/>
          </a:bodyPr>
          <a:lstStyle/>
          <a:p>
            <a:pPr algn="ctr"/>
            <a:r>
              <a:rPr lang="en-US" dirty="0"/>
              <a:t>Early LPP by recall status and item type. </a:t>
            </a:r>
          </a:p>
          <a:p>
            <a:pPr algn="ctr"/>
            <a:r>
              <a:rPr lang="en-US" dirty="0"/>
              <a:t>CIs omitted for clarity; data pooled across participants.</a:t>
            </a:r>
            <a:endParaRPr lang="en-US" dirty="0">
              <a:solidFill>
                <a:srgbClr val="050808"/>
              </a:solidFill>
              <a:latin typeface="+mn-lt"/>
            </a:endParaRPr>
          </a:p>
        </p:txBody>
      </p:sp>
      <p:pic>
        <p:nvPicPr>
          <p:cNvPr id="2" name="Picture 2">
            <a:extLst>
              <a:ext uri="{FF2B5EF4-FFF2-40B4-BE49-F238E27FC236}">
                <a16:creationId xmlns:a16="http://schemas.microsoft.com/office/drawing/2014/main" id="{5E98C90D-553A-88F8-239E-63DE17CEF5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28777" y="1447346"/>
            <a:ext cx="5086442" cy="37998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9905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44045-624D-4CA7-D259-157E06848E20}"/>
              </a:ext>
            </a:extLst>
          </p:cNvPr>
          <p:cNvSpPr>
            <a:spLocks noGrp="1"/>
          </p:cNvSpPr>
          <p:nvPr>
            <p:ph type="title"/>
          </p:nvPr>
        </p:nvSpPr>
        <p:spPr>
          <a:xfrm>
            <a:off x="78938" y="332656"/>
            <a:ext cx="9065061" cy="432048"/>
          </a:xfrm>
        </p:spPr>
        <p:txBody>
          <a:bodyPr/>
          <a:lstStyle/>
          <a:p>
            <a:r>
              <a:rPr lang="en-US" dirty="0"/>
              <a:t>LPP Predicts Recall More </a:t>
            </a:r>
            <a:r>
              <a:rPr lang="en-US" i="1" dirty="0"/>
              <a:t>Strongly</a:t>
            </a:r>
            <a:r>
              <a:rPr lang="en-US" dirty="0"/>
              <a:t> for Emotional Items</a:t>
            </a:r>
            <a:br>
              <a:rPr lang="en-US" dirty="0"/>
            </a:br>
            <a:endParaRPr lang="en-US" dirty="0"/>
          </a:p>
        </p:txBody>
      </p:sp>
      <p:sp>
        <p:nvSpPr>
          <p:cNvPr id="3" name="Content Placeholder 2">
            <a:extLst>
              <a:ext uri="{FF2B5EF4-FFF2-40B4-BE49-F238E27FC236}">
                <a16:creationId xmlns:a16="http://schemas.microsoft.com/office/drawing/2014/main" id="{A9E9F47F-945D-BB36-2CEF-30E5FC4715EC}"/>
              </a:ext>
            </a:extLst>
          </p:cNvPr>
          <p:cNvSpPr>
            <a:spLocks noGrp="1"/>
          </p:cNvSpPr>
          <p:nvPr>
            <p:ph idx="1"/>
          </p:nvPr>
        </p:nvSpPr>
        <p:spPr>
          <a:xfrm>
            <a:off x="78939" y="1395412"/>
            <a:ext cx="8986121" cy="4067175"/>
          </a:xfrm>
        </p:spPr>
        <p:txBody>
          <a:bodyPr/>
          <a:lstStyle/>
          <a:p>
            <a:pPr>
              <a:spcAft>
                <a:spcPts val="600"/>
              </a:spcAft>
            </a:pPr>
            <a:r>
              <a:rPr lang="en-US" dirty="0"/>
              <a:t>Logistic mixed effects model predicting recall:</a:t>
            </a:r>
          </a:p>
          <a:p>
            <a:pPr lvl="1">
              <a:spcAft>
                <a:spcPts val="600"/>
              </a:spcAft>
            </a:pPr>
            <a:r>
              <a:rPr lang="en-US" dirty="0"/>
              <a:t>Negative items recalled more than neutral (emotion main effect, p &lt; .05)</a:t>
            </a:r>
          </a:p>
          <a:p>
            <a:pPr lvl="1">
              <a:spcAft>
                <a:spcPts val="600"/>
              </a:spcAft>
            </a:pPr>
            <a:r>
              <a:rPr lang="en-US" dirty="0"/>
              <a:t>Higher LPP predicts higher recall probability (LPP main effect, p &lt; .05)</a:t>
            </a:r>
          </a:p>
          <a:p>
            <a:pPr lvl="1">
              <a:spcAft>
                <a:spcPts val="600"/>
              </a:spcAft>
            </a:pPr>
            <a:r>
              <a:rPr lang="en-US" dirty="0"/>
              <a:t>LPP–recall relationship steeper for negative than neutral items (interaction, p&lt;.05).</a:t>
            </a:r>
          </a:p>
        </p:txBody>
      </p:sp>
      <p:pic>
        <p:nvPicPr>
          <p:cNvPr id="4" name="Picture 3" descr="A picture containing text&#10;&#10;Description automatically generated">
            <a:extLst>
              <a:ext uri="{FF2B5EF4-FFF2-40B4-BE49-F238E27FC236}">
                <a16:creationId xmlns:a16="http://schemas.microsoft.com/office/drawing/2014/main" id="{7AEE75B5-840C-8188-6E84-7C6744B6D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1760" y="2924944"/>
            <a:ext cx="6078837" cy="3751512"/>
          </a:xfrm>
          <a:prstGeom prst="rect">
            <a:avLst/>
          </a:prstGeom>
        </p:spPr>
      </p:pic>
    </p:spTree>
    <p:extLst>
      <p:ext uri="{BB962C8B-B14F-4D97-AF65-F5344CB8AC3E}">
        <p14:creationId xmlns:p14="http://schemas.microsoft.com/office/powerpoint/2010/main" val="23475989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2C68744-C95A-838D-0441-407C9AFB6104}"/>
              </a:ext>
            </a:extLst>
          </p:cNvPr>
          <p:cNvSpPr>
            <a:spLocks noGrp="1"/>
          </p:cNvSpPr>
          <p:nvPr>
            <p:ph type="title"/>
          </p:nvPr>
        </p:nvSpPr>
        <p:spPr/>
        <p:txBody>
          <a:bodyPr/>
          <a:lstStyle/>
          <a:p>
            <a:r>
              <a:rPr lang="en-US" dirty="0"/>
              <a:t>Two ways to fit a model</a:t>
            </a:r>
          </a:p>
        </p:txBody>
      </p:sp>
      <p:sp>
        <p:nvSpPr>
          <p:cNvPr id="5" name="Text Placeholder 4">
            <a:extLst>
              <a:ext uri="{FF2B5EF4-FFF2-40B4-BE49-F238E27FC236}">
                <a16:creationId xmlns:a16="http://schemas.microsoft.com/office/drawing/2014/main" id="{D9FF7B59-65B2-07E2-6CAF-90A7111EDDBB}"/>
              </a:ext>
            </a:extLst>
          </p:cNvPr>
          <p:cNvSpPr>
            <a:spLocks noGrp="1"/>
          </p:cNvSpPr>
          <p:nvPr>
            <p:ph type="body" idx="1"/>
          </p:nvPr>
        </p:nvSpPr>
        <p:spPr>
          <a:xfrm>
            <a:off x="424743" y="1055196"/>
            <a:ext cx="4040188" cy="639762"/>
          </a:xfrm>
        </p:spPr>
        <p:txBody>
          <a:bodyPr/>
          <a:lstStyle/>
          <a:p>
            <a:r>
              <a:rPr lang="en-US" dirty="0"/>
              <a:t>Fit to summary curves</a:t>
            </a:r>
            <a:endParaRPr lang="en-US" dirty="0">
              <a:solidFill>
                <a:schemeClr val="bg1"/>
              </a:solidFill>
            </a:endParaRPr>
          </a:p>
        </p:txBody>
      </p:sp>
      <p:sp>
        <p:nvSpPr>
          <p:cNvPr id="6" name="Content Placeholder 5">
            <a:extLst>
              <a:ext uri="{FF2B5EF4-FFF2-40B4-BE49-F238E27FC236}">
                <a16:creationId xmlns:a16="http://schemas.microsoft.com/office/drawing/2014/main" id="{E9A758C5-1BBD-3907-23D8-C03A554B1A89}"/>
              </a:ext>
            </a:extLst>
          </p:cNvPr>
          <p:cNvSpPr>
            <a:spLocks noGrp="1"/>
          </p:cNvSpPr>
          <p:nvPr>
            <p:ph sz="half" idx="2"/>
          </p:nvPr>
        </p:nvSpPr>
        <p:spPr>
          <a:xfrm>
            <a:off x="344863" y="1816298"/>
            <a:ext cx="4040188" cy="3951288"/>
          </a:xfrm>
        </p:spPr>
        <p:txBody>
          <a:bodyPr/>
          <a:lstStyle/>
          <a:p>
            <a:pPr marL="0" indent="0">
              <a:buNone/>
            </a:pPr>
            <a:r>
              <a:rPr lang="en-US" dirty="0"/>
              <a:t>pick curves, pick weights, tune parameters so curves line up.</a:t>
            </a:r>
          </a:p>
        </p:txBody>
      </p:sp>
      <p:sp>
        <p:nvSpPr>
          <p:cNvPr id="7" name="Text Placeholder 6">
            <a:extLst>
              <a:ext uri="{FF2B5EF4-FFF2-40B4-BE49-F238E27FC236}">
                <a16:creationId xmlns:a16="http://schemas.microsoft.com/office/drawing/2014/main" id="{E354620F-68EB-0F72-860D-20D5B7FB0B4B}"/>
              </a:ext>
            </a:extLst>
          </p:cNvPr>
          <p:cNvSpPr>
            <a:spLocks noGrp="1"/>
          </p:cNvSpPr>
          <p:nvPr>
            <p:ph type="body" sz="quarter" idx="3"/>
          </p:nvPr>
        </p:nvSpPr>
        <p:spPr>
          <a:xfrm>
            <a:off x="4645025" y="1375077"/>
            <a:ext cx="4041775" cy="639762"/>
          </a:xfrm>
        </p:spPr>
        <p:txBody>
          <a:bodyPr/>
          <a:lstStyle/>
          <a:p>
            <a:pPr algn="r"/>
            <a:r>
              <a:rPr lang="en-US" dirty="0"/>
              <a:t>Fit to trial-level </a:t>
            </a:r>
            <a:r>
              <a:rPr lang="en-US" dirty="0" err="1"/>
              <a:t>behaviour</a:t>
            </a:r>
            <a:r>
              <a:rPr lang="en-US" dirty="0"/>
              <a:t> (likelihood)</a:t>
            </a:r>
          </a:p>
        </p:txBody>
      </p:sp>
      <p:sp>
        <p:nvSpPr>
          <p:cNvPr id="8" name="Content Placeholder 7">
            <a:extLst>
              <a:ext uri="{FF2B5EF4-FFF2-40B4-BE49-F238E27FC236}">
                <a16:creationId xmlns:a16="http://schemas.microsoft.com/office/drawing/2014/main" id="{72B3A3FD-FAF3-7671-8DDB-8B3EC95C5C99}"/>
              </a:ext>
            </a:extLst>
          </p:cNvPr>
          <p:cNvSpPr>
            <a:spLocks noGrp="1"/>
          </p:cNvSpPr>
          <p:nvPr>
            <p:ph sz="quarter" idx="4"/>
          </p:nvPr>
        </p:nvSpPr>
        <p:spPr/>
        <p:txBody>
          <a:bodyPr/>
          <a:lstStyle/>
          <a:p>
            <a:pPr marL="0" indent="0" algn="r">
              <a:buNone/>
            </a:pPr>
            <a:r>
              <a:rPr lang="en-US" dirty="0"/>
              <a:t>treat the model as generating trial </a:t>
            </a:r>
            <a:r>
              <a:rPr lang="en-US" dirty="0" err="1"/>
              <a:t>behaviour</a:t>
            </a:r>
            <a:r>
              <a:rPr lang="en-US" dirty="0"/>
              <a:t> and score how probable the actual recall sets are.</a:t>
            </a:r>
          </a:p>
        </p:txBody>
      </p:sp>
      <p:grpSp>
        <p:nvGrpSpPr>
          <p:cNvPr id="11" name="Group 10">
            <a:extLst>
              <a:ext uri="{FF2B5EF4-FFF2-40B4-BE49-F238E27FC236}">
                <a16:creationId xmlns:a16="http://schemas.microsoft.com/office/drawing/2014/main" id="{97B8F92B-5DAE-29B9-E654-FD7648BBAE4C}"/>
              </a:ext>
            </a:extLst>
          </p:cNvPr>
          <p:cNvGrpSpPr/>
          <p:nvPr/>
        </p:nvGrpSpPr>
        <p:grpSpPr>
          <a:xfrm>
            <a:off x="1547664" y="4003720"/>
            <a:ext cx="7987798" cy="2133198"/>
            <a:chOff x="977463" y="2459421"/>
            <a:chExt cx="7987798" cy="2133198"/>
          </a:xfrm>
        </p:grpSpPr>
        <p:sp>
          <p:nvSpPr>
            <p:cNvPr id="12" name="Thought Bubble: Cloud 9">
              <a:extLst>
                <a:ext uri="{FF2B5EF4-FFF2-40B4-BE49-F238E27FC236}">
                  <a16:creationId xmlns:a16="http://schemas.microsoft.com/office/drawing/2014/main" id="{BE1E327B-867E-F039-62EE-1819CD58BB9C}"/>
                </a:ext>
              </a:extLst>
            </p:cNvPr>
            <p:cNvSpPr/>
            <p:nvPr/>
          </p:nvSpPr>
          <p:spPr>
            <a:xfrm>
              <a:off x="7039147" y="2897753"/>
              <a:ext cx="1517783" cy="1062494"/>
            </a:xfrm>
            <a:prstGeom prst="cloudCallout">
              <a:avLst>
                <a:gd name="adj1" fmla="val -51715"/>
                <a:gd name="adj2" fmla="val -45830"/>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166AB4BC-DEF8-32A1-A42F-B869358C855C}"/>
                </a:ext>
              </a:extLst>
            </p:cNvPr>
            <p:cNvSpPr txBox="1"/>
            <p:nvPr/>
          </p:nvSpPr>
          <p:spPr>
            <a:xfrm>
              <a:off x="7183886" y="3025445"/>
              <a:ext cx="1329492" cy="646331"/>
            </a:xfrm>
            <a:prstGeom prst="rect">
              <a:avLst/>
            </a:prstGeom>
            <a:noFill/>
          </p:spPr>
          <p:txBody>
            <a:bodyPr wrap="square">
              <a:spAutoFit/>
            </a:bodyPr>
            <a:lstStyle/>
            <a:p>
              <a:r>
                <a:rPr lang="en-US" sz="3600" b="1" dirty="0">
                  <a:solidFill>
                    <a:srgbClr val="92D050"/>
                  </a:solidFill>
                </a:rPr>
                <a:t>D</a:t>
              </a:r>
              <a:r>
                <a:rPr lang="en-US" sz="3600" b="1" dirty="0"/>
                <a:t>…?</a:t>
              </a:r>
              <a:endParaRPr lang="en-US" sz="3600" dirty="0"/>
            </a:p>
          </p:txBody>
        </p:sp>
        <p:cxnSp>
          <p:nvCxnSpPr>
            <p:cNvPr id="14" name="Straight Connector 13">
              <a:extLst>
                <a:ext uri="{FF2B5EF4-FFF2-40B4-BE49-F238E27FC236}">
                  <a16:creationId xmlns:a16="http://schemas.microsoft.com/office/drawing/2014/main" id="{58A24646-E781-9539-C9D7-E3D73EB4307E}"/>
                </a:ext>
              </a:extLst>
            </p:cNvPr>
            <p:cNvCxnSpPr>
              <a:cxnSpLocks/>
            </p:cNvCxnSpPr>
            <p:nvPr/>
          </p:nvCxnSpPr>
          <p:spPr>
            <a:xfrm flipV="1">
              <a:off x="6779172" y="2459421"/>
              <a:ext cx="0" cy="1987421"/>
            </a:xfrm>
            <a:prstGeom prst="line">
              <a:avLst/>
            </a:prstGeom>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4FD93937-1BB2-A207-C9A2-201B860AAFF6}"/>
                </a:ext>
              </a:extLst>
            </p:cNvPr>
            <p:cNvSpPr txBox="1"/>
            <p:nvPr/>
          </p:nvSpPr>
          <p:spPr>
            <a:xfrm>
              <a:off x="977463" y="4077510"/>
              <a:ext cx="1560785" cy="369332"/>
            </a:xfrm>
            <a:prstGeom prst="rect">
              <a:avLst/>
            </a:prstGeom>
            <a:noFill/>
          </p:spPr>
          <p:txBody>
            <a:bodyPr wrap="square" rtlCol="0">
              <a:spAutoFit/>
            </a:bodyPr>
            <a:lstStyle/>
            <a:p>
              <a:r>
                <a:rPr lang="en-US" dirty="0">
                  <a:solidFill>
                    <a:schemeClr val="bg1"/>
                  </a:solidFill>
                </a:rPr>
                <a:t>Study</a:t>
              </a:r>
            </a:p>
          </p:txBody>
        </p:sp>
        <p:sp>
          <p:nvSpPr>
            <p:cNvPr id="16" name="TextBox 15">
              <a:extLst>
                <a:ext uri="{FF2B5EF4-FFF2-40B4-BE49-F238E27FC236}">
                  <a16:creationId xmlns:a16="http://schemas.microsoft.com/office/drawing/2014/main" id="{D81F9602-3E98-A48C-D975-8BB6E25E79F5}"/>
                </a:ext>
              </a:extLst>
            </p:cNvPr>
            <p:cNvSpPr txBox="1"/>
            <p:nvPr/>
          </p:nvSpPr>
          <p:spPr>
            <a:xfrm>
              <a:off x="7039147" y="4223287"/>
              <a:ext cx="1926114" cy="369332"/>
            </a:xfrm>
            <a:prstGeom prst="rect">
              <a:avLst/>
            </a:prstGeom>
            <a:noFill/>
          </p:spPr>
          <p:txBody>
            <a:bodyPr wrap="square" rtlCol="0">
              <a:spAutoFit/>
            </a:bodyPr>
            <a:lstStyle/>
            <a:p>
              <a:r>
                <a:rPr lang="en-US" dirty="0">
                  <a:solidFill>
                    <a:srgbClr val="050808"/>
                  </a:solidFill>
                </a:rPr>
                <a:t>Recall</a:t>
              </a:r>
            </a:p>
          </p:txBody>
        </p:sp>
      </p:grpSp>
      <p:sp>
        <p:nvSpPr>
          <p:cNvPr id="17" name="Arrow: Curved Up 3">
            <a:extLst>
              <a:ext uri="{FF2B5EF4-FFF2-40B4-BE49-F238E27FC236}">
                <a16:creationId xmlns:a16="http://schemas.microsoft.com/office/drawing/2014/main" id="{06BD220C-6DCB-70E9-E5BA-F67940F1D3F4}"/>
              </a:ext>
            </a:extLst>
          </p:cNvPr>
          <p:cNvSpPr/>
          <p:nvPr/>
        </p:nvSpPr>
        <p:spPr>
          <a:xfrm rot="10800000">
            <a:off x="5923895" y="3811038"/>
            <a:ext cx="2494938" cy="598989"/>
          </a:xfrm>
          <a:prstGeom prst="curvedUp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solidFill>
                <a:schemeClr val="tx1"/>
              </a:solidFill>
            </a:endParaRPr>
          </a:p>
        </p:txBody>
      </p:sp>
      <p:sp>
        <p:nvSpPr>
          <p:cNvPr id="18" name="Arrow: Right 11">
            <a:extLst>
              <a:ext uri="{FF2B5EF4-FFF2-40B4-BE49-F238E27FC236}">
                <a16:creationId xmlns:a16="http://schemas.microsoft.com/office/drawing/2014/main" id="{DFADF74E-020C-A99B-A5ED-C5E56D624B8E}"/>
              </a:ext>
            </a:extLst>
          </p:cNvPr>
          <p:cNvSpPr/>
          <p:nvPr/>
        </p:nvSpPr>
        <p:spPr>
          <a:xfrm>
            <a:off x="6052745" y="5071077"/>
            <a:ext cx="770081" cy="591207"/>
          </a:xfrm>
          <a:prstGeom prst="rightArrow">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CA8C1263-A9F3-D301-1671-9F7469FD5407}"/>
              </a:ext>
            </a:extLst>
          </p:cNvPr>
          <p:cNvSpPr txBox="1"/>
          <p:nvPr/>
        </p:nvSpPr>
        <p:spPr>
          <a:xfrm>
            <a:off x="6201436" y="5149138"/>
            <a:ext cx="472698" cy="400110"/>
          </a:xfrm>
          <a:prstGeom prst="rect">
            <a:avLst/>
          </a:prstGeom>
          <a:noFill/>
        </p:spPr>
        <p:txBody>
          <a:bodyPr wrap="square" rtlCol="0">
            <a:spAutoFit/>
          </a:bodyPr>
          <a:lstStyle/>
          <a:p>
            <a:r>
              <a:rPr lang="en-US" sz="2000" dirty="0"/>
              <a:t>?</a:t>
            </a:r>
          </a:p>
        </p:txBody>
      </p:sp>
      <p:sp>
        <p:nvSpPr>
          <p:cNvPr id="20" name="TextBox 19">
            <a:extLst>
              <a:ext uri="{FF2B5EF4-FFF2-40B4-BE49-F238E27FC236}">
                <a16:creationId xmlns:a16="http://schemas.microsoft.com/office/drawing/2014/main" id="{C395DB85-A0C8-1075-BBF7-BD0D66889720}"/>
              </a:ext>
            </a:extLst>
          </p:cNvPr>
          <p:cNvSpPr txBox="1"/>
          <p:nvPr/>
        </p:nvSpPr>
        <p:spPr>
          <a:xfrm>
            <a:off x="4221074" y="4327647"/>
            <a:ext cx="3124610" cy="923330"/>
          </a:xfrm>
          <a:prstGeom prst="rect">
            <a:avLst/>
          </a:prstGeom>
          <a:noFill/>
        </p:spPr>
        <p:txBody>
          <a:bodyPr wrap="square" rtlCol="0">
            <a:spAutoFit/>
          </a:bodyPr>
          <a:lstStyle/>
          <a:p>
            <a:pPr algn="ctr"/>
            <a:r>
              <a:rPr lang="en-US" sz="3600" dirty="0"/>
              <a:t>A </a:t>
            </a:r>
            <a:r>
              <a:rPr lang="en-US" sz="3600" b="1" dirty="0">
                <a:solidFill>
                  <a:srgbClr val="C00000"/>
                </a:solidFill>
              </a:rPr>
              <a:t>B C </a:t>
            </a:r>
            <a:r>
              <a:rPr lang="en-US" sz="5400" b="1" dirty="0">
                <a:solidFill>
                  <a:srgbClr val="92D050"/>
                </a:solidFill>
              </a:rPr>
              <a:t>D</a:t>
            </a:r>
            <a:r>
              <a:rPr lang="en-US" sz="3600" dirty="0"/>
              <a:t> </a:t>
            </a:r>
            <a:r>
              <a:rPr lang="en-US" sz="3600" b="1" dirty="0">
                <a:solidFill>
                  <a:srgbClr val="C00000"/>
                </a:solidFill>
              </a:rPr>
              <a:t>E</a:t>
            </a:r>
            <a:r>
              <a:rPr lang="en-US" sz="3600" dirty="0"/>
              <a:t> </a:t>
            </a:r>
            <a:r>
              <a:rPr lang="en-US" sz="3600" b="1" dirty="0">
                <a:solidFill>
                  <a:srgbClr val="C00000"/>
                </a:solidFill>
              </a:rPr>
              <a:t>F</a:t>
            </a:r>
            <a:r>
              <a:rPr lang="en-US" sz="3600" dirty="0"/>
              <a:t> </a:t>
            </a:r>
          </a:p>
        </p:txBody>
      </p:sp>
      <p:pic>
        <p:nvPicPr>
          <p:cNvPr id="9" name="Picture 2">
            <a:extLst>
              <a:ext uri="{FF2B5EF4-FFF2-40B4-BE49-F238E27FC236}">
                <a16:creationId xmlns:a16="http://schemas.microsoft.com/office/drawing/2014/main" id="{040425D3-D750-D73D-A3B7-4BB5E9BB72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63938" y="2595093"/>
            <a:ext cx="2315973" cy="1797521"/>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DB81BE82-A87D-DA35-D020-AF206CA88E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250" y="4274688"/>
            <a:ext cx="2520280" cy="18827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E0CAA63-5C42-F9F6-4547-E3FF1C3016B8}"/>
              </a:ext>
            </a:extLst>
          </p:cNvPr>
          <p:cNvSpPr txBox="1"/>
          <p:nvPr/>
        </p:nvSpPr>
        <p:spPr>
          <a:xfrm>
            <a:off x="4775839" y="5660398"/>
            <a:ext cx="774571" cy="369332"/>
          </a:xfrm>
          <a:prstGeom prst="rect">
            <a:avLst/>
          </a:prstGeom>
          <a:noFill/>
        </p:spPr>
        <p:txBody>
          <a:bodyPr wrap="none" rtlCol="0">
            <a:spAutoFit/>
          </a:bodyPr>
          <a:lstStyle/>
          <a:p>
            <a:r>
              <a:rPr lang="en-US" dirty="0"/>
              <a:t>Study</a:t>
            </a:r>
          </a:p>
        </p:txBody>
      </p:sp>
    </p:spTree>
    <p:extLst>
      <p:ext uri="{BB962C8B-B14F-4D97-AF65-F5344CB8AC3E}">
        <p14:creationId xmlns:p14="http://schemas.microsoft.com/office/powerpoint/2010/main" val="856096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B183D5A-9958-655B-9EBA-ACC2FAD2BAD2}"/>
              </a:ext>
            </a:extLst>
          </p:cNvPr>
          <p:cNvSpPr>
            <a:spLocks noGrp="1"/>
          </p:cNvSpPr>
          <p:nvPr>
            <p:ph type="title"/>
          </p:nvPr>
        </p:nvSpPr>
        <p:spPr>
          <a:xfrm>
            <a:off x="251520" y="225904"/>
            <a:ext cx="8375650" cy="423862"/>
          </a:xfrm>
        </p:spPr>
        <p:txBody>
          <a:bodyPr/>
          <a:lstStyle/>
          <a:p>
            <a:r>
              <a:rPr lang="en-US" dirty="0"/>
              <a:t>Ideal likelihood if we had full recall sequences:</a:t>
            </a:r>
            <a:br>
              <a:rPr lang="en-US" dirty="0"/>
            </a:br>
            <a:r>
              <a:rPr lang="en-US" dirty="0"/>
              <a:t>p(</a:t>
            </a:r>
            <a:r>
              <a:rPr lang="en-US" dirty="0" err="1"/>
              <a:t>sequence_t</a:t>
            </a:r>
            <a:r>
              <a:rPr lang="en-US" dirty="0"/>
              <a:t> | model, </a:t>
            </a:r>
            <a:r>
              <a:rPr lang="el-GR" dirty="0"/>
              <a:t>θ) </a:t>
            </a:r>
            <a:r>
              <a:rPr lang="en-US" dirty="0"/>
              <a:t>per trial.</a:t>
            </a:r>
          </a:p>
        </p:txBody>
      </p:sp>
      <p:pic>
        <p:nvPicPr>
          <p:cNvPr id="10" name="Picture 9">
            <a:extLst>
              <a:ext uri="{FF2B5EF4-FFF2-40B4-BE49-F238E27FC236}">
                <a16:creationId xmlns:a16="http://schemas.microsoft.com/office/drawing/2014/main" id="{56235337-7E3C-717E-6D32-1A0231F9045A}"/>
              </a:ext>
            </a:extLst>
          </p:cNvPr>
          <p:cNvPicPr>
            <a:picLocks noChangeAspect="1"/>
          </p:cNvPicPr>
          <p:nvPr/>
        </p:nvPicPr>
        <p:blipFill>
          <a:blip r:embed="rId3"/>
          <a:stretch>
            <a:fillRect/>
          </a:stretch>
        </p:blipFill>
        <p:spPr>
          <a:xfrm>
            <a:off x="685800" y="1484784"/>
            <a:ext cx="7772400" cy="4723450"/>
          </a:xfrm>
          <a:prstGeom prst="rect">
            <a:avLst/>
          </a:prstGeom>
        </p:spPr>
      </p:pic>
      <p:sp>
        <p:nvSpPr>
          <p:cNvPr id="11" name="Rectangle 4">
            <a:extLst>
              <a:ext uri="{FF2B5EF4-FFF2-40B4-BE49-F238E27FC236}">
                <a16:creationId xmlns:a16="http://schemas.microsoft.com/office/drawing/2014/main" id="{90867A8B-95A8-C57E-579E-5F5954FD2581}"/>
              </a:ext>
            </a:extLst>
          </p:cNvPr>
          <p:cNvSpPr>
            <a:spLocks noChangeArrowheads="1"/>
          </p:cNvSpPr>
          <p:nvPr/>
        </p:nvSpPr>
        <p:spPr bwMode="auto">
          <a:xfrm>
            <a:off x="2195736" y="6267828"/>
            <a:ext cx="8374063" cy="261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GB" altLang="en-US" sz="1600" b="1" dirty="0">
                <a:solidFill>
                  <a:schemeClr val="tx2"/>
                </a:solidFill>
              </a:rPr>
              <a:t>Morton &amp; Polyn, 2016. </a:t>
            </a:r>
            <a:r>
              <a:rPr lang="en-GB" altLang="en-US" sz="1600" b="1" i="1" dirty="0">
                <a:solidFill>
                  <a:schemeClr val="tx2"/>
                </a:solidFill>
              </a:rPr>
              <a:t>Journal of memory and language.</a:t>
            </a:r>
          </a:p>
        </p:txBody>
      </p:sp>
    </p:spTree>
    <p:extLst>
      <p:ext uri="{BB962C8B-B14F-4D97-AF65-F5344CB8AC3E}">
        <p14:creationId xmlns:p14="http://schemas.microsoft.com/office/powerpoint/2010/main" val="3416592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E32EF-0559-B1FB-8D27-0B93F9363143}"/>
              </a:ext>
            </a:extLst>
          </p:cNvPr>
          <p:cNvSpPr>
            <a:spLocks noGrp="1"/>
          </p:cNvSpPr>
          <p:nvPr>
            <p:ph type="title"/>
          </p:nvPr>
        </p:nvSpPr>
        <p:spPr/>
        <p:txBody>
          <a:bodyPr/>
          <a:lstStyle/>
          <a:p>
            <a:r>
              <a:rPr lang="en-US" dirty="0"/>
              <a:t>Our data: recall sets, not sequences</a:t>
            </a:r>
          </a:p>
        </p:txBody>
      </p:sp>
      <p:sp>
        <p:nvSpPr>
          <p:cNvPr id="3" name="Content Placeholder 2">
            <a:extLst>
              <a:ext uri="{FF2B5EF4-FFF2-40B4-BE49-F238E27FC236}">
                <a16:creationId xmlns:a16="http://schemas.microsoft.com/office/drawing/2014/main" id="{C52911A3-A185-5574-9D33-770E8B176582}"/>
              </a:ext>
            </a:extLst>
          </p:cNvPr>
          <p:cNvSpPr>
            <a:spLocks noGrp="1"/>
          </p:cNvSpPr>
          <p:nvPr>
            <p:ph idx="1"/>
          </p:nvPr>
        </p:nvSpPr>
        <p:spPr/>
        <p:txBody>
          <a:bodyPr/>
          <a:lstStyle/>
          <a:p>
            <a:r>
              <a:rPr lang="en-US" dirty="0"/>
              <a:t>In Zarubin et al., for each </a:t>
            </a:r>
            <a:r>
              <a:rPr lang="en-US" b="1" dirty="0"/>
              <a:t>list</a:t>
            </a:r>
            <a:r>
              <a:rPr lang="en-US" dirty="0"/>
              <a:t> we know, for each </a:t>
            </a:r>
            <a:r>
              <a:rPr lang="en-US" b="1" dirty="0"/>
              <a:t>item</a:t>
            </a:r>
            <a:r>
              <a:rPr lang="en-US" dirty="0"/>
              <a:t>: emotion label, Early LPP at encoding, and whether it was recalled.</a:t>
            </a:r>
          </a:p>
          <a:p>
            <a:r>
              <a:rPr lang="en-US" dirty="0"/>
              <a:t>We do </a:t>
            </a:r>
            <a:r>
              <a:rPr lang="en-US" b="1" dirty="0"/>
              <a:t>not</a:t>
            </a:r>
            <a:r>
              <a:rPr lang="en-US" dirty="0"/>
              <a:t> know the order of recalls, and buffer items are dropped.</a:t>
            </a:r>
          </a:p>
          <a:p>
            <a:r>
              <a:rPr lang="en-US" dirty="0"/>
              <a:t>So for modelling, each trial is a 20-item list with a recalled </a:t>
            </a:r>
            <a:r>
              <a:rPr lang="en-US" b="1" dirty="0"/>
              <a:t>set</a:t>
            </a:r>
            <a:r>
              <a:rPr lang="en-US" dirty="0"/>
              <a:t> Sₜ, not a full recall sequence.</a:t>
            </a:r>
          </a:p>
          <a:p>
            <a:r>
              <a:rPr lang="en-US" dirty="0"/>
              <a:t>We look at all the sequences that would result in that recalled set – different orders – and we aggregate their probabilities under the model</a:t>
            </a:r>
          </a:p>
          <a:p>
            <a:r>
              <a:rPr lang="en-US" dirty="0"/>
              <a:t>In practice, Monte Carlo approximation</a:t>
            </a:r>
          </a:p>
        </p:txBody>
      </p:sp>
    </p:spTree>
    <p:extLst>
      <p:ext uri="{BB962C8B-B14F-4D97-AF65-F5344CB8AC3E}">
        <p14:creationId xmlns:p14="http://schemas.microsoft.com/office/powerpoint/2010/main" val="32829525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EA8F9-F8B3-A6DF-784C-79D54526D75D}"/>
              </a:ext>
            </a:extLst>
          </p:cNvPr>
          <p:cNvSpPr>
            <a:spLocks noGrp="1"/>
          </p:cNvSpPr>
          <p:nvPr>
            <p:ph type="title"/>
          </p:nvPr>
        </p:nvSpPr>
        <p:spPr/>
        <p:txBody>
          <a:bodyPr/>
          <a:lstStyle/>
          <a:p>
            <a:r>
              <a:rPr lang="en-US" dirty="0"/>
              <a:t>Why we chose </a:t>
            </a:r>
            <a:r>
              <a:rPr lang="en-US" i="1" dirty="0"/>
              <a:t>likelihood</a:t>
            </a:r>
          </a:p>
        </p:txBody>
      </p:sp>
      <p:sp>
        <p:nvSpPr>
          <p:cNvPr id="3" name="Content Placeholder 2">
            <a:extLst>
              <a:ext uri="{FF2B5EF4-FFF2-40B4-BE49-F238E27FC236}">
                <a16:creationId xmlns:a16="http://schemas.microsoft.com/office/drawing/2014/main" id="{F5C594B1-2C57-1937-FCE6-140347B6BCC7}"/>
              </a:ext>
            </a:extLst>
          </p:cNvPr>
          <p:cNvSpPr>
            <a:spLocks noGrp="1"/>
          </p:cNvSpPr>
          <p:nvPr>
            <p:ph idx="1"/>
          </p:nvPr>
        </p:nvSpPr>
        <p:spPr/>
        <p:txBody>
          <a:bodyPr/>
          <a:lstStyle/>
          <a:p>
            <a:r>
              <a:rPr lang="en-US" dirty="0"/>
              <a:t>Uses all the information in which items are recalled on which lists, not just averages or one curve.</a:t>
            </a:r>
          </a:p>
          <a:p>
            <a:r>
              <a:rPr lang="en-US" dirty="0"/>
              <a:t>Respects the encoding + retrieval structure: same parameters generate and score </a:t>
            </a:r>
            <a:r>
              <a:rPr lang="en-US" dirty="0" err="1"/>
              <a:t>behaviour</a:t>
            </a:r>
            <a:r>
              <a:rPr lang="en-US" dirty="0"/>
              <a:t>.</a:t>
            </a:r>
          </a:p>
          <a:p>
            <a:r>
              <a:rPr lang="en-US" dirty="0"/>
              <a:t>Gives a principled log-likelihood we can later turn into a model-comparison score (AIC), rather than eyeballing.</a:t>
            </a:r>
          </a:p>
        </p:txBody>
      </p:sp>
    </p:spTree>
    <p:extLst>
      <p:ext uri="{BB962C8B-B14F-4D97-AF65-F5344CB8AC3E}">
        <p14:creationId xmlns:p14="http://schemas.microsoft.com/office/powerpoint/2010/main" val="1671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2793A-6973-82EA-F358-150B476BD30C}"/>
              </a:ext>
            </a:extLst>
          </p:cNvPr>
          <p:cNvSpPr>
            <a:spLocks noGrp="1"/>
          </p:cNvSpPr>
          <p:nvPr>
            <p:ph type="title"/>
          </p:nvPr>
        </p:nvSpPr>
        <p:spPr>
          <a:xfrm>
            <a:off x="382588" y="260648"/>
            <a:ext cx="8375650" cy="423862"/>
          </a:xfrm>
        </p:spPr>
        <p:txBody>
          <a:bodyPr/>
          <a:lstStyle/>
          <a:p>
            <a:r>
              <a:rPr lang="en-US" dirty="0"/>
              <a:t>GLMM: emotion, LPP, and LPP × emotion interaction in recall.</a:t>
            </a:r>
          </a:p>
        </p:txBody>
      </p:sp>
      <p:sp>
        <p:nvSpPr>
          <p:cNvPr id="3" name="Content Placeholder 2">
            <a:extLst>
              <a:ext uri="{FF2B5EF4-FFF2-40B4-BE49-F238E27FC236}">
                <a16:creationId xmlns:a16="http://schemas.microsoft.com/office/drawing/2014/main" id="{2276FD34-47D6-76E9-1336-FA76E070FEA5}"/>
              </a:ext>
            </a:extLst>
          </p:cNvPr>
          <p:cNvSpPr>
            <a:spLocks noGrp="1"/>
          </p:cNvSpPr>
          <p:nvPr>
            <p:ph idx="1"/>
          </p:nvPr>
        </p:nvSpPr>
        <p:spPr/>
        <p:txBody>
          <a:bodyPr/>
          <a:lstStyle/>
          <a:p>
            <a:pPr lvl="1"/>
            <a:r>
              <a:rPr lang="en-US" b="1" dirty="0"/>
              <a:t>Story A: additive encoding + competition</a:t>
            </a:r>
            <a:endParaRPr lang="en-US" dirty="0"/>
          </a:p>
          <a:p>
            <a:pPr lvl="2"/>
            <a:r>
              <a:rPr lang="en-US" dirty="0"/>
              <a:t>Emotion and LPP each contribute to encoding strength.</a:t>
            </a:r>
          </a:p>
          <a:p>
            <a:pPr lvl="2"/>
            <a:r>
              <a:rPr lang="en-US" dirty="0"/>
              <a:t>Any LPP × emotion interaction in recall emerges from nonlinear competition at retrieval.</a:t>
            </a:r>
          </a:p>
          <a:p>
            <a:pPr lvl="1"/>
            <a:r>
              <a:rPr lang="en-US" b="1" dirty="0"/>
              <a:t>Story B: explicit encoding interaction</a:t>
            </a:r>
            <a:endParaRPr lang="en-US" dirty="0"/>
          </a:p>
          <a:p>
            <a:pPr lvl="2"/>
            <a:r>
              <a:rPr lang="en-US" dirty="0"/>
              <a:t>Encoding strength includes an explicit Emotion × LPP term.</a:t>
            </a:r>
          </a:p>
          <a:p>
            <a:pPr lvl="2"/>
            <a:r>
              <a:rPr lang="en-US" dirty="0"/>
              <a:t>Emotional items get an extra LPP-dependent boost in the learning rule.</a:t>
            </a:r>
          </a:p>
          <a:p>
            <a:endParaRPr lang="en-US" dirty="0"/>
          </a:p>
        </p:txBody>
      </p:sp>
    </p:spTree>
    <p:extLst>
      <p:ext uri="{BB962C8B-B14F-4D97-AF65-F5344CB8AC3E}">
        <p14:creationId xmlns:p14="http://schemas.microsoft.com/office/powerpoint/2010/main" val="3027802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B3849-5D53-918F-4B31-24C8D9EBAA21}"/>
              </a:ext>
            </a:extLst>
          </p:cNvPr>
          <p:cNvSpPr>
            <a:spLocks noGrp="1"/>
          </p:cNvSpPr>
          <p:nvPr>
            <p:ph type="title"/>
          </p:nvPr>
        </p:nvSpPr>
        <p:spPr/>
        <p:txBody>
          <a:bodyPr/>
          <a:lstStyle/>
          <a:p>
            <a:r>
              <a:rPr lang="en-US" dirty="0"/>
              <a:t>Our recall model: encoding and competition</a:t>
            </a:r>
          </a:p>
        </p:txBody>
      </p:sp>
      <p:sp>
        <p:nvSpPr>
          <p:cNvPr id="3" name="Content Placeholder 2">
            <a:extLst>
              <a:ext uri="{FF2B5EF4-FFF2-40B4-BE49-F238E27FC236}">
                <a16:creationId xmlns:a16="http://schemas.microsoft.com/office/drawing/2014/main" id="{AE131928-FE69-619C-87E6-3A9F27379A4F}"/>
              </a:ext>
            </a:extLst>
          </p:cNvPr>
          <p:cNvSpPr>
            <a:spLocks noGrp="1"/>
          </p:cNvSpPr>
          <p:nvPr>
            <p:ph idx="1"/>
          </p:nvPr>
        </p:nvSpPr>
        <p:spPr>
          <a:xfrm>
            <a:off x="288805" y="1549789"/>
            <a:ext cx="8493422" cy="1427966"/>
          </a:xfrm>
        </p:spPr>
        <p:txBody>
          <a:bodyPr/>
          <a:lstStyle/>
          <a:p>
            <a:pPr>
              <a:spcAft>
                <a:spcPts val="1200"/>
              </a:spcAft>
            </a:pPr>
            <a:r>
              <a:rPr lang="en-US" altLang="en-US" dirty="0">
                <a:latin typeface="Arial" panose="020B0604020202020204" pitchFamily="34" charset="0"/>
              </a:rPr>
              <a:t>Encoding: maps item features (emotion, LPP) to context with an encoding strength Sᵢ.</a:t>
            </a:r>
          </a:p>
          <a:p>
            <a:pPr>
              <a:spcAft>
                <a:spcPts val="1200"/>
              </a:spcAft>
            </a:pPr>
            <a:r>
              <a:rPr lang="en-US" altLang="en-US" dirty="0">
                <a:latin typeface="Arial" panose="020B0604020202020204" pitchFamily="34" charset="0"/>
              </a:rPr>
              <a:t>Retrieval: context cue </a:t>
            </a:r>
            <a:r>
              <a:rPr lang="en-US" dirty="0"/>
              <a:t>→ activations (similarity × strength) → competitive choice → Update cue → …</a:t>
            </a:r>
          </a:p>
          <a:p>
            <a:endParaRPr lang="en-US" dirty="0"/>
          </a:p>
        </p:txBody>
      </p:sp>
      <p:sp>
        <p:nvSpPr>
          <p:cNvPr id="18" name="Oval 17">
            <a:extLst>
              <a:ext uri="{FF2B5EF4-FFF2-40B4-BE49-F238E27FC236}">
                <a16:creationId xmlns:a16="http://schemas.microsoft.com/office/drawing/2014/main" id="{AB08B834-1B9F-296E-36A8-EBF4EAA828D3}"/>
              </a:ext>
            </a:extLst>
          </p:cNvPr>
          <p:cNvSpPr/>
          <p:nvPr/>
        </p:nvSpPr>
        <p:spPr>
          <a:xfrm>
            <a:off x="8186066" y="4318330"/>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19" name="Oval 18">
            <a:extLst>
              <a:ext uri="{FF2B5EF4-FFF2-40B4-BE49-F238E27FC236}">
                <a16:creationId xmlns:a16="http://schemas.microsoft.com/office/drawing/2014/main" id="{87B5ACA8-206A-FBC8-C427-A9082A8C914A}"/>
              </a:ext>
            </a:extLst>
          </p:cNvPr>
          <p:cNvSpPr/>
          <p:nvPr/>
        </p:nvSpPr>
        <p:spPr>
          <a:xfrm>
            <a:off x="7428092" y="4318330"/>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20" name="Oval 19">
            <a:extLst>
              <a:ext uri="{FF2B5EF4-FFF2-40B4-BE49-F238E27FC236}">
                <a16:creationId xmlns:a16="http://schemas.microsoft.com/office/drawing/2014/main" id="{F616FEAF-A937-8E48-7D84-6C0489D509B1}"/>
              </a:ext>
            </a:extLst>
          </p:cNvPr>
          <p:cNvSpPr/>
          <p:nvPr/>
        </p:nvSpPr>
        <p:spPr>
          <a:xfrm>
            <a:off x="6715648" y="4345899"/>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21" name="Oval 20">
            <a:extLst>
              <a:ext uri="{FF2B5EF4-FFF2-40B4-BE49-F238E27FC236}">
                <a16:creationId xmlns:a16="http://schemas.microsoft.com/office/drawing/2014/main" id="{5B079B66-0A89-B5D4-483E-A96C4287EDBD}"/>
              </a:ext>
            </a:extLst>
          </p:cNvPr>
          <p:cNvSpPr/>
          <p:nvPr/>
        </p:nvSpPr>
        <p:spPr>
          <a:xfrm>
            <a:off x="5957674" y="4356785"/>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00" dirty="0">
              <a:solidFill>
                <a:srgbClr val="050808"/>
              </a:solidFill>
            </a:endParaRPr>
          </a:p>
        </p:txBody>
      </p:sp>
      <p:sp>
        <p:nvSpPr>
          <p:cNvPr id="22" name="Oval 21">
            <a:extLst>
              <a:ext uri="{FF2B5EF4-FFF2-40B4-BE49-F238E27FC236}">
                <a16:creationId xmlns:a16="http://schemas.microsoft.com/office/drawing/2014/main" id="{E403D28C-9FEF-531F-6374-294105A73A8D}"/>
              </a:ext>
            </a:extLst>
          </p:cNvPr>
          <p:cNvSpPr/>
          <p:nvPr/>
        </p:nvSpPr>
        <p:spPr>
          <a:xfrm>
            <a:off x="8186066" y="3458392"/>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23" name="Oval 22">
            <a:extLst>
              <a:ext uri="{FF2B5EF4-FFF2-40B4-BE49-F238E27FC236}">
                <a16:creationId xmlns:a16="http://schemas.microsoft.com/office/drawing/2014/main" id="{88FE69BA-4C40-DB0F-880B-59AC2C6627DD}"/>
              </a:ext>
            </a:extLst>
          </p:cNvPr>
          <p:cNvSpPr/>
          <p:nvPr/>
        </p:nvSpPr>
        <p:spPr>
          <a:xfrm>
            <a:off x="7428092" y="3458392"/>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24" name="Oval 23">
            <a:extLst>
              <a:ext uri="{FF2B5EF4-FFF2-40B4-BE49-F238E27FC236}">
                <a16:creationId xmlns:a16="http://schemas.microsoft.com/office/drawing/2014/main" id="{239FE8DA-E30E-58FC-72C6-C25B4351C65B}"/>
              </a:ext>
            </a:extLst>
          </p:cNvPr>
          <p:cNvSpPr/>
          <p:nvPr/>
        </p:nvSpPr>
        <p:spPr>
          <a:xfrm>
            <a:off x="6715648" y="3485961"/>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sp>
        <p:nvSpPr>
          <p:cNvPr id="25" name="Oval 24">
            <a:extLst>
              <a:ext uri="{FF2B5EF4-FFF2-40B4-BE49-F238E27FC236}">
                <a16:creationId xmlns:a16="http://schemas.microsoft.com/office/drawing/2014/main" id="{CB6C7267-F1CC-DEA5-A95F-301621F0EBB0}"/>
              </a:ext>
            </a:extLst>
          </p:cNvPr>
          <p:cNvSpPr/>
          <p:nvPr/>
        </p:nvSpPr>
        <p:spPr>
          <a:xfrm>
            <a:off x="5957674" y="3496847"/>
            <a:ext cx="605574" cy="591671"/>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rgbClr val="050808"/>
              </a:solidFill>
            </a:endParaRPr>
          </a:p>
        </p:txBody>
      </p:sp>
      <p:cxnSp>
        <p:nvCxnSpPr>
          <p:cNvPr id="26" name="Straight Arrow Connector 25">
            <a:extLst>
              <a:ext uri="{FF2B5EF4-FFF2-40B4-BE49-F238E27FC236}">
                <a16:creationId xmlns:a16="http://schemas.microsoft.com/office/drawing/2014/main" id="{05C1091E-B3E1-5A7E-6837-9DD395F0711D}"/>
              </a:ext>
            </a:extLst>
          </p:cNvPr>
          <p:cNvCxnSpPr>
            <a:stCxn id="21" idx="0"/>
            <a:endCxn id="25" idx="4"/>
          </p:cNvCxnSpPr>
          <p:nvPr/>
        </p:nvCxnSpPr>
        <p:spPr>
          <a:xfrm flipV="1">
            <a:off x="6260461" y="4088518"/>
            <a:ext cx="0" cy="2682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498B035B-65C1-F4E9-3641-0BCCA12D2509}"/>
              </a:ext>
            </a:extLst>
          </p:cNvPr>
          <p:cNvCxnSpPr>
            <a:stCxn id="21" idx="0"/>
            <a:endCxn id="24" idx="4"/>
          </p:cNvCxnSpPr>
          <p:nvPr/>
        </p:nvCxnSpPr>
        <p:spPr>
          <a:xfrm flipV="1">
            <a:off x="6260461" y="4077632"/>
            <a:ext cx="757974" cy="2791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05C2CDF4-B780-A537-842C-B1A1443F3A0A}"/>
              </a:ext>
            </a:extLst>
          </p:cNvPr>
          <p:cNvCxnSpPr>
            <a:stCxn id="21" idx="0"/>
            <a:endCxn id="23" idx="4"/>
          </p:cNvCxnSpPr>
          <p:nvPr/>
        </p:nvCxnSpPr>
        <p:spPr>
          <a:xfrm flipV="1">
            <a:off x="6260461" y="4050063"/>
            <a:ext cx="1470418" cy="3067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141C207D-0481-BFDE-5D02-23D13E2E735C}"/>
              </a:ext>
            </a:extLst>
          </p:cNvPr>
          <p:cNvCxnSpPr>
            <a:stCxn id="21" idx="0"/>
            <a:endCxn id="22" idx="4"/>
          </p:cNvCxnSpPr>
          <p:nvPr/>
        </p:nvCxnSpPr>
        <p:spPr>
          <a:xfrm flipV="1">
            <a:off x="6260461" y="4050063"/>
            <a:ext cx="2228392" cy="3067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2018C356-C443-BDEA-8F50-EC97B8372513}"/>
              </a:ext>
            </a:extLst>
          </p:cNvPr>
          <p:cNvSpPr txBox="1"/>
          <p:nvPr/>
        </p:nvSpPr>
        <p:spPr>
          <a:xfrm>
            <a:off x="5957674" y="4463925"/>
            <a:ext cx="2531174" cy="369332"/>
          </a:xfrm>
          <a:prstGeom prst="rect">
            <a:avLst/>
          </a:prstGeom>
          <a:noFill/>
        </p:spPr>
        <p:txBody>
          <a:bodyPr wrap="square">
            <a:spAutoFit/>
          </a:bodyPr>
          <a:lstStyle/>
          <a:p>
            <a:r>
              <a:rPr lang="en-US" dirty="0">
                <a:solidFill>
                  <a:srgbClr val="050808"/>
                </a:solidFill>
              </a:rPr>
              <a:t>Item</a:t>
            </a:r>
          </a:p>
        </p:txBody>
      </p:sp>
      <p:sp>
        <p:nvSpPr>
          <p:cNvPr id="31" name="TextBox 30">
            <a:extLst>
              <a:ext uri="{FF2B5EF4-FFF2-40B4-BE49-F238E27FC236}">
                <a16:creationId xmlns:a16="http://schemas.microsoft.com/office/drawing/2014/main" id="{81AABFD3-A281-7DD5-FC38-FA48D62470DD}"/>
              </a:ext>
            </a:extLst>
          </p:cNvPr>
          <p:cNvSpPr txBox="1"/>
          <p:nvPr/>
        </p:nvSpPr>
        <p:spPr>
          <a:xfrm>
            <a:off x="6099786" y="3581233"/>
            <a:ext cx="2086280" cy="369332"/>
          </a:xfrm>
          <a:prstGeom prst="rect">
            <a:avLst/>
          </a:prstGeom>
          <a:noFill/>
        </p:spPr>
        <p:txBody>
          <a:bodyPr wrap="square">
            <a:spAutoFit/>
          </a:bodyPr>
          <a:lstStyle/>
          <a:p>
            <a:r>
              <a:rPr lang="en-US" dirty="0">
                <a:solidFill>
                  <a:srgbClr val="050808"/>
                </a:solidFill>
              </a:rPr>
              <a:t>c1</a:t>
            </a:r>
          </a:p>
        </p:txBody>
      </p:sp>
      <p:sp>
        <p:nvSpPr>
          <p:cNvPr id="32" name="TextBox 31">
            <a:extLst>
              <a:ext uri="{FF2B5EF4-FFF2-40B4-BE49-F238E27FC236}">
                <a16:creationId xmlns:a16="http://schemas.microsoft.com/office/drawing/2014/main" id="{0EAD0163-8B81-8D15-8ED0-F2A9D4406312}"/>
              </a:ext>
            </a:extLst>
          </p:cNvPr>
          <p:cNvSpPr txBox="1"/>
          <p:nvPr/>
        </p:nvSpPr>
        <p:spPr>
          <a:xfrm>
            <a:off x="-228600" y="4833257"/>
            <a:ext cx="184731" cy="369332"/>
          </a:xfrm>
          <a:prstGeom prst="rect">
            <a:avLst/>
          </a:prstGeom>
          <a:noFill/>
        </p:spPr>
        <p:txBody>
          <a:bodyPr wrap="none" rtlCol="0">
            <a:spAutoFit/>
          </a:bodyPr>
          <a:lstStyle/>
          <a:p>
            <a:endParaRPr lang="en-US" dirty="0">
              <a:solidFill>
                <a:srgbClr val="050808"/>
              </a:solidFill>
            </a:endParaRPr>
          </a:p>
        </p:txBody>
      </p:sp>
      <p:pic>
        <p:nvPicPr>
          <p:cNvPr id="45" name="Picture 44">
            <a:extLst>
              <a:ext uri="{FF2B5EF4-FFF2-40B4-BE49-F238E27FC236}">
                <a16:creationId xmlns:a16="http://schemas.microsoft.com/office/drawing/2014/main" id="{0BC32BDD-3E1D-2130-6CB5-85E7836EEC3D}"/>
              </a:ext>
            </a:extLst>
          </p:cNvPr>
          <p:cNvPicPr>
            <a:picLocks noChangeAspect="1"/>
          </p:cNvPicPr>
          <p:nvPr/>
        </p:nvPicPr>
        <p:blipFill>
          <a:blip r:embed="rId3"/>
          <a:stretch>
            <a:fillRect/>
          </a:stretch>
        </p:blipFill>
        <p:spPr>
          <a:xfrm>
            <a:off x="946100" y="3084895"/>
            <a:ext cx="3830184" cy="2758060"/>
          </a:xfrm>
          <a:prstGeom prst="rect">
            <a:avLst/>
          </a:prstGeom>
        </p:spPr>
      </p:pic>
    </p:spTree>
    <p:extLst>
      <p:ext uri="{BB962C8B-B14F-4D97-AF65-F5344CB8AC3E}">
        <p14:creationId xmlns:p14="http://schemas.microsoft.com/office/powerpoint/2010/main" val="3741903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D3A36-B4BA-EA4C-FAA1-67DC60300172}"/>
              </a:ext>
            </a:extLst>
          </p:cNvPr>
          <p:cNvSpPr>
            <a:spLocks noGrp="1"/>
          </p:cNvSpPr>
          <p:nvPr>
            <p:ph type="title"/>
          </p:nvPr>
        </p:nvSpPr>
        <p:spPr>
          <a:xfrm>
            <a:off x="353726" y="260648"/>
            <a:ext cx="8375650" cy="423862"/>
          </a:xfrm>
        </p:spPr>
        <p:txBody>
          <a:bodyPr/>
          <a:lstStyle/>
          <a:p>
            <a:r>
              <a:rPr lang="en-US" dirty="0"/>
              <a:t>Three models: emotion-only, EEG main effects, EEG interaction</a:t>
            </a:r>
          </a:p>
        </p:txBody>
      </p:sp>
      <p:sp>
        <p:nvSpPr>
          <p:cNvPr id="3" name="Content Placeholder 2">
            <a:extLst>
              <a:ext uri="{FF2B5EF4-FFF2-40B4-BE49-F238E27FC236}">
                <a16:creationId xmlns:a16="http://schemas.microsoft.com/office/drawing/2014/main" id="{1EBA6170-CADA-4996-FD26-2BBD5701E5C5}"/>
              </a:ext>
            </a:extLst>
          </p:cNvPr>
          <p:cNvSpPr>
            <a:spLocks noGrp="1"/>
          </p:cNvSpPr>
          <p:nvPr>
            <p:ph idx="1"/>
          </p:nvPr>
        </p:nvSpPr>
        <p:spPr/>
        <p:txBody>
          <a:bodyPr/>
          <a:lstStyle/>
          <a:p>
            <a:pPr>
              <a:spcAft>
                <a:spcPts val="0"/>
              </a:spcAft>
            </a:pPr>
            <a:r>
              <a:rPr lang="en-US" b="1" dirty="0"/>
              <a:t>Model 0 – Emotion-only</a:t>
            </a:r>
            <a:endParaRPr lang="en-US" dirty="0"/>
          </a:p>
          <a:p>
            <a:pPr lvl="1">
              <a:spcAft>
                <a:spcPts val="0"/>
              </a:spcAft>
            </a:pPr>
            <a:r>
              <a:rPr lang="en-US" dirty="0"/>
              <a:t>Encoding: Sᵢ depends on emotion label only (neg vs neutral); LPP is ignored.</a:t>
            </a:r>
          </a:p>
          <a:p>
            <a:pPr lvl="1">
              <a:spcAft>
                <a:spcPts val="0"/>
              </a:spcAft>
            </a:pPr>
            <a:r>
              <a:rPr lang="en-US" dirty="0"/>
              <a:t>Retrieval: as in Slide 2.</a:t>
            </a:r>
          </a:p>
          <a:p>
            <a:pPr>
              <a:spcAft>
                <a:spcPts val="0"/>
              </a:spcAft>
            </a:pPr>
            <a:r>
              <a:rPr lang="en-US" b="1" dirty="0"/>
              <a:t>Model 1 – EEG main-effects</a:t>
            </a:r>
            <a:endParaRPr lang="en-US" dirty="0"/>
          </a:p>
          <a:p>
            <a:pPr lvl="1">
              <a:spcAft>
                <a:spcPts val="0"/>
              </a:spcAft>
            </a:pPr>
            <a:r>
              <a:rPr lang="en-US" dirty="0"/>
              <a:t>Encoding: Sᵢ = f(emotion, LPP) with additive contributions (no explicit Emotion × LPP term).</a:t>
            </a:r>
          </a:p>
          <a:p>
            <a:pPr lvl="1">
              <a:spcAft>
                <a:spcPts val="0"/>
              </a:spcAft>
            </a:pPr>
            <a:r>
              <a:rPr lang="en-US" b="1" dirty="0"/>
              <a:t>Story</a:t>
            </a:r>
            <a:r>
              <a:rPr lang="en-US" dirty="0"/>
              <a:t>: any LPP × emotion interaction in recall must emerge from the retrieval competition (Story A).</a:t>
            </a:r>
          </a:p>
          <a:p>
            <a:pPr>
              <a:spcAft>
                <a:spcPts val="0"/>
              </a:spcAft>
            </a:pPr>
            <a:r>
              <a:rPr lang="en-US" b="1" dirty="0"/>
              <a:t>Model 2 – EEG interaction</a:t>
            </a:r>
            <a:endParaRPr lang="en-US" dirty="0"/>
          </a:p>
          <a:p>
            <a:pPr lvl="1">
              <a:spcAft>
                <a:spcPts val="0"/>
              </a:spcAft>
            </a:pPr>
            <a:r>
              <a:rPr lang="en-US" dirty="0"/>
              <a:t>Encoding: Sᵢ = f(emotion, LPP, emotion × LPP); explicit interaction term.</a:t>
            </a:r>
          </a:p>
          <a:p>
            <a:pPr lvl="1">
              <a:spcAft>
                <a:spcPts val="0"/>
              </a:spcAft>
            </a:pPr>
            <a:r>
              <a:rPr lang="en-US" b="1" dirty="0"/>
              <a:t>Story</a:t>
            </a:r>
            <a:r>
              <a:rPr lang="en-US" dirty="0"/>
              <a:t>: the interaction is present in the learning rule itself (Story B).</a:t>
            </a:r>
          </a:p>
          <a:p>
            <a:pPr>
              <a:spcAft>
                <a:spcPts val="0"/>
              </a:spcAft>
            </a:pPr>
            <a:endParaRPr lang="en-US" dirty="0"/>
          </a:p>
        </p:txBody>
      </p:sp>
    </p:spTree>
    <p:extLst>
      <p:ext uri="{BB962C8B-B14F-4D97-AF65-F5344CB8AC3E}">
        <p14:creationId xmlns:p14="http://schemas.microsoft.com/office/powerpoint/2010/main" val="12231633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8283D-F1A4-2844-0580-5439D7DA6E23}"/>
              </a:ext>
            </a:extLst>
          </p:cNvPr>
          <p:cNvSpPr>
            <a:spLocks noGrp="1"/>
          </p:cNvSpPr>
          <p:nvPr>
            <p:ph type="title"/>
          </p:nvPr>
        </p:nvSpPr>
        <p:spPr/>
        <p:txBody>
          <a:bodyPr/>
          <a:lstStyle/>
          <a:p>
            <a:r>
              <a:rPr lang="en-US" dirty="0"/>
              <a:t>Choosing models: general principles</a:t>
            </a:r>
          </a:p>
        </p:txBody>
      </p:sp>
      <p:sp>
        <p:nvSpPr>
          <p:cNvPr id="3" name="Content Placeholder 2">
            <a:extLst>
              <a:ext uri="{FF2B5EF4-FFF2-40B4-BE49-F238E27FC236}">
                <a16:creationId xmlns:a16="http://schemas.microsoft.com/office/drawing/2014/main" id="{011B9901-D3E5-4DDC-A5B9-0A564BD3FC72}"/>
              </a:ext>
            </a:extLst>
          </p:cNvPr>
          <p:cNvSpPr>
            <a:spLocks noGrp="1"/>
          </p:cNvSpPr>
          <p:nvPr>
            <p:ph idx="1"/>
          </p:nvPr>
        </p:nvSpPr>
        <p:spPr/>
        <p:txBody>
          <a:bodyPr/>
          <a:lstStyle/>
          <a:p>
            <a:r>
              <a:rPr lang="en-US" dirty="0"/>
              <a:t>Change one mechanistic ingredient at a time (here: how LPP and emotion enter encoding).</a:t>
            </a:r>
          </a:p>
          <a:p>
            <a:r>
              <a:rPr lang="en-US" dirty="0"/>
              <a:t>Include a psychologically meaningful baseline (here: an emotion-only model).</a:t>
            </a:r>
          </a:p>
          <a:p>
            <a:r>
              <a:rPr lang="en-US" dirty="0"/>
              <a:t>Ensure each model corresponds to a verbal story you can explain in a couple of sentences.</a:t>
            </a:r>
          </a:p>
          <a:p>
            <a:r>
              <a:rPr lang="en-US" dirty="0"/>
              <a:t>Aim to ask whether the data clearly disfavor a given ingredient, clearly favor it, or leave it underdetermined.</a:t>
            </a:r>
          </a:p>
        </p:txBody>
      </p:sp>
    </p:spTree>
    <p:extLst>
      <p:ext uri="{BB962C8B-B14F-4D97-AF65-F5344CB8AC3E}">
        <p14:creationId xmlns:p14="http://schemas.microsoft.com/office/powerpoint/2010/main" val="5814303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FE729-354A-F490-7806-3F9A90D45325}"/>
              </a:ext>
            </a:extLst>
          </p:cNvPr>
          <p:cNvSpPr>
            <a:spLocks noGrp="1"/>
          </p:cNvSpPr>
          <p:nvPr>
            <p:ph type="title"/>
          </p:nvPr>
        </p:nvSpPr>
        <p:spPr/>
        <p:txBody>
          <a:bodyPr/>
          <a:lstStyle/>
          <a:p>
            <a:r>
              <a:rPr lang="en-US" dirty="0"/>
              <a:t>From likelihood to AIC: scoring models</a:t>
            </a:r>
          </a:p>
        </p:txBody>
      </p:sp>
      <p:sp>
        <p:nvSpPr>
          <p:cNvPr id="3" name="Content Placeholder 2">
            <a:extLst>
              <a:ext uri="{FF2B5EF4-FFF2-40B4-BE49-F238E27FC236}">
                <a16:creationId xmlns:a16="http://schemas.microsoft.com/office/drawing/2014/main" id="{A8AB0891-B856-1C5F-EE0A-63EE524BC82C}"/>
              </a:ext>
            </a:extLst>
          </p:cNvPr>
          <p:cNvSpPr>
            <a:spLocks noGrp="1"/>
          </p:cNvSpPr>
          <p:nvPr>
            <p:ph idx="1"/>
          </p:nvPr>
        </p:nvSpPr>
        <p:spPr/>
        <p:txBody>
          <a:bodyPr/>
          <a:lstStyle/>
          <a:p>
            <a:r>
              <a:rPr lang="en-US" dirty="0"/>
              <a:t>Set-based log likelihood per subject and model -&gt; </a:t>
            </a:r>
            <a:r>
              <a:rPr lang="en-US" dirty="0" err="1"/>
              <a:t>AIC</a:t>
            </a:r>
            <a:r>
              <a:rPr lang="en-US" baseline="-25000" dirty="0" err="1"/>
              <a:t>s,m</a:t>
            </a:r>
            <a:endParaRPr lang="en-US" baseline="-25000" dirty="0"/>
          </a:p>
          <a:p>
            <a:r>
              <a:rPr lang="en-US" dirty="0" err="1"/>
              <a:t>AIC</a:t>
            </a:r>
            <a:r>
              <a:rPr lang="en-US" baseline="-25000" dirty="0" err="1"/>
              <a:t>s,m</a:t>
            </a:r>
            <a:r>
              <a:rPr lang="en-US" dirty="0"/>
              <a:t> = 2 * k</a:t>
            </a:r>
            <a:r>
              <a:rPr lang="en-US" baseline="-25000" dirty="0"/>
              <a:t>m</a:t>
            </a:r>
            <a:r>
              <a:rPr lang="en-US" dirty="0"/>
              <a:t> - 2 * </a:t>
            </a:r>
            <a:r>
              <a:rPr lang="en-US" dirty="0" err="1"/>
              <a:t>logL</a:t>
            </a:r>
            <a:r>
              <a:rPr lang="en-US" baseline="-25000" dirty="0" err="1"/>
              <a:t>s,m</a:t>
            </a:r>
            <a:endParaRPr lang="en-US" baseline="-25000" dirty="0"/>
          </a:p>
          <a:p>
            <a:r>
              <a:rPr lang="en-US" dirty="0"/>
              <a:t>Lower AIC ~ better expected predictive performance for that subject (fit - complexity penalty).</a:t>
            </a:r>
          </a:p>
          <a:p>
            <a:endParaRPr lang="en-US" dirty="0"/>
          </a:p>
        </p:txBody>
      </p:sp>
    </p:spTree>
    <p:extLst>
      <p:ext uri="{BB962C8B-B14F-4D97-AF65-F5344CB8AC3E}">
        <p14:creationId xmlns:p14="http://schemas.microsoft.com/office/powerpoint/2010/main" val="3073377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D755F-309C-592A-6317-A3E277609616}"/>
              </a:ext>
            </a:extLst>
          </p:cNvPr>
          <p:cNvSpPr>
            <a:spLocks noGrp="1"/>
          </p:cNvSpPr>
          <p:nvPr>
            <p:ph type="title"/>
          </p:nvPr>
        </p:nvSpPr>
        <p:spPr>
          <a:xfrm>
            <a:off x="381167" y="332656"/>
            <a:ext cx="8375650" cy="423862"/>
          </a:xfrm>
        </p:spPr>
        <p:txBody>
          <a:bodyPr/>
          <a:lstStyle/>
          <a:p>
            <a:r>
              <a:rPr lang="en-US" dirty="0"/>
              <a:t>Main-effects vs interaction: effectively tied on this dataset</a:t>
            </a:r>
          </a:p>
        </p:txBody>
      </p:sp>
      <p:sp>
        <p:nvSpPr>
          <p:cNvPr id="3" name="Content Placeholder 2">
            <a:extLst>
              <a:ext uri="{FF2B5EF4-FFF2-40B4-BE49-F238E27FC236}">
                <a16:creationId xmlns:a16="http://schemas.microsoft.com/office/drawing/2014/main" id="{B42A9853-A4C2-E090-C97F-8D56594AE56A}"/>
              </a:ext>
            </a:extLst>
          </p:cNvPr>
          <p:cNvSpPr>
            <a:spLocks noGrp="1"/>
          </p:cNvSpPr>
          <p:nvPr>
            <p:ph idx="1"/>
          </p:nvPr>
        </p:nvSpPr>
        <p:spPr/>
        <p:txBody>
          <a:bodyPr/>
          <a:lstStyle/>
          <a:p>
            <a:r>
              <a:rPr lang="en-US" dirty="0"/>
              <a:t>Comparison	Mean </a:t>
            </a:r>
            <a:r>
              <a:rPr lang="el-GR" dirty="0"/>
              <a:t>Δ</a:t>
            </a:r>
            <a:r>
              <a:rPr lang="en-US" dirty="0"/>
              <a:t>AIC [95% CI]</a:t>
            </a:r>
          </a:p>
          <a:p>
            <a:r>
              <a:rPr lang="en-US" dirty="0"/>
              <a:t>Emotion-only minus EEG main-effects	: 2.22 [1.17, 3.27]</a:t>
            </a:r>
          </a:p>
          <a:p>
            <a:r>
              <a:rPr lang="en-US" dirty="0"/>
              <a:t>Emotion-only minus EEG interaction:	2.73 [1.56, 3.89]</a:t>
            </a:r>
          </a:p>
          <a:p>
            <a:r>
              <a:rPr lang="en-US" dirty="0"/>
              <a:t>EEG main-effects minus EEG interaction:  0.51 [-0.43, 1.44]</a:t>
            </a:r>
          </a:p>
          <a:p>
            <a:endParaRPr lang="en-US" dirty="0"/>
          </a:p>
          <a:p>
            <a:pPr marL="0" indent="0">
              <a:buNone/>
            </a:pPr>
            <a:r>
              <a:rPr lang="en-US" dirty="0"/>
              <a:t>Point plot? </a:t>
            </a:r>
          </a:p>
          <a:p>
            <a:endParaRPr lang="en-US" dirty="0"/>
          </a:p>
        </p:txBody>
      </p:sp>
    </p:spTree>
    <p:extLst>
      <p:ext uri="{BB962C8B-B14F-4D97-AF65-F5344CB8AC3E}">
        <p14:creationId xmlns:p14="http://schemas.microsoft.com/office/powerpoint/2010/main" val="1835109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A6BCC-B5DA-0EAF-F690-399ABCC314EA}"/>
              </a:ext>
            </a:extLst>
          </p:cNvPr>
          <p:cNvSpPr>
            <a:spLocks noGrp="1"/>
          </p:cNvSpPr>
          <p:nvPr>
            <p:ph type="title"/>
          </p:nvPr>
        </p:nvSpPr>
        <p:spPr/>
        <p:txBody>
          <a:bodyPr/>
          <a:lstStyle/>
          <a:p>
            <a:r>
              <a:rPr lang="en-US" dirty="0"/>
              <a:t>What modelling bought us (and what it didn’t)</a:t>
            </a:r>
          </a:p>
        </p:txBody>
      </p:sp>
      <p:sp>
        <p:nvSpPr>
          <p:cNvPr id="3" name="Content Placeholder 2">
            <a:extLst>
              <a:ext uri="{FF2B5EF4-FFF2-40B4-BE49-F238E27FC236}">
                <a16:creationId xmlns:a16="http://schemas.microsoft.com/office/drawing/2014/main" id="{9B771251-185C-D710-D7A2-38B7C8C3122F}"/>
              </a:ext>
            </a:extLst>
          </p:cNvPr>
          <p:cNvSpPr>
            <a:spLocks noGrp="1"/>
          </p:cNvSpPr>
          <p:nvPr>
            <p:ph idx="1"/>
          </p:nvPr>
        </p:nvSpPr>
        <p:spPr>
          <a:xfrm>
            <a:off x="362042" y="1395412"/>
            <a:ext cx="8374063" cy="4067175"/>
          </a:xfrm>
        </p:spPr>
        <p:txBody>
          <a:bodyPr/>
          <a:lstStyle/>
          <a:p>
            <a:r>
              <a:rPr lang="en-US" sz="1600" b="1" dirty="0"/>
              <a:t>Why cognitive models vs stats?</a:t>
            </a:r>
            <a:br>
              <a:rPr lang="en-US" sz="1600" dirty="0"/>
            </a:br>
            <a:r>
              <a:rPr lang="en-US" sz="1600" dirty="0"/>
              <a:t>The GLMM told us there is an Emotion x LPP interaction in recall; the models showed that an emotion-only process is inadequate, but also that multiple process-level stories are consistent with that interaction.</a:t>
            </a:r>
          </a:p>
          <a:p>
            <a:r>
              <a:rPr lang="en-US" sz="1600" b="1" dirty="0"/>
              <a:t>What does likelihood-based fitting mean and why bother?</a:t>
            </a:r>
            <a:br>
              <a:rPr lang="en-US" sz="1600" b="1" dirty="0"/>
            </a:br>
            <a:r>
              <a:rPr lang="en-US" sz="1600" dirty="0"/>
              <a:t>We used a set-based likelihood over recall sets to evaluate models on the full trial-level pattern, then converted that into AIC scores per subject that balance fit and complexity.</a:t>
            </a:r>
          </a:p>
          <a:p>
            <a:r>
              <a:rPr lang="en-US" sz="1600" b="1" dirty="0"/>
              <a:t>How did we choose models?</a:t>
            </a:r>
            <a:br>
              <a:rPr lang="en-US" sz="1600" dirty="0"/>
            </a:br>
            <a:r>
              <a:rPr lang="en-US" sz="1600" dirty="0"/>
              <a:t>We built an emotion-only baseline and two EEG-aware models that differed only in where they put the LPP x emotion structure: additive encoding plus competition versus explicit encoding interaction.</a:t>
            </a:r>
          </a:p>
          <a:p>
            <a:r>
              <a:rPr lang="en-US" sz="1600" b="1" dirty="0"/>
              <a:t>How did we compare them and what did we learn?</a:t>
            </a:r>
            <a:br>
              <a:rPr lang="en-US" sz="1600" dirty="0"/>
            </a:br>
            <a:r>
              <a:rPr lang="en-US" sz="1600" dirty="0"/>
              <a:t>AIC differences showed that adding EEG clearly improves the model over emotion-only, and that within the EEG models the extra interaction term does not buy enough improvement to be clearly preferred; that aspect remains underdetermined by these data.</a:t>
            </a:r>
          </a:p>
          <a:p>
            <a:endParaRPr lang="en-US" sz="1600" dirty="0"/>
          </a:p>
        </p:txBody>
      </p:sp>
    </p:spTree>
    <p:extLst>
      <p:ext uri="{BB962C8B-B14F-4D97-AF65-F5344CB8AC3E}">
        <p14:creationId xmlns:p14="http://schemas.microsoft.com/office/powerpoint/2010/main" val="10588991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4">
            <a:extLst>
              <a:ext uri="{FF2B5EF4-FFF2-40B4-BE49-F238E27FC236}">
                <a16:creationId xmlns:a16="http://schemas.microsoft.com/office/drawing/2014/main" id="{BB2DE326-59F2-4945-9535-0AF48B41A394}"/>
              </a:ext>
            </a:extLst>
          </p:cNvPr>
          <p:cNvSpPr>
            <a:spLocks noGrp="1" noChangeArrowheads="1"/>
          </p:cNvSpPr>
          <p:nvPr>
            <p:ph type="title"/>
          </p:nvPr>
        </p:nvSpPr>
        <p:spPr/>
        <p:txBody>
          <a:bodyPr/>
          <a:lstStyle/>
          <a:p>
            <a:pPr eaLnBrk="1" hangingPunct="1"/>
            <a:r>
              <a:rPr lang="en-US" altLang="en-US" dirty="0"/>
              <a:t>Thanks!!</a:t>
            </a:r>
          </a:p>
        </p:txBody>
      </p:sp>
      <p:sp>
        <p:nvSpPr>
          <p:cNvPr id="4099" name="Rectangle 5">
            <a:extLst>
              <a:ext uri="{FF2B5EF4-FFF2-40B4-BE49-F238E27FC236}">
                <a16:creationId xmlns:a16="http://schemas.microsoft.com/office/drawing/2014/main" id="{A869C384-EAEC-447D-BE1A-AEAD569499E4}"/>
              </a:ext>
            </a:extLst>
          </p:cNvPr>
          <p:cNvSpPr>
            <a:spLocks noGrp="1" noChangeArrowheads="1"/>
          </p:cNvSpPr>
          <p:nvPr>
            <p:ph idx="1"/>
          </p:nvPr>
        </p:nvSpPr>
        <p:spPr/>
        <p:txBody>
          <a:bodyPr/>
          <a:lstStyle/>
          <a:p>
            <a:pPr eaLnBrk="1" hangingPunct="1"/>
            <a:r>
              <a:rPr lang="en-GB" kern="1200" dirty="0">
                <a:solidFill>
                  <a:srgbClr val="050808"/>
                </a:solidFill>
                <a:latin typeface="Arial" charset="0"/>
              </a:rPr>
              <a:t>Robin Hellerstedt, </a:t>
            </a:r>
            <a:r>
              <a:rPr lang="en-US" dirty="0">
                <a:solidFill>
                  <a:srgbClr val="050808"/>
                </a:solidFill>
              </a:rPr>
              <a:t>Universidad </a:t>
            </a:r>
            <a:r>
              <a:rPr lang="en-US" dirty="0" err="1">
                <a:solidFill>
                  <a:srgbClr val="050808"/>
                </a:solidFill>
              </a:rPr>
              <a:t>Politecnica</a:t>
            </a:r>
            <a:r>
              <a:rPr lang="en-US" dirty="0">
                <a:solidFill>
                  <a:srgbClr val="050808"/>
                </a:solidFill>
              </a:rPr>
              <a:t> de Madrid</a:t>
            </a:r>
            <a:endParaRPr lang="en-US" altLang="en-US" dirty="0">
              <a:solidFill>
                <a:srgbClr val="050808"/>
              </a:solidFill>
            </a:endParaRPr>
          </a:p>
          <a:p>
            <a:pPr eaLnBrk="1" hangingPunct="1"/>
            <a:r>
              <a:rPr lang="en-US" altLang="en-US" dirty="0">
                <a:solidFill>
                  <a:srgbClr val="050808"/>
                </a:solidFill>
              </a:rPr>
              <a:t>Vanessa Zarubin, Northwestern University</a:t>
            </a:r>
          </a:p>
          <a:p>
            <a:pPr eaLnBrk="1" hangingPunct="1"/>
            <a:r>
              <a:rPr lang="en-US" altLang="en-US" dirty="0">
                <a:solidFill>
                  <a:srgbClr val="050808"/>
                </a:solidFill>
              </a:rPr>
              <a:t>Katherine R. </a:t>
            </a:r>
            <a:r>
              <a:rPr lang="en-US" altLang="en-US" dirty="0" err="1">
                <a:solidFill>
                  <a:srgbClr val="050808"/>
                </a:solidFill>
              </a:rPr>
              <a:t>Mickley</a:t>
            </a:r>
            <a:r>
              <a:rPr lang="en-US" altLang="en-US" dirty="0">
                <a:solidFill>
                  <a:srgbClr val="050808"/>
                </a:solidFill>
              </a:rPr>
              <a:t> Steinmetz, Wofford College</a:t>
            </a:r>
          </a:p>
          <a:p>
            <a:pPr eaLnBrk="1" hangingPunct="1"/>
            <a:r>
              <a:rPr lang="en-US" altLang="en-US" dirty="0">
                <a:solidFill>
                  <a:srgbClr val="050808"/>
                </a:solidFill>
              </a:rPr>
              <a:t>Nathaniel D. </a:t>
            </a:r>
            <a:r>
              <a:rPr lang="en-US" altLang="en-US" dirty="0" err="1">
                <a:solidFill>
                  <a:srgbClr val="050808"/>
                </a:solidFill>
              </a:rPr>
              <a:t>Daw</a:t>
            </a:r>
            <a:r>
              <a:rPr lang="en-US" altLang="en-US" dirty="0">
                <a:solidFill>
                  <a:srgbClr val="050808"/>
                </a:solidFill>
              </a:rPr>
              <a:t>, Princeton University</a:t>
            </a:r>
          </a:p>
          <a:p>
            <a:pPr eaLnBrk="1" hangingPunct="1"/>
            <a:r>
              <a:rPr lang="en-US" altLang="en-US" dirty="0">
                <a:solidFill>
                  <a:srgbClr val="050808"/>
                </a:solidFill>
              </a:rPr>
              <a:t>Deborah </a:t>
            </a:r>
            <a:r>
              <a:rPr lang="en-US" altLang="en-US" dirty="0" err="1">
                <a:solidFill>
                  <a:srgbClr val="050808"/>
                </a:solidFill>
              </a:rPr>
              <a:t>Talmi</a:t>
            </a:r>
            <a:r>
              <a:rPr lang="en-US" altLang="en-US" dirty="0">
                <a:solidFill>
                  <a:srgbClr val="050808"/>
                </a:solidFill>
              </a:rPr>
              <a:t>, University of Cambridge</a:t>
            </a:r>
          </a:p>
          <a:p>
            <a:pPr eaLnBrk="1" hangingPunct="1"/>
            <a:endParaRPr lang="en-US" altLang="en-US" dirty="0"/>
          </a:p>
        </p:txBody>
      </p:sp>
    </p:spTree>
    <p:extLst>
      <p:ext uri="{BB962C8B-B14F-4D97-AF65-F5344CB8AC3E}">
        <p14:creationId xmlns:p14="http://schemas.microsoft.com/office/powerpoint/2010/main" val="3081911339"/>
      </p:ext>
    </p:extLst>
  </p:cSld>
  <p:clrMapOvr>
    <a:masterClrMapping/>
  </p:clrMapOvr>
  <mc:AlternateContent xmlns:mc="http://schemas.openxmlformats.org/markup-compatibility/2006" xmlns:p14="http://schemas.microsoft.com/office/powerpoint/2010/main">
    <mc:Choice Requires="p14">
      <p:transition spd="slow" p14:dur="2000" advTm="12112"/>
    </mc:Choice>
    <mc:Fallback xmlns="">
      <p:transition spd="slow" advTm="12112"/>
    </mc:Fallback>
  </mc:AlternateContent>
</p:sld>
</file>

<file path=ppt/theme/theme1.xml><?xml version="1.0" encoding="utf-8"?>
<a:theme xmlns:a="http://schemas.openxmlformats.org/drawingml/2006/main" name="blank">
  <a:themeElements>
    <a:clrScheme name="blank 1">
      <a:dk1>
        <a:srgbClr val="003E72"/>
      </a:dk1>
      <a:lt1>
        <a:srgbClr val="FFFFFF"/>
      </a:lt1>
      <a:dk2>
        <a:srgbClr val="FFFFFF"/>
      </a:dk2>
      <a:lt2>
        <a:srgbClr val="00B3BE"/>
      </a:lt2>
      <a:accent1>
        <a:srgbClr val="0073CF"/>
      </a:accent1>
      <a:accent2>
        <a:srgbClr val="E37222"/>
      </a:accent2>
      <a:accent3>
        <a:srgbClr val="FFFFFF"/>
      </a:accent3>
      <a:accent4>
        <a:srgbClr val="003460"/>
      </a:accent4>
      <a:accent5>
        <a:srgbClr val="AABCE4"/>
      </a:accent5>
      <a:accent6>
        <a:srgbClr val="CE671E"/>
      </a:accent6>
      <a:hlink>
        <a:srgbClr val="58A618"/>
      </a:hlink>
      <a:folHlink>
        <a:srgbClr val="8E258D"/>
      </a:folHlink>
    </a:clrScheme>
    <a:fontScheme name="blank">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blank 1">
        <a:dk1>
          <a:srgbClr val="003E72"/>
        </a:dk1>
        <a:lt1>
          <a:srgbClr val="FFFFFF"/>
        </a:lt1>
        <a:dk2>
          <a:srgbClr val="FFFFFF"/>
        </a:dk2>
        <a:lt2>
          <a:srgbClr val="00B3BE"/>
        </a:lt2>
        <a:accent1>
          <a:srgbClr val="0073CF"/>
        </a:accent1>
        <a:accent2>
          <a:srgbClr val="E37222"/>
        </a:accent2>
        <a:accent3>
          <a:srgbClr val="FFFFFF"/>
        </a:accent3>
        <a:accent4>
          <a:srgbClr val="003460"/>
        </a:accent4>
        <a:accent5>
          <a:srgbClr val="AABCE4"/>
        </a:accent5>
        <a:accent6>
          <a:srgbClr val="CE671E"/>
        </a:accent6>
        <a:hlink>
          <a:srgbClr val="58A618"/>
        </a:hlink>
        <a:folHlink>
          <a:srgbClr val="8E258D"/>
        </a:folHlink>
      </a:clrScheme>
      <a:clrMap bg1="lt1" tx1="dk1" bg2="lt2" tx2="dk2" accent1="accent1" accent2="accent2" accent3="accent3" accent4="accent4" accent5="accent5" accent6="accent6" hlink="hlink" folHlink="folHlink"/>
    </a:extraClrScheme>
    <a:extraClrScheme>
      <a:clrScheme name="blank 2">
        <a:dk1>
          <a:srgbClr val="003E72"/>
        </a:dk1>
        <a:lt1>
          <a:srgbClr val="FFFFFF"/>
        </a:lt1>
        <a:dk2>
          <a:srgbClr val="FFFFFF"/>
        </a:dk2>
        <a:lt2>
          <a:srgbClr val="83AFB4"/>
        </a:lt2>
        <a:accent1>
          <a:srgbClr val="6AADE4"/>
        </a:accent1>
        <a:accent2>
          <a:srgbClr val="EFBD47"/>
        </a:accent2>
        <a:accent3>
          <a:srgbClr val="FFFFFF"/>
        </a:accent3>
        <a:accent4>
          <a:srgbClr val="003460"/>
        </a:accent4>
        <a:accent5>
          <a:srgbClr val="B9D3EF"/>
        </a:accent5>
        <a:accent6>
          <a:srgbClr val="D9AB3F"/>
        </a:accent6>
        <a:hlink>
          <a:srgbClr val="A8B400"/>
        </a:hlink>
        <a:folHlink>
          <a:srgbClr val="6A4061"/>
        </a:folHlink>
      </a:clrScheme>
      <a:clrMap bg1="lt1" tx1="dk1" bg2="lt2" tx2="dk2" accent1="accent1" accent2="accent2" accent3="accent3" accent4="accent4" accent5="accent5" accent6="accent6" hlink="hlink" folHlink="folHlink"/>
    </a:extraClrScheme>
    <a:extraClrScheme>
      <a:clrScheme name="blank 3">
        <a:dk1>
          <a:srgbClr val="003E72"/>
        </a:dk1>
        <a:lt1>
          <a:srgbClr val="FFFFFF"/>
        </a:lt1>
        <a:dk2>
          <a:srgbClr val="FFFFFF"/>
        </a:dk2>
        <a:lt2>
          <a:srgbClr val="156570"/>
        </a:lt2>
        <a:accent1>
          <a:srgbClr val="003E72"/>
        </a:accent1>
        <a:accent2>
          <a:srgbClr val="C84E00"/>
        </a:accent2>
        <a:accent3>
          <a:srgbClr val="FFFFFF"/>
        </a:accent3>
        <a:accent4>
          <a:srgbClr val="003460"/>
        </a:accent4>
        <a:accent5>
          <a:srgbClr val="AAAFBC"/>
        </a:accent5>
        <a:accent6>
          <a:srgbClr val="B54600"/>
        </a:accent6>
        <a:hlink>
          <a:srgbClr val="435125"/>
        </a:hlink>
        <a:folHlink>
          <a:srgbClr val="412D5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9345</TotalTime>
  <Words>4151</Words>
  <Application>Microsoft Macintosh PowerPoint</Application>
  <PresentationFormat>On-screen Show (4:3)</PresentationFormat>
  <Paragraphs>222</Paragraphs>
  <Slides>20</Slides>
  <Notes>20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20</vt:i4>
      </vt:variant>
    </vt:vector>
  </HeadingPairs>
  <TitlesOfParts>
    <vt:vector size="22" baseType="lpstr">
      <vt:lpstr>Arial</vt:lpstr>
      <vt:lpstr>blank</vt:lpstr>
      <vt:lpstr>Assessing neurocognitive hypotheses using likelihood-based models</vt:lpstr>
      <vt:lpstr>What I want you to get from this talk</vt:lpstr>
      <vt:lpstr>Our running example: emotional memory, LPP, and free recall</vt:lpstr>
      <vt:lpstr>Key Behavioral Result:  The Emotional Enhancement of Memory (EEM) </vt:lpstr>
      <vt:lpstr>Key Behavioral Result:  The Emotional Enhancement of LPP</vt:lpstr>
      <vt:lpstr>LPP Predicts Recall More Strongly for Emotional Items </vt:lpstr>
      <vt:lpstr>LPP a Poor Index of Emotionality or Recall Alone</vt:lpstr>
      <vt:lpstr>LPP Predicts Recall More Strongly for Emotional Items </vt:lpstr>
      <vt:lpstr>Two ways to fit a model</vt:lpstr>
      <vt:lpstr>Ideal likelihood if we had full recall sequences: p(sequence_t | model, θ) per trial.</vt:lpstr>
      <vt:lpstr>Our data: recall sets, not sequences</vt:lpstr>
      <vt:lpstr>Why we chose likelihood</vt:lpstr>
      <vt:lpstr>GLMM: emotion, LPP, and LPP × emotion interaction in recall.</vt:lpstr>
      <vt:lpstr>Our recall model: encoding and competition</vt:lpstr>
      <vt:lpstr>Three models: emotion-only, EEG main effects, EEG interaction</vt:lpstr>
      <vt:lpstr>Choosing models: general principles</vt:lpstr>
      <vt:lpstr>From likelihood to AIC: scoring models</vt:lpstr>
      <vt:lpstr>Main-effects vs interaction: effectively tied on this dataset</vt:lpstr>
      <vt:lpstr>What modelling bought us (and what it didn’t)</vt:lpstr>
      <vt:lpstr>Thanks!!</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c:creator>
  <cp:lastModifiedBy>Jordan Gunn</cp:lastModifiedBy>
  <cp:revision>57</cp:revision>
  <cp:lastPrinted>1601-01-01T00:00:00Z</cp:lastPrinted>
  <dcterms:created xsi:type="dcterms:W3CDTF">2008-03-27T10:29:55Z</dcterms:created>
  <dcterms:modified xsi:type="dcterms:W3CDTF">2025-11-24T06:54:56Z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