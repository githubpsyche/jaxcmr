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63" r:id="rId5"/>
    <p:sldId id="259" r:id="rId6"/>
    <p:sldId id="260" r:id="rId7"/>
    <p:sldId id="261" r:id="rId8"/>
    <p:sldId id="265" r:id="rId9"/>
    <p:sldId id="262" r:id="rId10"/>
    <p:sldId id="264" r:id="rId11"/>
    <p:sldId id="267" r:id="rId12"/>
    <p:sldId id="266" r:id="rId13"/>
    <p:sldId id="268" r:id="rId14"/>
    <p:sldId id="269" r:id="rId15"/>
    <p:sldId id="270" r:id="rId16"/>
    <p:sldId id="271" r:id="rId17"/>
    <p:sldId id="272" r:id="rId18"/>
    <p:sldId id="273" r:id="rId19"/>
    <p:sldId id="274" r:id="rId20"/>
    <p:sldId id="276" r:id="rId21"/>
    <p:sldId id="275"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903" autoAdjust="0"/>
    <p:restoredTop sz="91014" autoAdjust="0"/>
  </p:normalViewPr>
  <p:slideViewPr>
    <p:cSldViewPr snapToGrid="0" snapToObjects="1">
      <p:cViewPr varScale="1">
        <p:scale>
          <a:sx n="108" d="100"/>
          <a:sy n="108" d="100"/>
        </p:scale>
        <p:origin x="1264" y="200"/>
      </p:cViewPr>
      <p:guideLst>
        <p:guide orient="horz" pos="2160"/>
        <p:guide pos="2880"/>
      </p:guideLst>
    </p:cSldViewPr>
  </p:slideViewPr>
  <p:outlineViewPr>
    <p:cViewPr>
      <p:scale>
        <a:sx n="33" d="100"/>
        <a:sy n="33" d="100"/>
      </p:scale>
      <p:origin x="0" y="-32760"/>
    </p:cViewPr>
  </p:outlineViewPr>
  <p:notesTextViewPr>
    <p:cViewPr>
      <p:scale>
        <a:sx n="145" d="100"/>
        <a:sy n="145"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984AA6-6FD4-4B2D-BE97-CD865C409230}" type="datetimeFigureOut">
              <a:rPr lang="en-US" smtClean="0"/>
              <a:t>11/12/25</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062F8D-6015-4186-952A-87493F61A5D5}" type="slidenum">
              <a:rPr lang="en-US" smtClean="0"/>
              <a:t>‹#›</a:t>
            </a:fld>
            <a:endParaRPr lang="en-US" dirty="0"/>
          </a:p>
        </p:txBody>
      </p:sp>
    </p:spTree>
    <p:extLst>
      <p:ext uri="{BB962C8B-B14F-4D97-AF65-F5344CB8AC3E}">
        <p14:creationId xmlns:p14="http://schemas.microsoft.com/office/powerpoint/2010/main" val="1927541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b="0" i="0" kern="1200" dirty="0">
                <a:solidFill>
                  <a:schemeClr val="tx1"/>
                </a:solidFill>
                <a:effectLst/>
                <a:latin typeface="+mn-lt"/>
                <a:ea typeface="+mn-ea"/>
                <a:cs typeface="+mn-cs"/>
              </a:rPr>
              <a:t>One-liner reminding attendees we're aligning grant aims with near-term modelling choices.</a:t>
            </a:r>
          </a:p>
          <a:p>
            <a:br>
              <a:rPr lang="en-US" dirty="0"/>
            </a:br>
            <a:endParaRPr lang="en-US" b="0" dirty="0">
              <a:solidFill>
                <a:srgbClr val="D1D5DB"/>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47062F8D-6015-4186-952A-87493F61A5D5}" type="slidenum">
              <a:rPr lang="en-US" smtClean="0"/>
              <a:t>1</a:t>
            </a:fld>
            <a:endParaRPr lang="en-US" dirty="0"/>
          </a:p>
        </p:txBody>
      </p:sp>
    </p:spTree>
    <p:extLst>
      <p:ext uri="{BB962C8B-B14F-4D97-AF65-F5344CB8AC3E}">
        <p14:creationId xmlns:p14="http://schemas.microsoft.com/office/powerpoint/2010/main" val="3674454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These aims roughly align but can pull in different directions depending on implementation choices.</a:t>
            </a:r>
          </a:p>
          <a:p>
            <a:r>
              <a:rPr lang="en-US" sz="1200" b="0" kern="1200" dirty="0">
                <a:solidFill>
                  <a:schemeClr val="tx1"/>
                </a:solidFill>
                <a:effectLst/>
                <a:latin typeface="+mn-lt"/>
                <a:ea typeface="+mn-ea"/>
                <a:cs typeface="+mn-cs"/>
              </a:rPr>
              <a:t>CMR might reproduce the selective interference effect under specific paradigms without giving us leverage to adjudicate dual versus unitary accounts.</a:t>
            </a:r>
          </a:p>
          <a:p>
            <a:r>
              <a:rPr lang="en-US" sz="1200" b="0" kern="1200" dirty="0">
                <a:solidFill>
                  <a:schemeClr val="tx1"/>
                </a:solidFill>
                <a:effectLst/>
                <a:latin typeface="+mn-lt"/>
                <a:ea typeface="+mn-ea"/>
                <a:cs typeface="+mn-cs"/>
              </a:rPr>
              <a:t>A model embodying the dual-representation account could provide different predictions, even about the interference effect, depending on how and which features we implement.</a:t>
            </a:r>
          </a:p>
          <a:p>
            <a:r>
              <a:rPr lang="en-US" sz="1200" b="0" kern="1200" dirty="0">
                <a:solidFill>
                  <a:schemeClr val="tx1"/>
                </a:solidFill>
                <a:effectLst/>
                <a:latin typeface="+mn-lt"/>
                <a:ea typeface="+mn-ea"/>
                <a:cs typeface="+mn-cs"/>
              </a:rPr>
              <a:t>Finally, the significance of disrupted integrative encoding in either the interference effect or dual-representation account can vary based on our other modeling choices.</a:t>
            </a:r>
          </a:p>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2</a:t>
            </a:fld>
            <a:endParaRPr lang="en-US" dirty="0"/>
          </a:p>
        </p:txBody>
      </p:sp>
    </p:spTree>
    <p:extLst>
      <p:ext uri="{BB962C8B-B14F-4D97-AF65-F5344CB8AC3E}">
        <p14:creationId xmlns:p14="http://schemas.microsoft.com/office/powerpoint/2010/main" val="21972106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Because of that ambiguity, we can't assume progress on one aim satisfies stakeholder expectations for the others. To keep the strands aligned, we need explicit initial decisions about three key issues before moving the modelling forward.</a:t>
            </a:r>
            <a:r>
              <a:rPr lang="en-US" sz="1200" b="0" i="0" kern="1200" baseline="0" dirty="0">
                <a:solidFill>
                  <a:schemeClr val="tx1"/>
                </a:solidFill>
                <a:effectLst/>
                <a:latin typeface="+mn-lt"/>
                <a:ea typeface="+mn-ea"/>
                <a:cs typeface="+mn-cs"/>
              </a:rPr>
              <a:t> </a:t>
            </a:r>
            <a:r>
              <a:rPr lang="en-US" dirty="0">
                <a:effectLst/>
              </a:rPr>
              <a:t>Here I outline key considerations for each decision, along with questions to guide our discussion.</a:t>
            </a:r>
          </a:p>
          <a:p>
            <a:br>
              <a:rPr lang="en-US" dirty="0"/>
            </a:b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3</a:t>
            </a:fld>
            <a:endParaRPr lang="en-US" dirty="0"/>
          </a:p>
        </p:txBody>
      </p:sp>
    </p:spTree>
    <p:extLst>
      <p:ext uri="{BB962C8B-B14F-4D97-AF65-F5344CB8AC3E}">
        <p14:creationId xmlns:p14="http://schemas.microsoft.com/office/powerpoint/2010/main" val="40114011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4</a:t>
            </a:fld>
            <a:endParaRPr lang="en-US" dirty="0"/>
          </a:p>
        </p:txBody>
      </p:sp>
    </p:spTree>
    <p:extLst>
      <p:ext uri="{BB962C8B-B14F-4D97-AF65-F5344CB8AC3E}">
        <p14:creationId xmlns:p14="http://schemas.microsoft.com/office/powerpoint/2010/main" val="27059542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range of experiments have examined the selective interference effect, but they differ in task structure, dependent variables, and manipulations. So that we don’t chase mismatched outcomes, we need to pick one or more paradigms that best align with our modeling capabilities and the project’s goals.</a:t>
            </a:r>
          </a:p>
          <a:p>
            <a:r>
              <a:rPr lang="en-US" sz="1200" b="1" i="0" kern="1200" dirty="0">
                <a:solidFill>
                  <a:schemeClr val="tx1"/>
                </a:solidFill>
                <a:effectLst/>
                <a:latin typeface="+mn-lt"/>
                <a:ea typeface="+mn-ea"/>
                <a:cs typeface="+mn-cs"/>
              </a:rPr>
              <a:t>The behavioral signature should be unambiguous.</a:t>
            </a:r>
            <a:r>
              <a:rPr lang="en-US" sz="1200" b="0" i="0" kern="1200" dirty="0">
                <a:solidFill>
                  <a:schemeClr val="tx1"/>
                </a:solidFill>
                <a:effectLst/>
                <a:latin typeface="+mn-lt"/>
                <a:ea typeface="+mn-ea"/>
                <a:cs typeface="+mn-cs"/>
              </a:rPr>
              <a:t> Ideally the focal study clearly shows the selective interference effect (visuospatial load reducing intrusions more than voluntary recall) so we know what the models are meant to capture.</a:t>
            </a:r>
          </a:p>
          <a:p>
            <a:r>
              <a:rPr lang="en-US" sz="1200" b="1" i="0" kern="1200" dirty="0">
                <a:solidFill>
                  <a:schemeClr val="tx1"/>
                </a:solidFill>
                <a:effectLst/>
                <a:latin typeface="+mn-lt"/>
                <a:ea typeface="+mn-ea"/>
                <a:cs typeface="+mn-cs"/>
              </a:rPr>
              <a:t>The measurement approach should be representative.</a:t>
            </a:r>
            <a:r>
              <a:rPr lang="en-US" sz="1200" b="0" i="0" kern="1200" dirty="0">
                <a:solidFill>
                  <a:schemeClr val="tx1"/>
                </a:solidFill>
                <a:effectLst/>
                <a:latin typeface="+mn-lt"/>
                <a:ea typeface="+mn-ea"/>
                <a:cs typeface="+mn-cs"/>
              </a:rPr>
              <a:t> Dependent variables ideally align with how this phenomenon is typically measured in the literature so our results directly speak to prior findings.</a:t>
            </a:r>
          </a:p>
          <a:p>
            <a:r>
              <a:rPr lang="en-US" sz="1200" b="1" i="0" kern="1200" dirty="0">
                <a:solidFill>
                  <a:schemeClr val="tx1"/>
                </a:solidFill>
                <a:effectLst/>
                <a:latin typeface="+mn-lt"/>
                <a:ea typeface="+mn-ea"/>
                <a:cs typeface="+mn-cs"/>
              </a:rPr>
              <a:t>The measurement procedures should be rigorous.</a:t>
            </a:r>
            <a:r>
              <a:rPr lang="en-US" sz="1200" b="0" i="0" kern="1200" dirty="0">
                <a:solidFill>
                  <a:schemeClr val="tx1"/>
                </a:solidFill>
                <a:effectLst/>
                <a:latin typeface="+mn-lt"/>
                <a:ea typeface="+mn-ea"/>
                <a:cs typeface="+mn-cs"/>
              </a:rPr>
              <a:t> The methodology is ideally one the team trusts so we are confident that we’re addressing the intended processes.</a:t>
            </a:r>
          </a:p>
          <a:p>
            <a:r>
              <a:rPr lang="en-US" sz="1200" b="1" i="0" kern="1200" dirty="0">
                <a:solidFill>
                  <a:schemeClr val="tx1"/>
                </a:solidFill>
                <a:effectLst/>
                <a:latin typeface="+mn-lt"/>
                <a:ea typeface="+mn-ea"/>
                <a:cs typeface="+mn-cs"/>
              </a:rPr>
              <a:t>The measures should map onto model observables.</a:t>
            </a:r>
            <a:r>
              <a:rPr lang="en-US" sz="1200" b="0" i="0" kern="1200" dirty="0">
                <a:solidFill>
                  <a:schemeClr val="tx1"/>
                </a:solidFill>
                <a:effectLst/>
                <a:latin typeface="+mn-lt"/>
                <a:ea typeface="+mn-ea"/>
                <a:cs typeface="+mn-cs"/>
              </a:rPr>
              <a:t> The dataset’s outputs ideally correspond to quantities our modelling frameworks already produce or at least can extend to without forcing speculative bridges that would themselves need validation.</a:t>
            </a:r>
          </a:p>
          <a:p>
            <a:r>
              <a:rPr lang="en-US" sz="1200" b="1" i="0" kern="1200" dirty="0">
                <a:solidFill>
                  <a:schemeClr val="tx1"/>
                </a:solidFill>
                <a:effectLst/>
                <a:latin typeface="+mn-lt"/>
                <a:ea typeface="+mn-ea"/>
                <a:cs typeface="+mn-cs"/>
              </a:rPr>
              <a:t>Data and procedures should be detailed enough to constrain mechanisms.</a:t>
            </a:r>
            <a:r>
              <a:rPr lang="en-US" sz="1200" b="0" i="0" kern="1200" dirty="0">
                <a:solidFill>
                  <a:schemeClr val="tx1"/>
                </a:solidFill>
                <a:effectLst/>
                <a:latin typeface="+mn-lt"/>
                <a:ea typeface="+mn-ea"/>
                <a:cs typeface="+mn-cs"/>
              </a:rPr>
              <a:t> Beyond aggregate scores, we prefer enough resolution to distinguish between competing accounts. In particular, tests of retrieved-context assumptions generally benefit from exact study and recall sequences per trial, as well as different presentation orders across trials.</a:t>
            </a:r>
          </a:p>
          <a:p>
            <a:r>
              <a:rPr lang="en-US" sz="1200" b="0" i="0" kern="1200" dirty="0">
                <a:solidFill>
                  <a:schemeClr val="tx1"/>
                </a:solidFill>
                <a:effectLst/>
                <a:latin typeface="+mn-lt"/>
                <a:ea typeface="+mn-ea"/>
                <a:cs typeface="+mn-cs"/>
              </a:rPr>
              <a:t>That choice has to balance several constraints, but our best options might not satisfy all of them. Some paradigms might be representative, demonstrate an unambiguous effect, and map clearly to CMR observables (e.g., free recall + diary intrusions) but lack rigor (Lau-Zhu, Henson &amp; Holmes, 2019 discusses this issue). Other studies might match our methodological standards and have detailed procedures (e.g., Experiment 1 from the current project) but not show the effect clearly enough for us to target. Still others might have strong measurements and clear effects but would take more work to relate to CMR outputs or evaluate its key assumptions. It could be best to target multiple datasets to triangulate these tradeoffs, but we should limit the scope to what we can manage within the project’s timeline. And either way, we’d still prefer to select one </a:t>
            </a:r>
            <a:r>
              <a:rPr lang="en-US" sz="1200" b="0" i="1" kern="1200" dirty="0">
                <a:solidFill>
                  <a:schemeClr val="tx1"/>
                </a:solidFill>
                <a:effectLst/>
                <a:latin typeface="+mn-lt"/>
                <a:ea typeface="+mn-ea"/>
                <a:cs typeface="+mn-cs"/>
              </a:rPr>
              <a:t>primary</a:t>
            </a:r>
            <a:r>
              <a:rPr lang="en-US" sz="1200" b="0" i="0" kern="1200" dirty="0">
                <a:solidFill>
                  <a:schemeClr val="tx1"/>
                </a:solidFill>
                <a:effectLst/>
                <a:latin typeface="+mn-lt"/>
                <a:ea typeface="+mn-ea"/>
                <a:cs typeface="+mn-cs"/>
              </a:rPr>
              <a:t> benchmark for initial model development.</a:t>
            </a:r>
          </a:p>
          <a:p>
            <a:br>
              <a:rPr lang="en-US" dirty="0"/>
            </a:br>
            <a:endParaRPr lang="en-US" b="1" i="1" dirty="0"/>
          </a:p>
        </p:txBody>
      </p:sp>
      <p:sp>
        <p:nvSpPr>
          <p:cNvPr id="4" name="Slide Number Placeholder 3"/>
          <p:cNvSpPr>
            <a:spLocks noGrp="1"/>
          </p:cNvSpPr>
          <p:nvPr>
            <p:ph type="sldNum" sz="quarter" idx="5"/>
          </p:nvPr>
        </p:nvSpPr>
        <p:spPr/>
        <p:txBody>
          <a:bodyPr/>
          <a:lstStyle/>
          <a:p>
            <a:fld id="{47062F8D-6015-4186-952A-87493F61A5D5}" type="slidenum">
              <a:rPr lang="en-US" smtClean="0"/>
              <a:t>5</a:t>
            </a:fld>
            <a:endParaRPr lang="en-US" dirty="0"/>
          </a:p>
        </p:txBody>
      </p:sp>
    </p:spTree>
    <p:extLst>
      <p:ext uri="{BB962C8B-B14F-4D97-AF65-F5344CB8AC3E}">
        <p14:creationId xmlns:p14="http://schemas.microsoft.com/office/powerpoint/2010/main" val="873221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6</a:t>
            </a:fld>
            <a:endParaRPr lang="en-US" dirty="0"/>
          </a:p>
        </p:txBody>
      </p:sp>
    </p:spTree>
    <p:extLst>
      <p:ext uri="{BB962C8B-B14F-4D97-AF65-F5344CB8AC3E}">
        <p14:creationId xmlns:p14="http://schemas.microsoft.com/office/powerpoint/2010/main" val="25688387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7</a:t>
            </a:fld>
            <a:endParaRPr lang="en-US" dirty="0"/>
          </a:p>
        </p:txBody>
      </p:sp>
    </p:spTree>
    <p:extLst>
      <p:ext uri="{BB962C8B-B14F-4D97-AF65-F5344CB8AC3E}">
        <p14:creationId xmlns:p14="http://schemas.microsoft.com/office/powerpoint/2010/main" val="1656463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8</a:t>
            </a:fld>
            <a:endParaRPr lang="en-US" dirty="0"/>
          </a:p>
        </p:txBody>
      </p:sp>
    </p:spTree>
    <p:extLst>
      <p:ext uri="{BB962C8B-B14F-4D97-AF65-F5344CB8AC3E}">
        <p14:creationId xmlns:p14="http://schemas.microsoft.com/office/powerpoint/2010/main" val="20237158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Free recall vs diary option from a meta-analysis?</a:t>
            </a:r>
            <a:r>
              <a:rPr lang="en-US" sz="1200" b="0" i="0" kern="1200" dirty="0">
                <a:solidFill>
                  <a:schemeClr val="tx1"/>
                </a:solidFill>
                <a:effectLst/>
                <a:latin typeface="+mn-lt"/>
                <a:ea typeface="+mn-ea"/>
                <a:cs typeface="+mn-cs"/>
              </a:rPr>
              <a:t>. An approach I discussed with Deborah in an earlier meeting contrasts free recall performance with diary intrusion. This method is frequently used in the literature, seems to produce large effects, and aligns well with CMR observables, though extension to diary intrusions may require assumptions. However, the paradigm is vulnerable to explanation in terms of cue mismatch, and extant data may be poor quality.</a:t>
            </a:r>
          </a:p>
          <a:p>
            <a:br>
              <a:rPr lang="en-US" dirty="0"/>
            </a:br>
            <a:r>
              <a:rPr lang="en-US" sz="1200" b="0" i="0" kern="1200" dirty="0">
                <a:solidFill>
                  <a:schemeClr val="tx1"/>
                </a:solidFill>
                <a:effectLst/>
                <a:latin typeface="+mn-lt"/>
                <a:ea typeface="+mn-ea"/>
                <a:cs typeface="+mn-cs"/>
              </a:rPr>
              <a:t> Emily or Rick might have other preferred studies that better balance these considerations.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the worst case though, we can</a:t>
            </a:r>
            <a:r>
              <a:rPr lang="en-US" sz="1200" b="0" i="0" kern="1200" baseline="0" dirty="0">
                <a:solidFill>
                  <a:schemeClr val="tx1"/>
                </a:solidFill>
                <a:effectLst/>
                <a:latin typeface="+mn-lt"/>
                <a:ea typeface="+mn-ea"/>
                <a:cs typeface="+mn-cs"/>
              </a:rPr>
              <a:t> focus modeling on just evaluating and demonstrating basic consistency of the model using simulations from pre-existing parameter sets. This might be valuable, especially if it can identify and highlight new predictions that can be tested elsewhere. But I’d be worried about theoretical constraint.</a:t>
            </a:r>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9</a:t>
            </a:fld>
            <a:endParaRPr lang="en-US" dirty="0"/>
          </a:p>
        </p:txBody>
      </p:sp>
    </p:spTree>
    <p:extLst>
      <p:ext uri="{BB962C8B-B14F-4D97-AF65-F5344CB8AC3E}">
        <p14:creationId xmlns:p14="http://schemas.microsoft.com/office/powerpoint/2010/main" val="7239513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062F8D-6015-4186-952A-87493F61A5D5}" type="slidenum">
              <a:rPr lang="en-US" smtClean="0"/>
              <a:t>10</a:t>
            </a:fld>
            <a:endParaRPr lang="en-US" dirty="0"/>
          </a:p>
        </p:txBody>
      </p:sp>
    </p:spTree>
    <p:extLst>
      <p:ext uri="{BB962C8B-B14F-4D97-AF65-F5344CB8AC3E}">
        <p14:creationId xmlns:p14="http://schemas.microsoft.com/office/powerpoint/2010/main" val="9408011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need a shared definition of “dual representation” so we can concretely compare it to unitary alternatives. In one sentence, the RR offers this summary of the DRA: “The core assumption of the DRA is that there are in effect two memory traces – sensory and </a:t>
            </a:r>
            <a:r>
              <a:rPr lang="en-US" sz="1200" b="0" i="0" kern="1200" dirty="0" err="1">
                <a:solidFill>
                  <a:schemeClr val="tx1"/>
                </a:solidFill>
                <a:effectLst/>
                <a:latin typeface="+mn-lt"/>
                <a:ea typeface="+mn-ea"/>
                <a:cs typeface="+mn-cs"/>
              </a:rPr>
              <a:t>contextualised</a:t>
            </a:r>
            <a:r>
              <a:rPr lang="en-US" sz="1200" b="0" i="0" kern="1200" dirty="0">
                <a:solidFill>
                  <a:schemeClr val="tx1"/>
                </a:solidFill>
                <a:effectLst/>
                <a:latin typeface="+mn-lt"/>
                <a:ea typeface="+mn-ea"/>
                <a:cs typeface="+mn-cs"/>
              </a:rPr>
              <a:t> representations – and that pathological encoding of trauma strengthens the former but weakens the latter, leading to dissociations between involuntary and voluntary memory.” More detailed accounts frequently specify a neurobiological substrate, phenomenological consequences, or broader structural commitments. Imposing these additional may be important for theoretical fidelity or scientific communication. However, our definition should normally clarify functional commitments that narrow the model’s possible behaviors in ways that can be evaluated against data within the project’s timeline.</a:t>
            </a:r>
          </a:p>
        </p:txBody>
      </p:sp>
      <p:sp>
        <p:nvSpPr>
          <p:cNvPr id="4" name="Slide Number Placeholder 3"/>
          <p:cNvSpPr>
            <a:spLocks noGrp="1"/>
          </p:cNvSpPr>
          <p:nvPr>
            <p:ph type="sldNum" sz="quarter" idx="5"/>
          </p:nvPr>
        </p:nvSpPr>
        <p:spPr/>
        <p:txBody>
          <a:bodyPr/>
          <a:lstStyle/>
          <a:p>
            <a:fld id="{47062F8D-6015-4186-952A-87493F61A5D5}" type="slidenum">
              <a:rPr lang="en-US" smtClean="0"/>
              <a:t>11</a:t>
            </a:fld>
            <a:endParaRPr lang="en-US" dirty="0"/>
          </a:p>
        </p:txBody>
      </p:sp>
    </p:spTree>
    <p:extLst>
      <p:ext uri="{BB962C8B-B14F-4D97-AF65-F5344CB8AC3E}">
        <p14:creationId xmlns:p14="http://schemas.microsoft.com/office/powerpoint/2010/main" val="31869130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grant and registered report converge on three functional properties, but the team has discussed and may add possible extensions or variations:</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But what about the selective interference effect?</a:t>
            </a:r>
            <a:r>
              <a:rPr lang="en-US" sz="1200" b="0" i="0" kern="1200" dirty="0">
                <a:solidFill>
                  <a:schemeClr val="tx1"/>
                </a:solidFill>
                <a:effectLst/>
                <a:latin typeface="+mn-lt"/>
                <a:ea typeface="+mn-ea"/>
                <a:cs typeface="+mn-cs"/>
              </a:rPr>
              <a:t> Even with these details, DRA’s account of the selective interference effect may still be underspecified. If visuospatial interference reduces intrusion rates without affecting voluntary recall, what is the dual representation explanation for that pattern and how does the explanation contrast with a unitary account? So far, I’ve mostly seen descriptions of the effect as supportive evidence for the DRA, but not a detailed mechanistic account that could aid implementation or evaluation.</a:t>
            </a:r>
          </a:p>
          <a:p>
            <a:endParaRPr lang="en-US" sz="1200" b="0" i="0" kern="1200" dirty="0">
              <a:solidFill>
                <a:schemeClr val="tx1"/>
              </a:solidFill>
              <a:effectLst/>
              <a:latin typeface="+mn-lt"/>
              <a:ea typeface="+mn-ea"/>
              <a:cs typeface="+mn-cs"/>
            </a:endParaRPr>
          </a:p>
          <a:p>
            <a:r>
              <a:rPr lang="en-US" dirty="0">
                <a:effectLst/>
              </a:rPr>
              <a:t>Does this specification capture the DRA sufficiently for our initial model? Are there other commitments we should include or consider in alternative versions or future extensions?</a:t>
            </a:r>
          </a:p>
          <a:p>
            <a:br>
              <a:rPr lang="en-US" dirty="0"/>
            </a:br>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12</a:t>
            </a:fld>
            <a:endParaRPr lang="en-US" dirty="0"/>
          </a:p>
        </p:txBody>
      </p:sp>
    </p:spTree>
    <p:extLst>
      <p:ext uri="{BB962C8B-B14F-4D97-AF65-F5344CB8AC3E}">
        <p14:creationId xmlns:p14="http://schemas.microsoft.com/office/powerpoint/2010/main" val="28359052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Question</a:t>
            </a:r>
            <a:r>
              <a:rPr lang="en-US" sz="1200" b="0" i="0" kern="1200" dirty="0">
                <a:solidFill>
                  <a:schemeClr val="tx1"/>
                </a:solidFill>
                <a:effectLst/>
                <a:latin typeface="+mn-lt"/>
                <a:ea typeface="+mn-ea"/>
                <a:cs typeface="+mn-cs"/>
              </a:rPr>
              <a:t>: Given our goals, empirical targets, and dual-representation commitments, how should we set up an evaluation of competing accounts of interference and of voluntary vs involuntary recall?</a:t>
            </a:r>
          </a:p>
          <a:p>
            <a:br>
              <a:rPr lang="en-US" dirty="0"/>
            </a:br>
            <a:r>
              <a:rPr lang="en-US" sz="1200" b="0" i="0" kern="1200" dirty="0">
                <a:solidFill>
                  <a:schemeClr val="tx1"/>
                </a:solidFill>
                <a:effectLst/>
                <a:latin typeface="+mn-lt"/>
                <a:ea typeface="+mn-ea"/>
                <a:cs typeface="+mn-cs"/>
              </a:rPr>
              <a:t>To help guide discussion, I outline CMR’s default account of interference effects in general and under two paradigms for measuring the selective interference effect. Then I attempt to relate the dual representation commitments to those frameworks. Then I try to enumerate possible predictions that could distinguish and test the accounts and guide model development. These can hopefully related with everyone else’s perspectives and goals to clarify a path forward.</a:t>
            </a:r>
          </a:p>
        </p:txBody>
      </p:sp>
      <p:sp>
        <p:nvSpPr>
          <p:cNvPr id="4" name="Slide Number Placeholder 3"/>
          <p:cNvSpPr>
            <a:spLocks noGrp="1"/>
          </p:cNvSpPr>
          <p:nvPr>
            <p:ph type="sldNum" sz="quarter" idx="5"/>
          </p:nvPr>
        </p:nvSpPr>
        <p:spPr/>
        <p:txBody>
          <a:bodyPr/>
          <a:lstStyle/>
          <a:p>
            <a:fld id="{47062F8D-6015-4186-952A-87493F61A5D5}" type="slidenum">
              <a:rPr lang="en-US" smtClean="0"/>
              <a:t>13</a:t>
            </a:fld>
            <a:endParaRPr lang="en-US" dirty="0"/>
          </a:p>
        </p:txBody>
      </p:sp>
    </p:spTree>
    <p:extLst>
      <p:ext uri="{BB962C8B-B14F-4D97-AF65-F5344CB8AC3E}">
        <p14:creationId xmlns:p14="http://schemas.microsoft.com/office/powerpoint/2010/main" val="38463428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14</a:t>
            </a:fld>
            <a:endParaRPr lang="en-US" dirty="0"/>
          </a:p>
        </p:txBody>
      </p:sp>
    </p:spTree>
    <p:extLst>
      <p:ext uri="{BB962C8B-B14F-4D97-AF65-F5344CB8AC3E}">
        <p14:creationId xmlns:p14="http://schemas.microsoft.com/office/powerpoint/2010/main" val="28772488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Retrieved‑context theory (RCT) – a really prominent account of all this -- explains recall as the interaction of a drifting temporal context with item‑driven reinstatement [@howard2002distributed; @kahana2020computational].</a:t>
            </a:r>
          </a:p>
          <a:p>
            <a:r>
              <a:rPr lang="en-US" sz="1200" b="0" kern="1200" dirty="0">
                <a:solidFill>
                  <a:schemeClr val="tx1"/>
                </a:solidFill>
                <a:effectLst/>
                <a:latin typeface="+mn-lt"/>
                <a:ea typeface="+mn-ea"/>
                <a:cs typeface="+mn-cs"/>
              </a:rPr>
              <a:t>Each study or recall event blends associated features into a context state that evolves over time, leaving a recency‑weighted record.</a:t>
            </a:r>
          </a:p>
          <a:p>
            <a:r>
              <a:rPr lang="en-US" sz="1200" b="0" kern="1200" dirty="0">
                <a:solidFill>
                  <a:schemeClr val="tx1"/>
                </a:solidFill>
                <a:effectLst/>
                <a:latin typeface="+mn-lt"/>
                <a:ea typeface="+mn-ea"/>
                <a:cs typeface="+mn-cs"/>
              </a:rPr>
              <a:t>At study, states of this dynamic temporal context are associated with items in memory;</a:t>
            </a:r>
          </a:p>
          <a:p>
            <a:r>
              <a:rPr lang="en-US" sz="1200" b="0" kern="1200" dirty="0">
                <a:solidFill>
                  <a:schemeClr val="tx1"/>
                </a:solidFill>
                <a:effectLst/>
                <a:latin typeface="+mn-lt"/>
                <a:ea typeface="+mn-ea"/>
                <a:cs typeface="+mn-cs"/>
              </a:rPr>
              <a:t>at retrieval, it serves as the primary cue, prioritizing items studied in similar contexts.</a:t>
            </a:r>
          </a:p>
          <a:p>
            <a:r>
              <a:rPr lang="en-US" sz="1200" b="0" kern="1200" dirty="0">
                <a:solidFill>
                  <a:schemeClr val="tx1"/>
                </a:solidFill>
                <a:effectLst/>
                <a:latin typeface="+mn-lt"/>
                <a:ea typeface="+mn-ea"/>
                <a:cs typeface="+mn-cs"/>
              </a:rPr>
              <a:t>Reinstating the context associated with an item at retrieval allows the system to bridge the past and present.</a:t>
            </a:r>
          </a:p>
          <a:p>
            <a:r>
              <a:rPr lang="en-US" sz="1200" b="0" kern="1200" dirty="0">
                <a:solidFill>
                  <a:schemeClr val="tx1"/>
                </a:solidFill>
                <a:effectLst/>
                <a:latin typeface="+mn-lt"/>
                <a:ea typeface="+mn-ea"/>
                <a:cs typeface="+mn-cs"/>
              </a:rPr>
              <a:t>This has been a super successful account of episodic memory across a range of tasks and formalized into detailed computational models that can fit to and simulate human performance with great fidelity too. Among these is the Context Maintenance and Retrieval model, or CMR.</a:t>
            </a:r>
          </a:p>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15</a:t>
            </a:fld>
            <a:endParaRPr lang="en-US" dirty="0"/>
          </a:p>
        </p:txBody>
      </p:sp>
    </p:spTree>
    <p:extLst>
      <p:ext uri="{BB962C8B-B14F-4D97-AF65-F5344CB8AC3E}">
        <p14:creationId xmlns:p14="http://schemas.microsoft.com/office/powerpoint/2010/main" val="16125068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16</a:t>
            </a:fld>
            <a:endParaRPr lang="en-US" dirty="0"/>
          </a:p>
        </p:txBody>
      </p:sp>
    </p:spTree>
    <p:extLst>
      <p:ext uri="{BB962C8B-B14F-4D97-AF65-F5344CB8AC3E}">
        <p14:creationId xmlns:p14="http://schemas.microsoft.com/office/powerpoint/2010/main" val="41502274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17</a:t>
            </a:fld>
            <a:endParaRPr lang="en-US" dirty="0"/>
          </a:p>
        </p:txBody>
      </p:sp>
    </p:spTree>
    <p:extLst>
      <p:ext uri="{BB962C8B-B14F-4D97-AF65-F5344CB8AC3E}">
        <p14:creationId xmlns:p14="http://schemas.microsoft.com/office/powerpoint/2010/main" val="11824426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18</a:t>
            </a:fld>
            <a:endParaRPr lang="en-US" dirty="0"/>
          </a:p>
        </p:txBody>
      </p:sp>
    </p:spTree>
    <p:extLst>
      <p:ext uri="{BB962C8B-B14F-4D97-AF65-F5344CB8AC3E}">
        <p14:creationId xmlns:p14="http://schemas.microsoft.com/office/powerpoint/2010/main" val="30676008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062F8D-6015-4186-952A-87493F61A5D5}" type="slidenum">
              <a:rPr lang="en-US" smtClean="0"/>
              <a:t>19</a:t>
            </a:fld>
            <a:endParaRPr lang="en-US" dirty="0"/>
          </a:p>
        </p:txBody>
      </p:sp>
    </p:spTree>
    <p:extLst>
      <p:ext uri="{BB962C8B-B14F-4D97-AF65-F5344CB8AC3E}">
        <p14:creationId xmlns:p14="http://schemas.microsoft.com/office/powerpoint/2010/main" val="19188817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7062F8D-6015-4186-952A-87493F61A5D5}" type="slidenum">
              <a:rPr lang="en-US" smtClean="0"/>
              <a:t>21</a:t>
            </a:fld>
            <a:endParaRPr lang="en-US" dirty="0"/>
          </a:p>
        </p:txBody>
      </p:sp>
    </p:spTree>
    <p:extLst>
      <p:ext uri="{BB962C8B-B14F-4D97-AF65-F5344CB8AC3E}">
        <p14:creationId xmlns:p14="http://schemas.microsoft.com/office/powerpoint/2010/main" val="336465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9"/>
            <a:ext cx="7772400" cy="1470025"/>
          </a:xfrm>
        </p:spPr>
        <p:txBody>
          <a:bodyPr/>
          <a:lstStyle>
            <a:lvl1pPr>
              <a:defRPr>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chemeClr val="bg1"/>
                </a:solidFill>
              </a:defRPr>
            </a:lvl1pPr>
          </a:lstStyle>
          <a:p>
            <a:fld id="{241EB5C9-1307-BA42-ABA2-0BC069CD8E7F}" type="datetimeFigureOut">
              <a:rPr lang="en-US" smtClean="0"/>
              <a:pPr/>
              <a:t>11/12/25</a:t>
            </a:fld>
            <a:endParaRPr lang="en-US" dirty="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3000" b="1" cap="all">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bg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11/12/25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11/12/25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idx="1"/>
          </p:nvPr>
        </p:nvSpPr>
        <p:spPr>
          <a:xfrm>
            <a:off x="457201" y="1535113"/>
            <a:ext cx="4040188"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535113"/>
            <a:ext cx="4041775" cy="63976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11/12/25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11/12/25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11/12/25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73049"/>
            <a:ext cx="3008313" cy="1162051"/>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1" y="273054"/>
            <a:ext cx="5111751"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3" y="1435104"/>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11/12/25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1792288" y="5367341"/>
            <a:ext cx="5486400" cy="8048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11/12/25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11/12/25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dirty="0"/>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11/12/25</a:t>
            </a:fld>
            <a:endParaRPr lang="en-US" dirty="0"/>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dirty="0"/>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bg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bg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bg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bg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bg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455072"/>
            <a:ext cx="7772400" cy="1102519"/>
          </a:xfrm>
        </p:spPr>
        <p:txBody>
          <a:bodyPr>
            <a:normAutofit/>
          </a:bodyPr>
          <a:lstStyle/>
          <a:p>
            <a:r>
              <a:rPr lang="en-US" dirty="0"/>
              <a:t>Modelling Meeting</a:t>
            </a:r>
            <a:endParaRPr dirty="0"/>
          </a:p>
        </p:txBody>
      </p:sp>
      <p:sp>
        <p:nvSpPr>
          <p:cNvPr id="3" name="Subtitle 2"/>
          <p:cNvSpPr>
            <a:spLocks noGrp="1"/>
          </p:cNvSpPr>
          <p:nvPr>
            <p:ph type="subTitle" idx="1"/>
          </p:nvPr>
        </p:nvSpPr>
        <p:spPr>
          <a:xfrm>
            <a:off x="1371600" y="3771900"/>
            <a:ext cx="6400800" cy="1314450"/>
          </a:xfrm>
        </p:spPr>
        <p:txBody>
          <a:bodyPr>
            <a:normAutofit/>
          </a:bodyPr>
          <a:lstStyle/>
          <a:p>
            <a:br>
              <a:rPr lang="en-US" dirty="0">
                <a:solidFill>
                  <a:schemeClr val="bg1"/>
                </a:solidFill>
              </a:rPr>
            </a:br>
            <a:br>
              <a:rPr lang="en-US" dirty="0">
                <a:solidFill>
                  <a:schemeClr val="bg1"/>
                </a:solidFill>
              </a:rPr>
            </a:br>
            <a:r>
              <a:rPr lang="en-US" dirty="0">
                <a:solidFill>
                  <a:schemeClr val="bg1"/>
                </a:solidFill>
              </a:rPr>
              <a:t>10 November 2025</a:t>
            </a:r>
            <a:endParaRPr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E7BBF-F7D4-992B-B96F-73D8AB21F0E5}"/>
              </a:ext>
            </a:extLst>
          </p:cNvPr>
          <p:cNvSpPr>
            <a:spLocks noGrp="1"/>
          </p:cNvSpPr>
          <p:nvPr>
            <p:ph type="title"/>
          </p:nvPr>
        </p:nvSpPr>
        <p:spPr/>
        <p:txBody>
          <a:bodyPr/>
          <a:lstStyle/>
          <a:p>
            <a:r>
              <a:rPr lang="en-US" dirty="0"/>
              <a:t>Goals for Modelling Project (From Grant)</a:t>
            </a:r>
          </a:p>
        </p:txBody>
      </p:sp>
      <p:sp>
        <p:nvSpPr>
          <p:cNvPr id="3" name="Content Placeholder 2">
            <a:extLst>
              <a:ext uri="{FF2B5EF4-FFF2-40B4-BE49-F238E27FC236}">
                <a16:creationId xmlns:a16="http://schemas.microsoft.com/office/drawing/2014/main" id="{C5E5D7D5-4562-F08B-DBAC-D549D7BBE8EC}"/>
              </a:ext>
            </a:extLst>
          </p:cNvPr>
          <p:cNvSpPr>
            <a:spLocks noGrp="1"/>
          </p:cNvSpPr>
          <p:nvPr>
            <p:ph idx="1"/>
          </p:nvPr>
        </p:nvSpPr>
        <p:spPr>
          <a:xfrm>
            <a:off x="457200" y="1600201"/>
            <a:ext cx="8229600" cy="4983160"/>
          </a:xfrm>
        </p:spPr>
        <p:txBody>
          <a:bodyPr>
            <a:normAutofit lnSpcReduction="10000"/>
          </a:bodyPr>
          <a:lstStyle/>
          <a:p>
            <a:pPr marL="457200" indent="-457200">
              <a:buAutoNum type="arabicPeriod"/>
            </a:pPr>
            <a:r>
              <a:rPr lang="en-US" b="1" u="sng" dirty="0"/>
              <a:t>Address the selective interference effect with CMR. </a:t>
            </a:r>
            <a:r>
              <a:rPr lang="en-US" dirty="0"/>
              <a:t>Characterize and evaluate a retrieved-context account of the post-trauma visuospatial dissociation between intrusive involuntary memories and deliberate recall.</a:t>
            </a:r>
          </a:p>
          <a:p>
            <a:pPr marL="457200" indent="-457200">
              <a:buAutoNum type="arabicPeriod"/>
            </a:pPr>
            <a:r>
              <a:rPr lang="en-US" b="1" u="sng" dirty="0"/>
              <a:t>Formally contrast dual-representation and unitary recall accounts. </a:t>
            </a:r>
            <a:r>
              <a:rPr lang="en-US" dirty="0"/>
              <a:t>Specify matched model variants for voluntary and involuntary retrieval and compare their predictions under shared task settings.</a:t>
            </a:r>
          </a:p>
          <a:p>
            <a:pPr marL="457200" indent="-457200">
              <a:buAutoNum type="arabicPeriod"/>
            </a:pPr>
            <a:r>
              <a:rPr lang="en-US" b="1" u="sng" dirty="0"/>
              <a:t>Clarify and test the DRA's emotion-disrupted integrative encoding claims.</a:t>
            </a:r>
            <a:r>
              <a:rPr lang="en-US" dirty="0"/>
              <a:t> Encode the dual-representation hypothesis that heightened affect strengthens sensory/affect bindings while loosening contextual links, then assess its behavioral implications within CMR.</a:t>
            </a:r>
          </a:p>
          <a:p>
            <a:pPr marL="0" indent="0">
              <a:buNone/>
            </a:pPr>
            <a:endParaRPr lang="en-US" dirty="0"/>
          </a:p>
        </p:txBody>
      </p:sp>
    </p:spTree>
    <p:extLst>
      <p:ext uri="{BB962C8B-B14F-4D97-AF65-F5344CB8AC3E}">
        <p14:creationId xmlns:p14="http://schemas.microsoft.com/office/powerpoint/2010/main" val="2937089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816BC-A5FA-631E-AF9C-44BCE1DF5612}"/>
              </a:ext>
            </a:extLst>
          </p:cNvPr>
          <p:cNvSpPr>
            <a:spLocks noGrp="1"/>
          </p:cNvSpPr>
          <p:nvPr>
            <p:ph type="title"/>
          </p:nvPr>
        </p:nvSpPr>
        <p:spPr/>
        <p:txBody>
          <a:bodyPr/>
          <a:lstStyle/>
          <a:p>
            <a:r>
              <a:rPr lang="en-US" dirty="0"/>
              <a:t>Goals for Meeting</a:t>
            </a:r>
          </a:p>
        </p:txBody>
      </p:sp>
      <p:sp>
        <p:nvSpPr>
          <p:cNvPr id="3" name="Content Placeholder 2">
            <a:extLst>
              <a:ext uri="{FF2B5EF4-FFF2-40B4-BE49-F238E27FC236}">
                <a16:creationId xmlns:a16="http://schemas.microsoft.com/office/drawing/2014/main" id="{A69548A1-032B-5D61-E527-DB07D4FBE810}"/>
              </a:ext>
            </a:extLst>
          </p:cNvPr>
          <p:cNvSpPr>
            <a:spLocks noGrp="1"/>
          </p:cNvSpPr>
          <p:nvPr>
            <p:ph idx="1"/>
          </p:nvPr>
        </p:nvSpPr>
        <p:spPr/>
        <p:txBody>
          <a:bodyPr>
            <a:normAutofit lnSpcReduction="10000"/>
          </a:bodyPr>
          <a:lstStyle/>
          <a:p>
            <a:pPr marL="457200" indent="-457200">
              <a:buFont typeface="+mj-lt"/>
              <a:buAutoNum type="arabicPeriod"/>
            </a:pPr>
            <a:r>
              <a:rPr lang="en-US" b="1" dirty="0"/>
              <a:t>Select the focal experiment(s) for the selective interference / Tetris effect.</a:t>
            </a:r>
            <a:r>
              <a:rPr lang="en-US" dirty="0"/>
              <a:t> Different published paradigms emphasize different measurements and outcomes; agreeing on the anchor keeps us from targeting the wrong behavioral signature.</a:t>
            </a:r>
          </a:p>
          <a:p>
            <a:pPr marL="457200" indent="-457200">
              <a:buFont typeface="+mj-lt"/>
              <a:buAutoNum type="arabicPeriod"/>
            </a:pPr>
            <a:r>
              <a:rPr lang="en-US" b="1" dirty="0"/>
              <a:t>Define the dual-representation commitments for the initial model.</a:t>
            </a:r>
            <a:r>
              <a:rPr lang="en-US" dirty="0"/>
              <a:t> We need to confirm which elements of the DRA belong in the first implementation so that downstream comparisons are meaningful.</a:t>
            </a:r>
          </a:p>
          <a:p>
            <a:pPr marL="457200" indent="-457200">
              <a:buFont typeface="+mj-lt"/>
              <a:buAutoNum type="arabicPeriod"/>
            </a:pPr>
            <a:r>
              <a:rPr lang="en-US" b="1" dirty="0"/>
              <a:t>Set the theoretical framework and comparison approach.</a:t>
            </a:r>
            <a:r>
              <a:rPr lang="en-US" dirty="0"/>
              <a:t> Clarifying how we conceptualize interference and voluntary vs involuntary recall will determine the modelling toolkit and evaluation strategy.</a:t>
            </a:r>
          </a:p>
          <a:p>
            <a:pPr marL="457200" indent="-457200">
              <a:buFont typeface="+mj-lt"/>
              <a:buAutoNum type="arabicPeriod"/>
            </a:pPr>
            <a:endParaRPr lang="en-US" dirty="0"/>
          </a:p>
        </p:txBody>
      </p:sp>
    </p:spTree>
    <p:extLst>
      <p:ext uri="{BB962C8B-B14F-4D97-AF65-F5344CB8AC3E}">
        <p14:creationId xmlns:p14="http://schemas.microsoft.com/office/powerpoint/2010/main" val="3400551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6EDFF-0170-6420-6865-6CEC811AA706}"/>
              </a:ext>
            </a:extLst>
          </p:cNvPr>
          <p:cNvSpPr>
            <a:spLocks noGrp="1"/>
          </p:cNvSpPr>
          <p:nvPr>
            <p:ph type="title"/>
          </p:nvPr>
        </p:nvSpPr>
        <p:spPr/>
        <p:txBody>
          <a:bodyPr>
            <a:normAutofit/>
          </a:bodyPr>
          <a:lstStyle/>
          <a:p>
            <a:r>
              <a:rPr lang="en-US" b="0" dirty="0"/>
              <a:t>Select the focal experiment(s) for the selective interference / Tetris effect</a:t>
            </a:r>
          </a:p>
        </p:txBody>
      </p:sp>
      <p:sp>
        <p:nvSpPr>
          <p:cNvPr id="3" name="Text Placeholder 2">
            <a:extLst>
              <a:ext uri="{FF2B5EF4-FFF2-40B4-BE49-F238E27FC236}">
                <a16:creationId xmlns:a16="http://schemas.microsoft.com/office/drawing/2014/main" id="{FBD62F5D-B1FF-90E3-4011-602BE5A076EE}"/>
              </a:ext>
            </a:extLst>
          </p:cNvPr>
          <p:cNvSpPr>
            <a:spLocks noGrp="1"/>
          </p:cNvSpPr>
          <p:nvPr>
            <p:ph type="body" idx="1"/>
          </p:nvPr>
        </p:nvSpPr>
        <p:spPr/>
        <p:txBody>
          <a:bodyPr>
            <a:normAutofit/>
          </a:bodyPr>
          <a:lstStyle/>
          <a:p>
            <a:r>
              <a:rPr lang="en-US" sz="2000" b="1" dirty="0"/>
              <a:t>Question</a:t>
            </a:r>
            <a:r>
              <a:rPr lang="en-US" sz="2000" dirty="0"/>
              <a:t>: Which paradigm and dataset should anchor modeling of the selective interference effect?</a:t>
            </a:r>
          </a:p>
        </p:txBody>
      </p:sp>
    </p:spTree>
    <p:extLst>
      <p:ext uri="{BB962C8B-B14F-4D97-AF65-F5344CB8AC3E}">
        <p14:creationId xmlns:p14="http://schemas.microsoft.com/office/powerpoint/2010/main" val="3966716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DE41A-32DF-EFA1-C835-1081ADD5CC30}"/>
              </a:ext>
            </a:extLst>
          </p:cNvPr>
          <p:cNvSpPr>
            <a:spLocks noGrp="1"/>
          </p:cNvSpPr>
          <p:nvPr>
            <p:ph type="title"/>
          </p:nvPr>
        </p:nvSpPr>
        <p:spPr/>
        <p:txBody>
          <a:bodyPr>
            <a:normAutofit/>
          </a:bodyPr>
          <a:lstStyle/>
          <a:p>
            <a:r>
              <a:rPr lang="en-US" b="1" dirty="0"/>
              <a:t>Criteria</a:t>
            </a:r>
            <a:endParaRPr lang="en-US" dirty="0"/>
          </a:p>
        </p:txBody>
      </p:sp>
      <p:sp>
        <p:nvSpPr>
          <p:cNvPr id="3" name="Content Placeholder 2">
            <a:extLst>
              <a:ext uri="{FF2B5EF4-FFF2-40B4-BE49-F238E27FC236}">
                <a16:creationId xmlns:a16="http://schemas.microsoft.com/office/drawing/2014/main" id="{09C56499-3FEB-365C-B872-74179C61719F}"/>
              </a:ext>
            </a:extLst>
          </p:cNvPr>
          <p:cNvSpPr>
            <a:spLocks noGrp="1"/>
          </p:cNvSpPr>
          <p:nvPr>
            <p:ph idx="1"/>
          </p:nvPr>
        </p:nvSpPr>
        <p:spPr>
          <a:xfrm>
            <a:off x="457200" y="1600201"/>
            <a:ext cx="8229600" cy="4983160"/>
          </a:xfrm>
        </p:spPr>
        <p:txBody>
          <a:bodyPr>
            <a:normAutofit fontScale="92500" lnSpcReduction="20000"/>
          </a:bodyPr>
          <a:lstStyle/>
          <a:p>
            <a:r>
              <a:rPr lang="en-US" b="1" dirty="0"/>
              <a:t>Unambiguous effect</a:t>
            </a:r>
            <a:r>
              <a:rPr lang="en-US" i="1" dirty="0"/>
              <a:t>:</a:t>
            </a:r>
            <a:r>
              <a:rPr lang="en-US" dirty="0"/>
              <a:t> the study should clearly show visuospatial load suppressing intrusions more than voluntary recall.</a:t>
            </a:r>
          </a:p>
          <a:p>
            <a:r>
              <a:rPr lang="en-US" b="1" dirty="0"/>
              <a:t>Representative measures</a:t>
            </a:r>
            <a:r>
              <a:rPr lang="en-US" i="1" dirty="0"/>
              <a:t>:</a:t>
            </a:r>
            <a:r>
              <a:rPr lang="en-US" dirty="0"/>
              <a:t> dependent variables should match common practice (FR scoring, intrusion diaries, VIP), so results speak to the literature.</a:t>
            </a:r>
          </a:p>
          <a:p>
            <a:r>
              <a:rPr lang="en-US" b="1" dirty="0"/>
              <a:t>Rigorous procedures</a:t>
            </a:r>
            <a:r>
              <a:rPr lang="en-US" i="1" dirty="0"/>
              <a:t>:</a:t>
            </a:r>
            <a:r>
              <a:rPr lang="en-US" dirty="0"/>
              <a:t> data collection/scoring must control for key confounds, so we're sure we're modelling the intended process.</a:t>
            </a:r>
          </a:p>
          <a:p>
            <a:r>
              <a:rPr lang="en-US" b="1" dirty="0"/>
              <a:t>Maps to model observables</a:t>
            </a:r>
            <a:r>
              <a:rPr lang="en-US" i="1" dirty="0"/>
              <a:t>:</a:t>
            </a:r>
            <a:r>
              <a:rPr lang="en-US" dirty="0"/>
              <a:t> outputs need to correspond to quantities our frameworks already simulate (or can extend to) without speculative bridges.</a:t>
            </a:r>
          </a:p>
          <a:p>
            <a:r>
              <a:rPr lang="en-US" b="1" dirty="0"/>
              <a:t>Constrains mechanisms</a:t>
            </a:r>
            <a:r>
              <a:rPr lang="en-US" i="1" dirty="0"/>
              <a:t>:</a:t>
            </a:r>
            <a:r>
              <a:rPr lang="en-US" dirty="0"/>
              <a:t> data needs detail and within-subject measures beyond aggregate scores (e.g., trial-level sequences, order manipulations) so competing models can't all fit. </a:t>
            </a:r>
          </a:p>
          <a:p>
            <a:pPr marL="0" indent="0">
              <a:buNone/>
            </a:pPr>
            <a:endParaRPr lang="en-US" dirty="0"/>
          </a:p>
          <a:p>
            <a:pPr marL="0" indent="0" algn="ctr">
              <a:buNone/>
            </a:pPr>
            <a:r>
              <a:rPr lang="en-US" dirty="0"/>
              <a:t>It’s unlikely that any option totally satisfies, so we may triangulate with multiple datasets. Still, we want one </a:t>
            </a:r>
            <a:r>
              <a:rPr lang="en-US" i="1" dirty="0"/>
              <a:t>primary</a:t>
            </a:r>
            <a:r>
              <a:rPr lang="en-US" dirty="0"/>
              <a:t> benchmark.</a:t>
            </a:r>
          </a:p>
        </p:txBody>
      </p:sp>
    </p:spTree>
    <p:extLst>
      <p:ext uri="{BB962C8B-B14F-4D97-AF65-F5344CB8AC3E}">
        <p14:creationId xmlns:p14="http://schemas.microsoft.com/office/powerpoint/2010/main" val="3065221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04AA2-D739-2FAF-B11C-024B1BDC05A0}"/>
              </a:ext>
            </a:extLst>
          </p:cNvPr>
          <p:cNvSpPr>
            <a:spLocks noGrp="1"/>
          </p:cNvSpPr>
          <p:nvPr>
            <p:ph type="title"/>
          </p:nvPr>
        </p:nvSpPr>
        <p:spPr/>
        <p:txBody>
          <a:bodyPr>
            <a:normAutofit fontScale="90000"/>
          </a:bodyPr>
          <a:lstStyle/>
          <a:p>
            <a:r>
              <a:rPr lang="en-US" dirty="0"/>
              <a:t>Example: </a:t>
            </a:r>
            <a:br>
              <a:rPr lang="en-US" dirty="0"/>
            </a:br>
            <a:r>
              <a:rPr lang="en-US" dirty="0"/>
              <a:t>Lau-Zhu, A., Henson, R. N., &amp; Holmes, E. A. (2019)</a:t>
            </a:r>
          </a:p>
        </p:txBody>
      </p:sp>
      <p:sp>
        <p:nvSpPr>
          <p:cNvPr id="5" name="Content Placeholder 4">
            <a:extLst>
              <a:ext uri="{FF2B5EF4-FFF2-40B4-BE49-F238E27FC236}">
                <a16:creationId xmlns:a16="http://schemas.microsoft.com/office/drawing/2014/main" id="{595B571D-825F-61B6-820A-A2FBA96F501B}"/>
              </a:ext>
            </a:extLst>
          </p:cNvPr>
          <p:cNvSpPr>
            <a:spLocks noGrp="1"/>
          </p:cNvSpPr>
          <p:nvPr>
            <p:ph sz="half" idx="2"/>
          </p:nvPr>
        </p:nvSpPr>
        <p:spPr>
          <a:xfrm>
            <a:off x="4828309" y="1828798"/>
            <a:ext cx="4038600" cy="4525963"/>
          </a:xfrm>
        </p:spPr>
        <p:txBody>
          <a:bodyPr/>
          <a:lstStyle/>
          <a:p>
            <a:r>
              <a:rPr lang="en-US" dirty="0"/>
              <a:t>Includes several experiments aimed to rule out unitary/single-trace accounts that all reproduce the effect under desired conditions</a:t>
            </a:r>
          </a:p>
          <a:p>
            <a:r>
              <a:rPr lang="en-US" dirty="0"/>
              <a:t>If data is present and detailed enough, would thus provide strong constraints and help bridge across paradigms</a:t>
            </a:r>
          </a:p>
          <a:p>
            <a:r>
              <a:rPr lang="en-US" dirty="0"/>
              <a:t>Would still select one experiment as primary target!</a:t>
            </a:r>
          </a:p>
        </p:txBody>
      </p:sp>
      <p:pic>
        <p:nvPicPr>
          <p:cNvPr id="7" name="Content Placeholder 6">
            <a:extLst>
              <a:ext uri="{FF2B5EF4-FFF2-40B4-BE49-F238E27FC236}">
                <a16:creationId xmlns:a16="http://schemas.microsoft.com/office/drawing/2014/main" id="{E70EC3BA-3130-AF37-77FA-7F8A4E647E6D}"/>
              </a:ext>
            </a:extLst>
          </p:cNvPr>
          <p:cNvPicPr>
            <a:picLocks noGrp="1" noChangeAspect="1"/>
          </p:cNvPicPr>
          <p:nvPr>
            <p:ph sz="half" idx="1"/>
          </p:nvPr>
        </p:nvPicPr>
        <p:blipFill>
          <a:blip r:embed="rId3"/>
          <a:stretch>
            <a:fillRect/>
          </a:stretch>
        </p:blipFill>
        <p:spPr>
          <a:xfrm>
            <a:off x="122092" y="1600200"/>
            <a:ext cx="4373709" cy="4983161"/>
          </a:xfrm>
          <a:prstGeom prst="rect">
            <a:avLst/>
          </a:prstGeom>
        </p:spPr>
      </p:pic>
    </p:spTree>
    <p:extLst>
      <p:ext uri="{BB962C8B-B14F-4D97-AF65-F5344CB8AC3E}">
        <p14:creationId xmlns:p14="http://schemas.microsoft.com/office/powerpoint/2010/main" val="2557865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772CF-DEC0-7DA9-B1C4-19711A9ACF4F}"/>
              </a:ext>
            </a:extLst>
          </p:cNvPr>
          <p:cNvSpPr>
            <a:spLocks noGrp="1"/>
          </p:cNvSpPr>
          <p:nvPr>
            <p:ph type="title"/>
          </p:nvPr>
        </p:nvSpPr>
        <p:spPr/>
        <p:txBody>
          <a:bodyPr/>
          <a:lstStyle/>
          <a:p>
            <a:r>
              <a:rPr lang="en-US" dirty="0"/>
              <a:t>Example:</a:t>
            </a:r>
            <a:br>
              <a:rPr lang="en-US" dirty="0"/>
            </a:br>
            <a:r>
              <a:rPr lang="en-US" dirty="0"/>
              <a:t>Experiment 1 from current project</a:t>
            </a:r>
          </a:p>
        </p:txBody>
      </p:sp>
      <p:sp>
        <p:nvSpPr>
          <p:cNvPr id="8" name="Content Placeholder 7">
            <a:extLst>
              <a:ext uri="{FF2B5EF4-FFF2-40B4-BE49-F238E27FC236}">
                <a16:creationId xmlns:a16="http://schemas.microsoft.com/office/drawing/2014/main" id="{EA62F42D-FE8F-B2FD-2CC4-7B25E3E8E399}"/>
              </a:ext>
            </a:extLst>
          </p:cNvPr>
          <p:cNvSpPr>
            <a:spLocks noGrp="1"/>
          </p:cNvSpPr>
          <p:nvPr>
            <p:ph sz="half" idx="1"/>
          </p:nvPr>
        </p:nvSpPr>
        <p:spPr>
          <a:xfrm>
            <a:off x="166255" y="1780310"/>
            <a:ext cx="2743200" cy="4980708"/>
          </a:xfrm>
        </p:spPr>
        <p:txBody>
          <a:bodyPr>
            <a:normAutofit/>
          </a:bodyPr>
          <a:lstStyle/>
          <a:p>
            <a:r>
              <a:rPr lang="en-US" dirty="0"/>
              <a:t>Detailed procedures and data</a:t>
            </a:r>
          </a:p>
          <a:p>
            <a:r>
              <a:rPr lang="en-US" dirty="0"/>
              <a:t>Methodology we trust</a:t>
            </a:r>
          </a:p>
          <a:p>
            <a:r>
              <a:rPr lang="en-US" dirty="0"/>
              <a:t>Has trouble showing a clear selective interference effect</a:t>
            </a:r>
          </a:p>
          <a:p>
            <a:r>
              <a:rPr lang="en-US" dirty="0"/>
              <a:t>May still be useful for modeling anyway if exploring ideas separate from the focal effect (impacted temporal organization?)</a:t>
            </a:r>
          </a:p>
          <a:p>
            <a:endParaRPr lang="en-US" dirty="0"/>
          </a:p>
        </p:txBody>
      </p:sp>
      <p:pic>
        <p:nvPicPr>
          <p:cNvPr id="10" name="Content Placeholder 9">
            <a:extLst>
              <a:ext uri="{FF2B5EF4-FFF2-40B4-BE49-F238E27FC236}">
                <a16:creationId xmlns:a16="http://schemas.microsoft.com/office/drawing/2014/main" id="{3465C5D8-03E5-D64F-93E5-DE48CA4387C0}"/>
              </a:ext>
            </a:extLst>
          </p:cNvPr>
          <p:cNvPicPr>
            <a:picLocks noGrp="1" noChangeAspect="1"/>
          </p:cNvPicPr>
          <p:nvPr>
            <p:ph sz="half" idx="2"/>
          </p:nvPr>
        </p:nvPicPr>
        <p:blipFill>
          <a:blip r:embed="rId3"/>
          <a:stretch>
            <a:fillRect/>
          </a:stretch>
        </p:blipFill>
        <p:spPr>
          <a:xfrm>
            <a:off x="3034145" y="2238157"/>
            <a:ext cx="5943600" cy="3323221"/>
          </a:xfrm>
          <a:prstGeom prst="rect">
            <a:avLst/>
          </a:prstGeom>
        </p:spPr>
      </p:pic>
    </p:spTree>
    <p:extLst>
      <p:ext uri="{BB962C8B-B14F-4D97-AF65-F5344CB8AC3E}">
        <p14:creationId xmlns:p14="http://schemas.microsoft.com/office/powerpoint/2010/main" val="2164111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3AFFE-7FCE-FF1B-FFBE-7C32C1D341B1}"/>
              </a:ext>
            </a:extLst>
          </p:cNvPr>
          <p:cNvSpPr>
            <a:spLocks noGrp="1"/>
          </p:cNvSpPr>
          <p:nvPr>
            <p:ph type="title"/>
          </p:nvPr>
        </p:nvSpPr>
        <p:spPr/>
        <p:txBody>
          <a:bodyPr/>
          <a:lstStyle/>
          <a:p>
            <a:r>
              <a:rPr lang="en-US" dirty="0"/>
              <a:t>Note: The Vigilance Retrieval Task is Very Cool!</a:t>
            </a:r>
          </a:p>
        </p:txBody>
      </p:sp>
      <p:pic>
        <p:nvPicPr>
          <p:cNvPr id="4" name="Content Placeholder 3">
            <a:extLst>
              <a:ext uri="{FF2B5EF4-FFF2-40B4-BE49-F238E27FC236}">
                <a16:creationId xmlns:a16="http://schemas.microsoft.com/office/drawing/2014/main" id="{12FDE828-F84E-9B84-6BFC-E182DFEC6F9C}"/>
              </a:ext>
            </a:extLst>
          </p:cNvPr>
          <p:cNvPicPr>
            <a:picLocks noGrp="1" noChangeAspect="1"/>
          </p:cNvPicPr>
          <p:nvPr>
            <p:ph sz="half" idx="1"/>
          </p:nvPr>
        </p:nvPicPr>
        <p:blipFill>
          <a:blip r:embed="rId3"/>
          <a:stretch>
            <a:fillRect/>
          </a:stretch>
        </p:blipFill>
        <p:spPr>
          <a:xfrm>
            <a:off x="457200" y="2472378"/>
            <a:ext cx="4038600" cy="2781606"/>
          </a:xfrm>
          <a:prstGeom prst="rect">
            <a:avLst/>
          </a:prstGeom>
        </p:spPr>
      </p:pic>
      <p:sp>
        <p:nvSpPr>
          <p:cNvPr id="5" name="Content Placeholder 4">
            <a:extLst>
              <a:ext uri="{FF2B5EF4-FFF2-40B4-BE49-F238E27FC236}">
                <a16:creationId xmlns:a16="http://schemas.microsoft.com/office/drawing/2014/main" id="{5D3D578C-40EE-6656-C913-753C6C1403BC}"/>
              </a:ext>
            </a:extLst>
          </p:cNvPr>
          <p:cNvSpPr>
            <a:spLocks noGrp="1"/>
          </p:cNvSpPr>
          <p:nvPr>
            <p:ph sz="half" idx="2"/>
          </p:nvPr>
        </p:nvSpPr>
        <p:spPr>
          <a:xfrm>
            <a:off x="4648199" y="1600201"/>
            <a:ext cx="4315691" cy="5119254"/>
          </a:xfrm>
        </p:spPr>
        <p:txBody>
          <a:bodyPr>
            <a:normAutofit/>
          </a:bodyPr>
          <a:lstStyle/>
          <a:p>
            <a:r>
              <a:rPr lang="en-US" dirty="0"/>
              <a:t>CMR makes reasonably clear predictions about how item-based retrieval priming affect memory performance, even when interleaved in a free recall task</a:t>
            </a:r>
          </a:p>
          <a:p>
            <a:r>
              <a:rPr lang="en-US" dirty="0"/>
              <a:t>So datasets like are well-suited for model evaluation if detailed enough!</a:t>
            </a:r>
          </a:p>
          <a:p>
            <a:r>
              <a:rPr lang="en-US" dirty="0"/>
              <a:t>Other applicable paradigms beyond free recall: recognition, paired associates learning, some kinds of memory-based decision-making tasks</a:t>
            </a:r>
          </a:p>
        </p:txBody>
      </p:sp>
    </p:spTree>
    <p:extLst>
      <p:ext uri="{BB962C8B-B14F-4D97-AF65-F5344CB8AC3E}">
        <p14:creationId xmlns:p14="http://schemas.microsoft.com/office/powerpoint/2010/main" val="1155499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15EBB-13BC-0CD1-A2A9-608D99DD74C3}"/>
              </a:ext>
            </a:extLst>
          </p:cNvPr>
          <p:cNvSpPr>
            <a:spLocks noGrp="1"/>
          </p:cNvSpPr>
          <p:nvPr>
            <p:ph type="title"/>
          </p:nvPr>
        </p:nvSpPr>
        <p:spPr/>
        <p:txBody>
          <a:bodyPr/>
          <a:lstStyle/>
          <a:p>
            <a:r>
              <a:rPr lang="en-US" dirty="0"/>
              <a:t>Any Clearly Favored Options?</a:t>
            </a:r>
          </a:p>
        </p:txBody>
      </p:sp>
      <p:sp>
        <p:nvSpPr>
          <p:cNvPr id="3" name="Content Placeholder 2">
            <a:extLst>
              <a:ext uri="{FF2B5EF4-FFF2-40B4-BE49-F238E27FC236}">
                <a16:creationId xmlns:a16="http://schemas.microsoft.com/office/drawing/2014/main" id="{0F2B2078-BA41-44E7-4255-4138A0B5D8A1}"/>
              </a:ext>
            </a:extLst>
          </p:cNvPr>
          <p:cNvSpPr>
            <a:spLocks noGrp="1"/>
          </p:cNvSpPr>
          <p:nvPr>
            <p:ph idx="1"/>
          </p:nvPr>
        </p:nvSpPr>
        <p:spPr>
          <a:xfrm>
            <a:off x="69272" y="1600201"/>
            <a:ext cx="9005455" cy="4983160"/>
          </a:xfrm>
        </p:spPr>
        <p:txBody>
          <a:bodyPr>
            <a:noAutofit/>
          </a:bodyPr>
          <a:lstStyle/>
          <a:p>
            <a:r>
              <a:rPr lang="en-US" sz="2800" dirty="0"/>
              <a:t>Literature has many large-scale reviews and meta-analyses</a:t>
            </a:r>
          </a:p>
          <a:p>
            <a:pPr lvl="1"/>
            <a:r>
              <a:rPr lang="en-US" sz="2400" dirty="0"/>
              <a:t>Ex. James et al (2016) reviews 74 articles and highlights methods, including free recall + intrusion diary designs</a:t>
            </a:r>
          </a:p>
          <a:p>
            <a:r>
              <a:rPr lang="en-US" sz="2800" dirty="0"/>
              <a:t>Other stakeholders might have clearly preferred studies that better balance these considerations.</a:t>
            </a:r>
          </a:p>
          <a:p>
            <a:r>
              <a:rPr lang="en-US" sz="2800" dirty="0"/>
              <a:t>In worst case, we could limit modeling focus to “proof of concept” demonstrations that borrow parameters fit to other data, simulate experiment designs under specified assumptions, and plot predictions</a:t>
            </a:r>
          </a:p>
        </p:txBody>
      </p:sp>
    </p:spTree>
    <p:extLst>
      <p:ext uri="{BB962C8B-B14F-4D97-AF65-F5344CB8AC3E}">
        <p14:creationId xmlns:p14="http://schemas.microsoft.com/office/powerpoint/2010/main" val="3150098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6081B-2FDC-FA42-C5D3-E37FE37C5A85}"/>
              </a:ext>
            </a:extLst>
          </p:cNvPr>
          <p:cNvSpPr>
            <a:spLocks noGrp="1"/>
          </p:cNvSpPr>
          <p:nvPr>
            <p:ph type="title"/>
          </p:nvPr>
        </p:nvSpPr>
        <p:spPr/>
        <p:txBody>
          <a:bodyPr>
            <a:noAutofit/>
          </a:bodyPr>
          <a:lstStyle/>
          <a:p>
            <a:r>
              <a:rPr lang="en-US" sz="3600" b="0" dirty="0"/>
              <a:t>SELECT commitments from dual-representation ACCOUNT (DRA) for initial model</a:t>
            </a:r>
          </a:p>
        </p:txBody>
      </p:sp>
      <p:sp>
        <p:nvSpPr>
          <p:cNvPr id="3" name="Text Placeholder 2">
            <a:extLst>
              <a:ext uri="{FF2B5EF4-FFF2-40B4-BE49-F238E27FC236}">
                <a16:creationId xmlns:a16="http://schemas.microsoft.com/office/drawing/2014/main" id="{49E0621A-69EF-7921-7190-0249AA1DED64}"/>
              </a:ext>
            </a:extLst>
          </p:cNvPr>
          <p:cNvSpPr>
            <a:spLocks noGrp="1"/>
          </p:cNvSpPr>
          <p:nvPr>
            <p:ph type="body" idx="1"/>
          </p:nvPr>
        </p:nvSpPr>
        <p:spPr/>
        <p:txBody>
          <a:bodyPr>
            <a:normAutofit/>
          </a:bodyPr>
          <a:lstStyle/>
          <a:p>
            <a:r>
              <a:rPr lang="en-US" sz="2000" dirty="0"/>
              <a:t>What parts of the dual representation account should inform the initial model? Can we relate these features to functional properties?</a:t>
            </a:r>
          </a:p>
        </p:txBody>
      </p:sp>
    </p:spTree>
    <p:extLst>
      <p:ext uri="{BB962C8B-B14F-4D97-AF65-F5344CB8AC3E}">
        <p14:creationId xmlns:p14="http://schemas.microsoft.com/office/powerpoint/2010/main" val="1755469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B47971-51BF-E138-6EA1-E8AB17CEB5EA}"/>
              </a:ext>
            </a:extLst>
          </p:cNvPr>
          <p:cNvSpPr>
            <a:spLocks noGrp="1"/>
          </p:cNvSpPr>
          <p:nvPr>
            <p:ph type="title"/>
          </p:nvPr>
        </p:nvSpPr>
        <p:spPr/>
        <p:txBody>
          <a:bodyPr/>
          <a:lstStyle/>
          <a:p>
            <a:r>
              <a:rPr lang="en-US" dirty="0"/>
              <a:t>The Dual Representation Account (DRA)</a:t>
            </a:r>
          </a:p>
        </p:txBody>
      </p:sp>
      <p:pic>
        <p:nvPicPr>
          <p:cNvPr id="6" name="Content Placeholder 5">
            <a:extLst>
              <a:ext uri="{FF2B5EF4-FFF2-40B4-BE49-F238E27FC236}">
                <a16:creationId xmlns:a16="http://schemas.microsoft.com/office/drawing/2014/main" id="{FA386117-3628-689D-C370-F4B3FFD60FB1}"/>
              </a:ext>
            </a:extLst>
          </p:cNvPr>
          <p:cNvPicPr>
            <a:picLocks noGrp="1" noChangeAspect="1"/>
          </p:cNvPicPr>
          <p:nvPr>
            <p:ph sz="half" idx="1"/>
          </p:nvPr>
        </p:nvPicPr>
        <p:blipFill>
          <a:blip r:embed="rId3"/>
          <a:stretch>
            <a:fillRect/>
          </a:stretch>
        </p:blipFill>
        <p:spPr>
          <a:xfrm>
            <a:off x="1482436" y="1320657"/>
            <a:ext cx="6151419" cy="3580825"/>
          </a:xfrm>
          <a:prstGeom prst="rect">
            <a:avLst/>
          </a:prstGeom>
        </p:spPr>
      </p:pic>
      <p:sp>
        <p:nvSpPr>
          <p:cNvPr id="7" name="Content Placeholder 6">
            <a:extLst>
              <a:ext uri="{FF2B5EF4-FFF2-40B4-BE49-F238E27FC236}">
                <a16:creationId xmlns:a16="http://schemas.microsoft.com/office/drawing/2014/main" id="{DD64427C-E231-A6A7-0773-8114A4E4CAAD}"/>
              </a:ext>
            </a:extLst>
          </p:cNvPr>
          <p:cNvSpPr>
            <a:spLocks noGrp="1"/>
          </p:cNvSpPr>
          <p:nvPr>
            <p:ph sz="half" idx="2"/>
          </p:nvPr>
        </p:nvSpPr>
        <p:spPr>
          <a:xfrm>
            <a:off x="200891" y="5126182"/>
            <a:ext cx="8742218" cy="1731818"/>
          </a:xfrm>
        </p:spPr>
        <p:txBody>
          <a:bodyPr>
            <a:normAutofit/>
          </a:bodyPr>
          <a:lstStyle/>
          <a:p>
            <a:pPr marL="0" indent="0" algn="ctr">
              <a:buNone/>
            </a:pPr>
            <a:r>
              <a:rPr lang="en-US" dirty="0"/>
              <a:t>“The core assumption of the DRA is that there are in effect two memory traces – sensory and </a:t>
            </a:r>
            <a:r>
              <a:rPr lang="en-US" dirty="0" err="1"/>
              <a:t>contextualised</a:t>
            </a:r>
            <a:r>
              <a:rPr lang="en-US" dirty="0"/>
              <a:t> representations – and that pathological encoding of trauma strengthens the former but weakens the latter, leading to dissociations between involuntary and voluntary memory.”</a:t>
            </a:r>
          </a:p>
        </p:txBody>
      </p:sp>
    </p:spTree>
    <p:extLst>
      <p:ext uri="{BB962C8B-B14F-4D97-AF65-F5344CB8AC3E}">
        <p14:creationId xmlns:p14="http://schemas.microsoft.com/office/powerpoint/2010/main" val="2123635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3CB333-9562-8CF1-8280-58157F6CECB5}"/>
              </a:ext>
            </a:extLst>
          </p:cNvPr>
          <p:cNvSpPr>
            <a:spLocks noGrp="1"/>
          </p:cNvSpPr>
          <p:nvPr>
            <p:ph type="title"/>
          </p:nvPr>
        </p:nvSpPr>
        <p:spPr/>
        <p:txBody>
          <a:bodyPr/>
          <a:lstStyle/>
          <a:p>
            <a:r>
              <a:rPr lang="en-US" dirty="0"/>
              <a:t>Are These the DRA Properties We Care About?</a:t>
            </a:r>
          </a:p>
        </p:txBody>
      </p:sp>
      <p:sp>
        <p:nvSpPr>
          <p:cNvPr id="5" name="Content Placeholder 4">
            <a:extLst>
              <a:ext uri="{FF2B5EF4-FFF2-40B4-BE49-F238E27FC236}">
                <a16:creationId xmlns:a16="http://schemas.microsoft.com/office/drawing/2014/main" id="{63E2E4D3-CF6E-3561-07F4-DEA2E88F1336}"/>
              </a:ext>
            </a:extLst>
          </p:cNvPr>
          <p:cNvSpPr>
            <a:spLocks noGrp="1"/>
          </p:cNvSpPr>
          <p:nvPr>
            <p:ph idx="1"/>
          </p:nvPr>
        </p:nvSpPr>
        <p:spPr>
          <a:xfrm>
            <a:off x="110835" y="1417639"/>
            <a:ext cx="8811491" cy="4525963"/>
          </a:xfrm>
        </p:spPr>
        <p:txBody>
          <a:bodyPr>
            <a:noAutofit/>
          </a:bodyPr>
          <a:lstStyle/>
          <a:p>
            <a:r>
              <a:rPr lang="en-US" b="1" dirty="0"/>
              <a:t>Emotional arousal strengthens binding among sensory and affective elements.</a:t>
            </a:r>
            <a:r>
              <a:rPr lang="en-US" dirty="0"/>
              <a:t> Retrieval cues that overlap on perceptual or feeling dimensions should readily reinstate the experience, and vice versa.</a:t>
            </a:r>
          </a:p>
          <a:p>
            <a:r>
              <a:rPr lang="en-US" b="1" dirty="0"/>
              <a:t>The same arousal weakens links between those elements and spatiotemporal context.</a:t>
            </a:r>
            <a:r>
              <a:rPr lang="en-US" dirty="0"/>
              <a:t> Context cues cannot as effectively reinstate the full episode and vice versa.</a:t>
            </a:r>
          </a:p>
          <a:p>
            <a:r>
              <a:rPr lang="en-US" b="1" dirty="0"/>
              <a:t>Key Implication: Cues matching sensory or affective features can retrieve the memory even when context mismatches.</a:t>
            </a:r>
            <a:r>
              <a:rPr lang="en-US" dirty="0"/>
              <a:t> Reminders that match only sensory or affective facets should still trigger involuntary recall, even in settings that share none of the original context.</a:t>
            </a:r>
          </a:p>
          <a:p>
            <a:pPr marL="0" indent="0" algn="ctr">
              <a:buNone/>
            </a:pPr>
            <a:r>
              <a:rPr lang="en-US" u="sng" dirty="0"/>
              <a:t>But what about the selective interference effect?</a:t>
            </a:r>
          </a:p>
        </p:txBody>
      </p:sp>
    </p:spTree>
    <p:extLst>
      <p:ext uri="{BB962C8B-B14F-4D97-AF65-F5344CB8AC3E}">
        <p14:creationId xmlns:p14="http://schemas.microsoft.com/office/powerpoint/2010/main" val="2363887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425D25-2D37-7F5A-B197-9516EAB66534}"/>
              </a:ext>
            </a:extLst>
          </p:cNvPr>
          <p:cNvSpPr>
            <a:spLocks noGrp="1"/>
          </p:cNvSpPr>
          <p:nvPr>
            <p:ph type="title"/>
          </p:nvPr>
        </p:nvSpPr>
        <p:spPr/>
        <p:txBody>
          <a:bodyPr/>
          <a:lstStyle/>
          <a:p>
            <a:r>
              <a:rPr lang="en-US" dirty="0"/>
              <a:t>Set the theoretical framework and comparison approach</a:t>
            </a:r>
          </a:p>
        </p:txBody>
      </p:sp>
      <p:sp>
        <p:nvSpPr>
          <p:cNvPr id="5" name="Text Placeholder 4">
            <a:extLst>
              <a:ext uri="{FF2B5EF4-FFF2-40B4-BE49-F238E27FC236}">
                <a16:creationId xmlns:a16="http://schemas.microsoft.com/office/drawing/2014/main" id="{E29A16B0-EFFC-0285-F947-0DD75F61D6DC}"/>
              </a:ext>
            </a:extLst>
          </p:cNvPr>
          <p:cNvSpPr>
            <a:spLocks noGrp="1"/>
          </p:cNvSpPr>
          <p:nvPr>
            <p:ph type="body" idx="1"/>
          </p:nvPr>
        </p:nvSpPr>
        <p:spPr/>
        <p:txBody>
          <a:bodyPr>
            <a:normAutofit/>
          </a:bodyPr>
          <a:lstStyle/>
          <a:p>
            <a:r>
              <a:rPr lang="en-US" sz="2000" dirty="0"/>
              <a:t>Given our goals, empirical targets, and dual-representation commitments, how should we set up an evaluation of competing accounts of interference and of voluntary vs involuntary recall?</a:t>
            </a:r>
          </a:p>
        </p:txBody>
      </p:sp>
    </p:spTree>
    <p:extLst>
      <p:ext uri="{BB962C8B-B14F-4D97-AF65-F5344CB8AC3E}">
        <p14:creationId xmlns:p14="http://schemas.microsoft.com/office/powerpoint/2010/main" val="2329318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81CD55-933E-89D9-8866-48EBDA0122D8}"/>
              </a:ext>
            </a:extLst>
          </p:cNvPr>
          <p:cNvSpPr>
            <a:spLocks noGrp="1"/>
          </p:cNvSpPr>
          <p:nvPr>
            <p:ph type="title"/>
          </p:nvPr>
        </p:nvSpPr>
        <p:spPr>
          <a:xfrm>
            <a:off x="0" y="274639"/>
            <a:ext cx="9144000" cy="1143000"/>
          </a:xfrm>
        </p:spPr>
        <p:txBody>
          <a:bodyPr/>
          <a:lstStyle/>
          <a:p>
            <a:r>
              <a:rPr lang="en-US" dirty="0"/>
              <a:t>CMR Addresses a Signature of </a:t>
            </a:r>
            <a:br>
              <a:rPr lang="en-US" dirty="0"/>
            </a:br>
            <a:r>
              <a:rPr lang="en-US" dirty="0"/>
              <a:t>the Retrieval of Temporal Context</a:t>
            </a:r>
          </a:p>
        </p:txBody>
      </p:sp>
      <p:sp>
        <p:nvSpPr>
          <p:cNvPr id="23" name="Content Placeholder 22">
            <a:extLst>
              <a:ext uri="{FF2B5EF4-FFF2-40B4-BE49-F238E27FC236}">
                <a16:creationId xmlns:a16="http://schemas.microsoft.com/office/drawing/2014/main" id="{98C328B1-1566-61DE-B14F-76C022ABBA9E}"/>
              </a:ext>
            </a:extLst>
          </p:cNvPr>
          <p:cNvSpPr>
            <a:spLocks noGrp="1"/>
          </p:cNvSpPr>
          <p:nvPr>
            <p:ph idx="1"/>
          </p:nvPr>
        </p:nvSpPr>
        <p:spPr>
          <a:xfrm>
            <a:off x="152404" y="1545331"/>
            <a:ext cx="5065850" cy="3616633"/>
          </a:xfrm>
        </p:spPr>
        <p:txBody>
          <a:bodyPr>
            <a:normAutofit/>
          </a:bodyPr>
          <a:lstStyle/>
          <a:p>
            <a:pPr marL="0" indent="0">
              <a:buNone/>
            </a:pPr>
            <a:r>
              <a:rPr lang="en-US" dirty="0"/>
              <a:t>In the free recall task, you are invited retrieve studied items in whatever order.</a:t>
            </a:r>
          </a:p>
          <a:p>
            <a:pPr marL="0" indent="0">
              <a:buNone/>
            </a:pPr>
            <a:r>
              <a:rPr lang="en-US" dirty="0"/>
              <a:t>Participants most frequently transition to study neighbors, producing a </a:t>
            </a:r>
            <a:r>
              <a:rPr lang="en-US" b="1" dirty="0"/>
              <a:t>temporal contiguity effec</a:t>
            </a:r>
            <a:r>
              <a:rPr lang="en-US" dirty="0"/>
              <a:t>t.</a:t>
            </a:r>
          </a:p>
          <a:p>
            <a:pPr marL="0" indent="0">
              <a:buNone/>
            </a:pPr>
            <a:r>
              <a:rPr lang="en-US" dirty="0"/>
              <a:t>Present in most other episodic memory tasks too (e.g., recognition).</a:t>
            </a:r>
          </a:p>
        </p:txBody>
      </p:sp>
      <p:grpSp>
        <p:nvGrpSpPr>
          <p:cNvPr id="6" name="Group 5">
            <a:extLst>
              <a:ext uri="{FF2B5EF4-FFF2-40B4-BE49-F238E27FC236}">
                <a16:creationId xmlns:a16="http://schemas.microsoft.com/office/drawing/2014/main" id="{1045715B-9727-F05E-2A91-BD5790224567}"/>
              </a:ext>
            </a:extLst>
          </p:cNvPr>
          <p:cNvGrpSpPr/>
          <p:nvPr/>
        </p:nvGrpSpPr>
        <p:grpSpPr>
          <a:xfrm>
            <a:off x="903679" y="4595940"/>
            <a:ext cx="7783121" cy="1987421"/>
            <a:chOff x="977463" y="2459421"/>
            <a:chExt cx="7783121" cy="1987421"/>
          </a:xfrm>
        </p:grpSpPr>
        <p:sp>
          <p:nvSpPr>
            <p:cNvPr id="7" name="Thought Bubble: Cloud 9">
              <a:extLst>
                <a:ext uri="{FF2B5EF4-FFF2-40B4-BE49-F238E27FC236}">
                  <a16:creationId xmlns:a16="http://schemas.microsoft.com/office/drawing/2014/main" id="{9BF7CC9F-0BE6-00ED-1BBB-4E00832E0FD0}"/>
                </a:ext>
              </a:extLst>
            </p:cNvPr>
            <p:cNvSpPr/>
            <p:nvPr/>
          </p:nvSpPr>
          <p:spPr>
            <a:xfrm>
              <a:off x="7039147" y="2897753"/>
              <a:ext cx="1517783" cy="1062494"/>
            </a:xfrm>
            <a:prstGeom prst="cloudCallout">
              <a:avLst>
                <a:gd name="adj1" fmla="val -51715"/>
                <a:gd name="adj2" fmla="val -45830"/>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0CF37A9E-88FE-3D6B-22E5-C850066B41D5}"/>
                </a:ext>
              </a:extLst>
            </p:cNvPr>
            <p:cNvSpPr txBox="1"/>
            <p:nvPr/>
          </p:nvSpPr>
          <p:spPr>
            <a:xfrm>
              <a:off x="7183886" y="3025445"/>
              <a:ext cx="1329492" cy="769441"/>
            </a:xfrm>
            <a:prstGeom prst="rect">
              <a:avLst/>
            </a:prstGeom>
            <a:noFill/>
          </p:spPr>
          <p:txBody>
            <a:bodyPr wrap="square">
              <a:spAutoFit/>
            </a:bodyPr>
            <a:lstStyle/>
            <a:p>
              <a:r>
                <a:rPr lang="en-US" sz="4400" b="1" dirty="0">
                  <a:solidFill>
                    <a:srgbClr val="92D050"/>
                  </a:solidFill>
                </a:rPr>
                <a:t>D</a:t>
              </a:r>
              <a:r>
                <a:rPr lang="en-US" sz="4400" b="1" dirty="0"/>
                <a:t>…?</a:t>
              </a:r>
              <a:endParaRPr lang="en-US" sz="4400" dirty="0"/>
            </a:p>
          </p:txBody>
        </p:sp>
        <p:cxnSp>
          <p:nvCxnSpPr>
            <p:cNvPr id="9" name="Straight Connector 8">
              <a:extLst>
                <a:ext uri="{FF2B5EF4-FFF2-40B4-BE49-F238E27FC236}">
                  <a16:creationId xmlns:a16="http://schemas.microsoft.com/office/drawing/2014/main" id="{A124D6FC-F429-E1EB-52EB-B53D07332688}"/>
                </a:ext>
              </a:extLst>
            </p:cNvPr>
            <p:cNvCxnSpPr>
              <a:cxnSpLocks/>
            </p:cNvCxnSpPr>
            <p:nvPr/>
          </p:nvCxnSpPr>
          <p:spPr>
            <a:xfrm flipV="1">
              <a:off x="6779172" y="2459421"/>
              <a:ext cx="0" cy="1987421"/>
            </a:xfrm>
            <a:prstGeom prst="line">
              <a:avLst/>
            </a:prstGeom>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761B3969-088C-863F-C2D4-2AC74D9D10F0}"/>
                </a:ext>
              </a:extLst>
            </p:cNvPr>
            <p:cNvSpPr txBox="1"/>
            <p:nvPr/>
          </p:nvSpPr>
          <p:spPr>
            <a:xfrm>
              <a:off x="977463" y="4077510"/>
              <a:ext cx="1560785" cy="369332"/>
            </a:xfrm>
            <a:prstGeom prst="rect">
              <a:avLst/>
            </a:prstGeom>
            <a:noFill/>
          </p:spPr>
          <p:txBody>
            <a:bodyPr wrap="square" rtlCol="0">
              <a:spAutoFit/>
            </a:bodyPr>
            <a:lstStyle/>
            <a:p>
              <a:r>
                <a:rPr lang="en-US" dirty="0">
                  <a:solidFill>
                    <a:schemeClr val="bg1"/>
                  </a:solidFill>
                </a:rPr>
                <a:t>Study</a:t>
              </a:r>
            </a:p>
          </p:txBody>
        </p:sp>
        <p:sp>
          <p:nvSpPr>
            <p:cNvPr id="11" name="TextBox 10">
              <a:extLst>
                <a:ext uri="{FF2B5EF4-FFF2-40B4-BE49-F238E27FC236}">
                  <a16:creationId xmlns:a16="http://schemas.microsoft.com/office/drawing/2014/main" id="{853C807E-2922-D156-BCDE-4AC7D81EB038}"/>
                </a:ext>
              </a:extLst>
            </p:cNvPr>
            <p:cNvSpPr txBox="1"/>
            <p:nvPr/>
          </p:nvSpPr>
          <p:spPr>
            <a:xfrm>
              <a:off x="6834470" y="4077510"/>
              <a:ext cx="1926114" cy="369332"/>
            </a:xfrm>
            <a:prstGeom prst="rect">
              <a:avLst/>
            </a:prstGeom>
            <a:noFill/>
          </p:spPr>
          <p:txBody>
            <a:bodyPr wrap="square" rtlCol="0">
              <a:spAutoFit/>
            </a:bodyPr>
            <a:lstStyle/>
            <a:p>
              <a:r>
                <a:rPr lang="en-US" dirty="0">
                  <a:solidFill>
                    <a:schemeClr val="bg1"/>
                  </a:solidFill>
                </a:rPr>
                <a:t>Recall</a:t>
              </a:r>
            </a:p>
          </p:txBody>
        </p:sp>
      </p:grpSp>
      <p:sp>
        <p:nvSpPr>
          <p:cNvPr id="12" name="Arrow: Curved Up 3">
            <a:extLst>
              <a:ext uri="{FF2B5EF4-FFF2-40B4-BE49-F238E27FC236}">
                <a16:creationId xmlns:a16="http://schemas.microsoft.com/office/drawing/2014/main" id="{C60EA4C7-7162-4D70-C4C7-97EC6FC90B30}"/>
              </a:ext>
            </a:extLst>
          </p:cNvPr>
          <p:cNvSpPr/>
          <p:nvPr/>
        </p:nvSpPr>
        <p:spPr>
          <a:xfrm rot="10800000">
            <a:off x="2607421" y="4716853"/>
            <a:ext cx="4314939" cy="598989"/>
          </a:xfrm>
          <a:prstGeom prst="curved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
        <p:nvSpPr>
          <p:cNvPr id="15" name="Arrow: Right 11">
            <a:extLst>
              <a:ext uri="{FF2B5EF4-FFF2-40B4-BE49-F238E27FC236}">
                <a16:creationId xmlns:a16="http://schemas.microsoft.com/office/drawing/2014/main" id="{B157395C-7C65-EBE0-30B9-233315B121F6}"/>
              </a:ext>
            </a:extLst>
          </p:cNvPr>
          <p:cNvSpPr/>
          <p:nvPr/>
        </p:nvSpPr>
        <p:spPr>
          <a:xfrm>
            <a:off x="2222379" y="6145294"/>
            <a:ext cx="770081" cy="591207"/>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E6A9859C-9CF2-E684-AE10-D987E9AF5763}"/>
              </a:ext>
            </a:extLst>
          </p:cNvPr>
          <p:cNvSpPr txBox="1"/>
          <p:nvPr/>
        </p:nvSpPr>
        <p:spPr>
          <a:xfrm>
            <a:off x="2535480" y="6256538"/>
            <a:ext cx="472698" cy="400110"/>
          </a:xfrm>
          <a:prstGeom prst="rect">
            <a:avLst/>
          </a:prstGeom>
          <a:noFill/>
        </p:spPr>
        <p:txBody>
          <a:bodyPr wrap="square" rtlCol="0">
            <a:spAutoFit/>
          </a:bodyPr>
          <a:lstStyle/>
          <a:p>
            <a:r>
              <a:rPr lang="en-US" sz="2000" dirty="0"/>
              <a:t>?</a:t>
            </a:r>
          </a:p>
        </p:txBody>
      </p:sp>
      <p:sp>
        <p:nvSpPr>
          <p:cNvPr id="20" name="TextBox 19">
            <a:extLst>
              <a:ext uri="{FF2B5EF4-FFF2-40B4-BE49-F238E27FC236}">
                <a16:creationId xmlns:a16="http://schemas.microsoft.com/office/drawing/2014/main" id="{B0F6D952-93E6-25C6-203C-23C83F861DFA}"/>
              </a:ext>
            </a:extLst>
          </p:cNvPr>
          <p:cNvSpPr txBox="1"/>
          <p:nvPr/>
        </p:nvSpPr>
        <p:spPr>
          <a:xfrm>
            <a:off x="-73785" y="5148235"/>
            <a:ext cx="7338347" cy="1107996"/>
          </a:xfrm>
          <a:prstGeom prst="rect">
            <a:avLst/>
          </a:prstGeom>
          <a:noFill/>
        </p:spPr>
        <p:txBody>
          <a:bodyPr wrap="square" rtlCol="0">
            <a:spAutoFit/>
          </a:bodyPr>
          <a:lstStyle/>
          <a:p>
            <a:pPr algn="ctr"/>
            <a:r>
              <a:rPr lang="en-US" sz="4400" dirty="0"/>
              <a:t>A </a:t>
            </a:r>
            <a:r>
              <a:rPr lang="en-US" sz="4400" b="1" dirty="0">
                <a:solidFill>
                  <a:srgbClr val="C00000"/>
                </a:solidFill>
              </a:rPr>
              <a:t>B C </a:t>
            </a:r>
            <a:r>
              <a:rPr lang="en-US" sz="6600" b="1" dirty="0">
                <a:solidFill>
                  <a:srgbClr val="92D050"/>
                </a:solidFill>
              </a:rPr>
              <a:t>D</a:t>
            </a:r>
            <a:r>
              <a:rPr lang="en-US" sz="4400" dirty="0"/>
              <a:t> </a:t>
            </a:r>
            <a:r>
              <a:rPr lang="en-US" sz="4400" b="1" dirty="0">
                <a:solidFill>
                  <a:srgbClr val="C00000"/>
                </a:solidFill>
              </a:rPr>
              <a:t>E</a:t>
            </a:r>
            <a:r>
              <a:rPr lang="en-US" sz="4400" dirty="0"/>
              <a:t> </a:t>
            </a:r>
            <a:r>
              <a:rPr lang="en-US" sz="4400" b="1" dirty="0">
                <a:solidFill>
                  <a:srgbClr val="C00000"/>
                </a:solidFill>
              </a:rPr>
              <a:t>F</a:t>
            </a:r>
            <a:r>
              <a:rPr lang="en-US" sz="4400" dirty="0"/>
              <a:t> G H I J K L</a:t>
            </a:r>
          </a:p>
        </p:txBody>
      </p:sp>
      <p:pic>
        <p:nvPicPr>
          <p:cNvPr id="22" name="Picture 21" descr="A graph of a line graph&#10;&#10;Description automatically generated with medium confidence">
            <a:extLst>
              <a:ext uri="{FF2B5EF4-FFF2-40B4-BE49-F238E27FC236}">
                <a16:creationId xmlns:a16="http://schemas.microsoft.com/office/drawing/2014/main" id="{D4B401A4-9A1B-DE56-3935-BD314407FB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18261" y="1545331"/>
            <a:ext cx="3666717" cy="2739289"/>
          </a:xfrm>
          <a:prstGeom prst="rect">
            <a:avLst/>
          </a:prstGeom>
        </p:spPr>
      </p:pic>
    </p:spTree>
    <p:extLst>
      <p:ext uri="{BB962C8B-B14F-4D97-AF65-F5344CB8AC3E}">
        <p14:creationId xmlns:p14="http://schemas.microsoft.com/office/powerpoint/2010/main" val="968303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36F9229-48D7-E376-3B3E-CE7E2CF194D2}"/>
              </a:ext>
            </a:extLst>
          </p:cNvPr>
          <p:cNvSpPr>
            <a:spLocks noGrp="1"/>
          </p:cNvSpPr>
          <p:nvPr>
            <p:ph type="title"/>
          </p:nvPr>
        </p:nvSpPr>
        <p:spPr/>
        <p:txBody>
          <a:bodyPr>
            <a:normAutofit/>
          </a:bodyPr>
          <a:lstStyle/>
          <a:p>
            <a:r>
              <a:rPr lang="en-US" sz="2800" dirty="0"/>
              <a:t>Retrieved Context Theory (Howard &amp; Kahana, 2002):</a:t>
            </a:r>
            <a:br>
              <a:rPr lang="en-US" sz="2800" dirty="0"/>
            </a:br>
            <a:r>
              <a:rPr lang="en-US" sz="2800" dirty="0"/>
              <a:t>Experiences Tied To, Retrieved By Temporal Contexts</a:t>
            </a:r>
          </a:p>
        </p:txBody>
      </p:sp>
      <p:sp>
        <p:nvSpPr>
          <p:cNvPr id="5" name="Content Placeholder 4">
            <a:extLst>
              <a:ext uri="{FF2B5EF4-FFF2-40B4-BE49-F238E27FC236}">
                <a16:creationId xmlns:a16="http://schemas.microsoft.com/office/drawing/2014/main" id="{A6A93C72-7A6E-CD13-1235-C433832B870C}"/>
              </a:ext>
            </a:extLst>
          </p:cNvPr>
          <p:cNvSpPr>
            <a:spLocks noGrp="1"/>
          </p:cNvSpPr>
          <p:nvPr>
            <p:ph sz="half" idx="1"/>
          </p:nvPr>
        </p:nvSpPr>
        <p:spPr>
          <a:xfrm>
            <a:off x="60845" y="1895791"/>
            <a:ext cx="3700900" cy="4525963"/>
          </a:xfrm>
        </p:spPr>
        <p:txBody>
          <a:bodyPr>
            <a:normAutofit/>
          </a:bodyPr>
          <a:lstStyle/>
          <a:p>
            <a:r>
              <a:rPr lang="en-US" dirty="0"/>
              <a:t>Each study or recall event blends associated features into a context state that evolves over time, creating a </a:t>
            </a:r>
            <a:r>
              <a:rPr lang="en-US" b="1" dirty="0"/>
              <a:t>recency-weighted record</a:t>
            </a:r>
          </a:p>
          <a:p>
            <a:r>
              <a:rPr lang="en-US" dirty="0"/>
              <a:t>At study, states of temporal context are associated with items in memory traces</a:t>
            </a:r>
          </a:p>
          <a:p>
            <a:r>
              <a:rPr lang="en-US" dirty="0"/>
              <a:t>At retrieval, temporal context is the primary cue, targeting items studied in similar contexts</a:t>
            </a:r>
          </a:p>
          <a:p>
            <a:r>
              <a:rPr lang="en-US" dirty="0"/>
              <a:t>Result: mental time travel!</a:t>
            </a:r>
          </a:p>
        </p:txBody>
      </p:sp>
      <p:grpSp>
        <p:nvGrpSpPr>
          <p:cNvPr id="18" name="Group 17">
            <a:extLst>
              <a:ext uri="{FF2B5EF4-FFF2-40B4-BE49-F238E27FC236}">
                <a16:creationId xmlns:a16="http://schemas.microsoft.com/office/drawing/2014/main" id="{81554266-FBD6-338A-BECB-446634BEA25B}"/>
              </a:ext>
            </a:extLst>
          </p:cNvPr>
          <p:cNvGrpSpPr/>
          <p:nvPr/>
        </p:nvGrpSpPr>
        <p:grpSpPr>
          <a:xfrm>
            <a:off x="3871506" y="1417639"/>
            <a:ext cx="5646567" cy="3570862"/>
            <a:chOff x="785091" y="1929263"/>
            <a:chExt cx="8382400" cy="3370453"/>
          </a:xfrm>
        </p:grpSpPr>
        <p:sp>
          <p:nvSpPr>
            <p:cNvPr id="19" name="Rectangle: Rounded Corners 6">
              <a:extLst>
                <a:ext uri="{FF2B5EF4-FFF2-40B4-BE49-F238E27FC236}">
                  <a16:creationId xmlns:a16="http://schemas.microsoft.com/office/drawing/2014/main" id="{86E4C6F2-0454-2CA7-D5C7-1624CDC32A60}"/>
                </a:ext>
              </a:extLst>
            </p:cNvPr>
            <p:cNvSpPr/>
            <p:nvPr/>
          </p:nvSpPr>
          <p:spPr>
            <a:xfrm>
              <a:off x="785091" y="2857500"/>
              <a:ext cx="2008910" cy="1143000"/>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b="1" dirty="0">
                  <a:solidFill>
                    <a:schemeClr val="bg1"/>
                  </a:solidFill>
                </a:rPr>
                <a:t>CONTEXT</a:t>
              </a:r>
              <a:r>
                <a:rPr lang="en-US" sz="2000" dirty="0">
                  <a:solidFill>
                    <a:schemeClr val="bg1"/>
                  </a:solidFill>
                </a:rPr>
                <a:t> </a:t>
              </a:r>
            </a:p>
            <a:p>
              <a:pPr algn="ctr"/>
              <a:r>
                <a:rPr lang="en-US" sz="2000" dirty="0">
                  <a:solidFill>
                    <a:schemeClr val="bg1"/>
                  </a:solidFill>
                </a:rPr>
                <a:t>(</a:t>
              </a:r>
              <a:r>
                <a:rPr lang="en-US" sz="2000" i="1" dirty="0">
                  <a:solidFill>
                    <a:schemeClr val="bg1"/>
                  </a:solidFill>
                </a:rPr>
                <a:t>C</a:t>
              </a:r>
              <a:r>
                <a:rPr lang="en-US" sz="2000" dirty="0">
                  <a:solidFill>
                    <a:schemeClr val="bg1"/>
                  </a:solidFill>
                </a:rPr>
                <a:t>)</a:t>
              </a:r>
            </a:p>
          </p:txBody>
        </p:sp>
        <p:sp>
          <p:nvSpPr>
            <p:cNvPr id="20" name="Rectangle: Rounded Corners 7">
              <a:extLst>
                <a:ext uri="{FF2B5EF4-FFF2-40B4-BE49-F238E27FC236}">
                  <a16:creationId xmlns:a16="http://schemas.microsoft.com/office/drawing/2014/main" id="{C855E370-189A-EBC3-0032-2F954F3B0B96}"/>
                </a:ext>
              </a:extLst>
            </p:cNvPr>
            <p:cNvSpPr/>
            <p:nvPr/>
          </p:nvSpPr>
          <p:spPr>
            <a:xfrm>
              <a:off x="6349999" y="2857500"/>
              <a:ext cx="2008910" cy="1143000"/>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000" b="1" dirty="0">
                  <a:solidFill>
                    <a:schemeClr val="bg1"/>
                  </a:solidFill>
                </a:rPr>
                <a:t>ITEM FEATURES </a:t>
              </a:r>
              <a:r>
                <a:rPr lang="en-US" sz="2000" dirty="0">
                  <a:solidFill>
                    <a:schemeClr val="bg1"/>
                  </a:solidFill>
                </a:rPr>
                <a:t>(</a:t>
              </a:r>
              <a:r>
                <a:rPr lang="en-US" sz="2000" i="1" dirty="0">
                  <a:solidFill>
                    <a:schemeClr val="bg1"/>
                  </a:solidFill>
                </a:rPr>
                <a:t>F)</a:t>
              </a:r>
              <a:endParaRPr lang="en-US" sz="2000" dirty="0">
                <a:solidFill>
                  <a:schemeClr val="bg1"/>
                </a:solidFill>
              </a:endParaRPr>
            </a:p>
          </p:txBody>
        </p:sp>
        <p:sp>
          <p:nvSpPr>
            <p:cNvPr id="21" name="Rectangle: Rounded Corners 8">
              <a:extLst>
                <a:ext uri="{FF2B5EF4-FFF2-40B4-BE49-F238E27FC236}">
                  <a16:creationId xmlns:a16="http://schemas.microsoft.com/office/drawing/2014/main" id="{8978E913-7A32-5179-E24C-A5E23AFBD6D6}"/>
                </a:ext>
              </a:extLst>
            </p:cNvPr>
            <p:cNvSpPr/>
            <p:nvPr/>
          </p:nvSpPr>
          <p:spPr>
            <a:xfrm>
              <a:off x="3601982" y="3799979"/>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bg1"/>
                  </a:solidFill>
                </a:rPr>
                <a:t>MEMORY</a:t>
              </a:r>
            </a:p>
            <a:p>
              <a:pPr algn="ctr"/>
              <a:r>
                <a:rPr lang="en-US" sz="2000" dirty="0">
                  <a:solidFill>
                    <a:schemeClr val="bg1"/>
                  </a:solidFill>
                </a:rPr>
                <a:t>(Context to Item)</a:t>
              </a:r>
            </a:p>
            <a:p>
              <a:pPr algn="ctr"/>
              <a:r>
                <a:rPr lang="en-US" sz="2000" i="1" dirty="0">
                  <a:solidFill>
                    <a:schemeClr val="bg1"/>
                  </a:solidFill>
                </a:rPr>
                <a:t>M</a:t>
              </a:r>
              <a:r>
                <a:rPr lang="en-US" sz="2000" i="1" baseline="30000" dirty="0">
                  <a:solidFill>
                    <a:schemeClr val="bg1"/>
                  </a:solidFill>
                </a:rPr>
                <a:t>CF</a:t>
              </a:r>
            </a:p>
          </p:txBody>
        </p:sp>
        <p:sp>
          <p:nvSpPr>
            <p:cNvPr id="22" name="Rectangle: Rounded Corners 9">
              <a:extLst>
                <a:ext uri="{FF2B5EF4-FFF2-40B4-BE49-F238E27FC236}">
                  <a16:creationId xmlns:a16="http://schemas.microsoft.com/office/drawing/2014/main" id="{46CD4408-9C52-9D26-5B69-30E4E6BF2518}"/>
                </a:ext>
              </a:extLst>
            </p:cNvPr>
            <p:cNvSpPr/>
            <p:nvPr/>
          </p:nvSpPr>
          <p:spPr>
            <a:xfrm>
              <a:off x="3601982" y="1929263"/>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bg1"/>
                  </a:solidFill>
                </a:rPr>
                <a:t>MEMORY</a:t>
              </a:r>
            </a:p>
            <a:p>
              <a:pPr algn="ctr"/>
              <a:r>
                <a:rPr lang="en-US" sz="2000" dirty="0">
                  <a:solidFill>
                    <a:schemeClr val="bg1"/>
                  </a:solidFill>
                </a:rPr>
                <a:t>(Item to Context)</a:t>
              </a:r>
            </a:p>
            <a:p>
              <a:pPr algn="ctr"/>
              <a:r>
                <a:rPr lang="en-US" sz="2000" i="1" dirty="0">
                  <a:solidFill>
                    <a:schemeClr val="bg1"/>
                  </a:solidFill>
                </a:rPr>
                <a:t>M</a:t>
              </a:r>
              <a:r>
                <a:rPr lang="en-US" sz="2000" i="1" baseline="30000" dirty="0">
                  <a:solidFill>
                    <a:schemeClr val="bg1"/>
                  </a:solidFill>
                </a:rPr>
                <a:t>FC</a:t>
              </a:r>
              <a:endParaRPr lang="en-US" sz="2000" i="1" dirty="0">
                <a:solidFill>
                  <a:schemeClr val="bg1"/>
                </a:solidFill>
              </a:endParaRPr>
            </a:p>
          </p:txBody>
        </p:sp>
        <p:sp>
          <p:nvSpPr>
            <p:cNvPr id="23" name="Arrow: Bent 10">
              <a:extLst>
                <a:ext uri="{FF2B5EF4-FFF2-40B4-BE49-F238E27FC236}">
                  <a16:creationId xmlns:a16="http://schemas.microsoft.com/office/drawing/2014/main" id="{0481FDF4-4174-0ED2-6361-87F0F2C89745}"/>
                </a:ext>
              </a:extLst>
            </p:cNvPr>
            <p:cNvSpPr/>
            <p:nvPr/>
          </p:nvSpPr>
          <p:spPr>
            <a:xfrm flipH="1">
              <a:off x="5800435" y="1988411"/>
              <a:ext cx="1427019" cy="804702"/>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24" name="Arrow: Bent 11">
              <a:extLst>
                <a:ext uri="{FF2B5EF4-FFF2-40B4-BE49-F238E27FC236}">
                  <a16:creationId xmlns:a16="http://schemas.microsoft.com/office/drawing/2014/main" id="{A6103DF4-6B35-E70D-32F4-0954A8BAC43F}"/>
                </a:ext>
              </a:extLst>
            </p:cNvPr>
            <p:cNvSpPr/>
            <p:nvPr/>
          </p:nvSpPr>
          <p:spPr>
            <a:xfrm flipV="1">
              <a:off x="2145147" y="4058196"/>
              <a:ext cx="1297708" cy="816383"/>
            </a:xfrm>
            <a:prstGeom prst="bentArrow">
              <a:avLst>
                <a:gd name="adj1" fmla="val 25000"/>
                <a:gd name="adj2" fmla="val 41834"/>
                <a:gd name="adj3" fmla="val 2409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25" name="TextBox 24">
              <a:extLst>
                <a:ext uri="{FF2B5EF4-FFF2-40B4-BE49-F238E27FC236}">
                  <a16:creationId xmlns:a16="http://schemas.microsoft.com/office/drawing/2014/main" id="{A2AA9168-8A05-AD2F-8C80-80EE6F8D4C32}"/>
                </a:ext>
              </a:extLst>
            </p:cNvPr>
            <p:cNvSpPr txBox="1"/>
            <p:nvPr/>
          </p:nvSpPr>
          <p:spPr>
            <a:xfrm>
              <a:off x="785091" y="4342253"/>
              <a:ext cx="1614056" cy="348604"/>
            </a:xfrm>
            <a:prstGeom prst="rect">
              <a:avLst/>
            </a:prstGeom>
            <a:noFill/>
          </p:spPr>
          <p:txBody>
            <a:bodyPr wrap="square" rtlCol="0">
              <a:spAutoFit/>
            </a:bodyPr>
            <a:lstStyle/>
            <a:p>
              <a:r>
                <a:rPr lang="en-US" dirty="0">
                  <a:solidFill>
                    <a:schemeClr val="bg1"/>
                  </a:solidFill>
                </a:rPr>
                <a:t>Guide Search</a:t>
              </a:r>
            </a:p>
          </p:txBody>
        </p:sp>
        <p:sp>
          <p:nvSpPr>
            <p:cNvPr id="26" name="TextBox 25">
              <a:extLst>
                <a:ext uri="{FF2B5EF4-FFF2-40B4-BE49-F238E27FC236}">
                  <a16:creationId xmlns:a16="http://schemas.microsoft.com/office/drawing/2014/main" id="{DC416F9A-B434-3034-34AE-B593BCD5DEFE}"/>
                </a:ext>
              </a:extLst>
            </p:cNvPr>
            <p:cNvSpPr txBox="1"/>
            <p:nvPr/>
          </p:nvSpPr>
          <p:spPr>
            <a:xfrm>
              <a:off x="7227454" y="1942574"/>
              <a:ext cx="1940037" cy="348604"/>
            </a:xfrm>
            <a:prstGeom prst="rect">
              <a:avLst/>
            </a:prstGeom>
            <a:noFill/>
          </p:spPr>
          <p:txBody>
            <a:bodyPr wrap="square" rtlCol="0">
              <a:spAutoFit/>
            </a:bodyPr>
            <a:lstStyle/>
            <a:p>
              <a:r>
                <a:rPr lang="en-US" dirty="0">
                  <a:solidFill>
                    <a:schemeClr val="bg1"/>
                  </a:solidFill>
                </a:rPr>
                <a:t>Update Context</a:t>
              </a:r>
            </a:p>
          </p:txBody>
        </p:sp>
        <p:sp>
          <p:nvSpPr>
            <p:cNvPr id="27" name="Arrow: Bent 14">
              <a:extLst>
                <a:ext uri="{FF2B5EF4-FFF2-40B4-BE49-F238E27FC236}">
                  <a16:creationId xmlns:a16="http://schemas.microsoft.com/office/drawing/2014/main" id="{13DB317F-F67D-28AA-DF44-F33BA910DA64}"/>
                </a:ext>
              </a:extLst>
            </p:cNvPr>
            <p:cNvSpPr/>
            <p:nvPr/>
          </p:nvSpPr>
          <p:spPr>
            <a:xfrm rot="16200000" flipH="1">
              <a:off x="2335000" y="1675753"/>
              <a:ext cx="620579" cy="1595134"/>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28" name="Arrow: Bent 15">
              <a:extLst>
                <a:ext uri="{FF2B5EF4-FFF2-40B4-BE49-F238E27FC236}">
                  <a16:creationId xmlns:a16="http://schemas.microsoft.com/office/drawing/2014/main" id="{607D6132-992A-D448-26EC-BCD3834666C5}"/>
                </a:ext>
              </a:extLst>
            </p:cNvPr>
            <p:cNvSpPr/>
            <p:nvPr/>
          </p:nvSpPr>
          <p:spPr>
            <a:xfrm rot="16200000" flipV="1">
              <a:off x="6221792" y="3579099"/>
              <a:ext cx="485013" cy="1526309"/>
            </a:xfrm>
            <a:prstGeom prst="bentArrow">
              <a:avLst>
                <a:gd name="adj1" fmla="val 42851"/>
                <a:gd name="adj2" fmla="val 50000"/>
                <a:gd name="adj3" fmla="val 1738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grpSp>
      <p:grpSp>
        <p:nvGrpSpPr>
          <p:cNvPr id="29" name="Group 28">
            <a:extLst>
              <a:ext uri="{FF2B5EF4-FFF2-40B4-BE49-F238E27FC236}">
                <a16:creationId xmlns:a16="http://schemas.microsoft.com/office/drawing/2014/main" id="{CDA7F440-3E69-724C-D556-50569D1F0D60}"/>
              </a:ext>
            </a:extLst>
          </p:cNvPr>
          <p:cNvGrpSpPr/>
          <p:nvPr/>
        </p:nvGrpSpPr>
        <p:grpSpPr>
          <a:xfrm>
            <a:off x="4034806" y="4832290"/>
            <a:ext cx="5549608" cy="2025710"/>
            <a:chOff x="977463" y="2532708"/>
            <a:chExt cx="5549608" cy="2025710"/>
          </a:xfrm>
        </p:grpSpPr>
        <p:sp>
          <p:nvSpPr>
            <p:cNvPr id="30" name="Thought Bubble: Cloud 9">
              <a:extLst>
                <a:ext uri="{FF2B5EF4-FFF2-40B4-BE49-F238E27FC236}">
                  <a16:creationId xmlns:a16="http://schemas.microsoft.com/office/drawing/2014/main" id="{04538305-7C5A-8F32-C468-F528CACF4C44}"/>
                </a:ext>
              </a:extLst>
            </p:cNvPr>
            <p:cNvSpPr/>
            <p:nvPr/>
          </p:nvSpPr>
          <p:spPr>
            <a:xfrm>
              <a:off x="4632123" y="3122344"/>
              <a:ext cx="1517783" cy="1062494"/>
            </a:xfrm>
            <a:prstGeom prst="cloudCallout">
              <a:avLst>
                <a:gd name="adj1" fmla="val -51715"/>
                <a:gd name="adj2" fmla="val -45830"/>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F2FC1207-3F94-C388-97F1-DC5CE50648C2}"/>
                </a:ext>
              </a:extLst>
            </p:cNvPr>
            <p:cNvSpPr txBox="1"/>
            <p:nvPr/>
          </p:nvSpPr>
          <p:spPr>
            <a:xfrm>
              <a:off x="4729877" y="3246590"/>
              <a:ext cx="1329492" cy="769441"/>
            </a:xfrm>
            <a:prstGeom prst="rect">
              <a:avLst/>
            </a:prstGeom>
            <a:noFill/>
          </p:spPr>
          <p:txBody>
            <a:bodyPr wrap="square">
              <a:spAutoFit/>
            </a:bodyPr>
            <a:lstStyle/>
            <a:p>
              <a:r>
                <a:rPr lang="en-US" sz="4400" b="1" dirty="0">
                  <a:solidFill>
                    <a:srgbClr val="92D050"/>
                  </a:solidFill>
                </a:rPr>
                <a:t>D</a:t>
              </a:r>
              <a:r>
                <a:rPr lang="en-US" sz="4400" b="1" dirty="0"/>
                <a:t>…?</a:t>
              </a:r>
              <a:endParaRPr lang="en-US" sz="4400" dirty="0"/>
            </a:p>
          </p:txBody>
        </p:sp>
        <p:cxnSp>
          <p:nvCxnSpPr>
            <p:cNvPr id="32" name="Straight Connector 31">
              <a:extLst>
                <a:ext uri="{FF2B5EF4-FFF2-40B4-BE49-F238E27FC236}">
                  <a16:creationId xmlns:a16="http://schemas.microsoft.com/office/drawing/2014/main" id="{2DAD0708-B65C-FA1F-B568-1D0454420248}"/>
                </a:ext>
              </a:extLst>
            </p:cNvPr>
            <p:cNvCxnSpPr>
              <a:cxnSpLocks/>
            </p:cNvCxnSpPr>
            <p:nvPr/>
          </p:nvCxnSpPr>
          <p:spPr>
            <a:xfrm flipV="1">
              <a:off x="4562806" y="2532708"/>
              <a:ext cx="0" cy="1987421"/>
            </a:xfrm>
            <a:prstGeom prst="line">
              <a:avLst/>
            </a:prstGeom>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EFFC30CE-CCE4-F24E-F347-32D86487AEF9}"/>
                </a:ext>
              </a:extLst>
            </p:cNvPr>
            <p:cNvSpPr txBox="1"/>
            <p:nvPr/>
          </p:nvSpPr>
          <p:spPr>
            <a:xfrm>
              <a:off x="977463" y="4077510"/>
              <a:ext cx="1560785" cy="369332"/>
            </a:xfrm>
            <a:prstGeom prst="rect">
              <a:avLst/>
            </a:prstGeom>
            <a:noFill/>
          </p:spPr>
          <p:txBody>
            <a:bodyPr wrap="square" rtlCol="0">
              <a:spAutoFit/>
            </a:bodyPr>
            <a:lstStyle/>
            <a:p>
              <a:r>
                <a:rPr lang="en-US" dirty="0">
                  <a:solidFill>
                    <a:schemeClr val="bg1"/>
                  </a:solidFill>
                </a:rPr>
                <a:t>Study</a:t>
              </a:r>
            </a:p>
          </p:txBody>
        </p:sp>
        <p:sp>
          <p:nvSpPr>
            <p:cNvPr id="34" name="TextBox 33">
              <a:extLst>
                <a:ext uri="{FF2B5EF4-FFF2-40B4-BE49-F238E27FC236}">
                  <a16:creationId xmlns:a16="http://schemas.microsoft.com/office/drawing/2014/main" id="{D0CB5A41-AA13-9C82-B76E-490C05DD2CC5}"/>
                </a:ext>
              </a:extLst>
            </p:cNvPr>
            <p:cNvSpPr txBox="1"/>
            <p:nvPr/>
          </p:nvSpPr>
          <p:spPr>
            <a:xfrm>
              <a:off x="4600957" y="4189086"/>
              <a:ext cx="1926114" cy="369332"/>
            </a:xfrm>
            <a:prstGeom prst="rect">
              <a:avLst/>
            </a:prstGeom>
            <a:noFill/>
          </p:spPr>
          <p:txBody>
            <a:bodyPr wrap="square" rtlCol="0">
              <a:spAutoFit/>
            </a:bodyPr>
            <a:lstStyle/>
            <a:p>
              <a:r>
                <a:rPr lang="en-US" dirty="0">
                  <a:solidFill>
                    <a:schemeClr val="bg1"/>
                  </a:solidFill>
                </a:rPr>
                <a:t>Recall</a:t>
              </a:r>
            </a:p>
          </p:txBody>
        </p:sp>
      </p:grpSp>
      <p:sp>
        <p:nvSpPr>
          <p:cNvPr id="35" name="Arrow: Curved Up 3">
            <a:extLst>
              <a:ext uri="{FF2B5EF4-FFF2-40B4-BE49-F238E27FC236}">
                <a16:creationId xmlns:a16="http://schemas.microsoft.com/office/drawing/2014/main" id="{DA5FDC8E-0891-42EF-1330-DD1AA60B3D90}"/>
              </a:ext>
            </a:extLst>
          </p:cNvPr>
          <p:cNvSpPr/>
          <p:nvPr/>
        </p:nvSpPr>
        <p:spPr>
          <a:xfrm rot="10800000">
            <a:off x="5738545" y="5269127"/>
            <a:ext cx="2445791" cy="400110"/>
          </a:xfrm>
          <a:prstGeom prst="curved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
        <p:nvSpPr>
          <p:cNvPr id="36" name="Arrow: Right 11">
            <a:extLst>
              <a:ext uri="{FF2B5EF4-FFF2-40B4-BE49-F238E27FC236}">
                <a16:creationId xmlns:a16="http://schemas.microsoft.com/office/drawing/2014/main" id="{FE263496-DF40-FFB5-12BB-BF5CD11CAAF6}"/>
              </a:ext>
            </a:extLst>
          </p:cNvPr>
          <p:cNvSpPr/>
          <p:nvPr/>
        </p:nvSpPr>
        <p:spPr>
          <a:xfrm>
            <a:off x="5704998" y="6266793"/>
            <a:ext cx="770081" cy="591207"/>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E487FB03-AD24-1CAF-4E8F-D4740E3E9644}"/>
              </a:ext>
            </a:extLst>
          </p:cNvPr>
          <p:cNvSpPr txBox="1"/>
          <p:nvPr/>
        </p:nvSpPr>
        <p:spPr>
          <a:xfrm>
            <a:off x="6059269" y="6383321"/>
            <a:ext cx="472698" cy="400110"/>
          </a:xfrm>
          <a:prstGeom prst="rect">
            <a:avLst/>
          </a:prstGeom>
          <a:noFill/>
        </p:spPr>
        <p:txBody>
          <a:bodyPr wrap="square" rtlCol="0">
            <a:spAutoFit/>
          </a:bodyPr>
          <a:lstStyle/>
          <a:p>
            <a:r>
              <a:rPr lang="en-US" sz="2000" dirty="0"/>
              <a:t>?</a:t>
            </a:r>
          </a:p>
        </p:txBody>
      </p:sp>
      <p:sp>
        <p:nvSpPr>
          <p:cNvPr id="38" name="TextBox 37">
            <a:extLst>
              <a:ext uri="{FF2B5EF4-FFF2-40B4-BE49-F238E27FC236}">
                <a16:creationId xmlns:a16="http://schemas.microsoft.com/office/drawing/2014/main" id="{AE8E509A-B0AB-88F9-543C-F8DC8FFB9AAE}"/>
              </a:ext>
            </a:extLst>
          </p:cNvPr>
          <p:cNvSpPr txBox="1"/>
          <p:nvPr/>
        </p:nvSpPr>
        <p:spPr>
          <a:xfrm>
            <a:off x="3621553" y="5434671"/>
            <a:ext cx="4562806" cy="1107996"/>
          </a:xfrm>
          <a:prstGeom prst="rect">
            <a:avLst/>
          </a:prstGeom>
          <a:noFill/>
        </p:spPr>
        <p:txBody>
          <a:bodyPr wrap="square" rtlCol="0">
            <a:spAutoFit/>
          </a:bodyPr>
          <a:lstStyle/>
          <a:p>
            <a:pPr algn="ctr"/>
            <a:r>
              <a:rPr lang="en-US" sz="4400" dirty="0"/>
              <a:t>A </a:t>
            </a:r>
            <a:r>
              <a:rPr lang="en-US" sz="4400" b="1" dirty="0">
                <a:solidFill>
                  <a:srgbClr val="C00000"/>
                </a:solidFill>
              </a:rPr>
              <a:t>B C </a:t>
            </a:r>
            <a:r>
              <a:rPr lang="en-US" sz="6600" b="1" dirty="0">
                <a:solidFill>
                  <a:srgbClr val="92D050"/>
                </a:solidFill>
              </a:rPr>
              <a:t>D</a:t>
            </a:r>
            <a:r>
              <a:rPr lang="en-US" sz="4400" dirty="0"/>
              <a:t> </a:t>
            </a:r>
            <a:r>
              <a:rPr lang="en-US" sz="4400" b="1" dirty="0">
                <a:solidFill>
                  <a:srgbClr val="C00000"/>
                </a:solidFill>
              </a:rPr>
              <a:t>E</a:t>
            </a:r>
            <a:r>
              <a:rPr lang="en-US" sz="4400" dirty="0"/>
              <a:t> </a:t>
            </a:r>
            <a:r>
              <a:rPr lang="en-US" sz="4400" b="1" dirty="0">
                <a:solidFill>
                  <a:srgbClr val="C00000"/>
                </a:solidFill>
              </a:rPr>
              <a:t>F</a:t>
            </a:r>
            <a:r>
              <a:rPr lang="en-US" sz="4400" dirty="0"/>
              <a:t> …</a:t>
            </a:r>
          </a:p>
        </p:txBody>
      </p:sp>
    </p:spTree>
    <p:extLst>
      <p:ext uri="{BB962C8B-B14F-4D97-AF65-F5344CB8AC3E}">
        <p14:creationId xmlns:p14="http://schemas.microsoft.com/office/powerpoint/2010/main" val="1574216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0E2A3-97C9-9F14-A842-3FB341543A28}"/>
              </a:ext>
            </a:extLst>
          </p:cNvPr>
          <p:cNvSpPr>
            <a:spLocks noGrp="1"/>
          </p:cNvSpPr>
          <p:nvPr>
            <p:ph type="title"/>
          </p:nvPr>
        </p:nvSpPr>
        <p:spPr/>
        <p:txBody>
          <a:bodyPr>
            <a:normAutofit/>
          </a:bodyPr>
          <a:lstStyle/>
          <a:p>
            <a:r>
              <a:rPr lang="en-US" dirty="0"/>
              <a:t>CMR (Polyn, Norman &amp; Kahana, 2009):</a:t>
            </a:r>
            <a:br>
              <a:rPr lang="en-US" dirty="0"/>
            </a:br>
            <a:r>
              <a:rPr lang="en-US" dirty="0"/>
              <a:t>Visual/Other Features Also Carried in Context</a:t>
            </a:r>
          </a:p>
        </p:txBody>
      </p:sp>
      <p:pic>
        <p:nvPicPr>
          <p:cNvPr id="4" name="Content Placeholder 3">
            <a:extLst>
              <a:ext uri="{FF2B5EF4-FFF2-40B4-BE49-F238E27FC236}">
                <a16:creationId xmlns:a16="http://schemas.microsoft.com/office/drawing/2014/main" id="{BC8E9D85-7923-DB73-E4A1-8F49C9D89C10}"/>
              </a:ext>
            </a:extLst>
          </p:cNvPr>
          <p:cNvPicPr>
            <a:picLocks noGrp="1" noChangeAspect="1"/>
          </p:cNvPicPr>
          <p:nvPr>
            <p:ph idx="1"/>
          </p:nvPr>
        </p:nvPicPr>
        <p:blipFill>
          <a:blip r:embed="rId3"/>
          <a:stretch>
            <a:fillRect/>
          </a:stretch>
        </p:blipFill>
        <p:spPr>
          <a:xfrm>
            <a:off x="3143411" y="1623644"/>
            <a:ext cx="5817786" cy="4525963"/>
          </a:xfrm>
          <a:prstGeom prst="rect">
            <a:avLst/>
          </a:prstGeom>
        </p:spPr>
      </p:pic>
      <p:sp>
        <p:nvSpPr>
          <p:cNvPr id="5" name="Content Placeholder 4">
            <a:extLst>
              <a:ext uri="{FF2B5EF4-FFF2-40B4-BE49-F238E27FC236}">
                <a16:creationId xmlns:a16="http://schemas.microsoft.com/office/drawing/2014/main" id="{8B416557-80D0-029A-E2F7-CC9C3950ED1A}"/>
              </a:ext>
            </a:extLst>
          </p:cNvPr>
          <p:cNvSpPr txBox="1">
            <a:spLocks/>
          </p:cNvSpPr>
          <p:nvPr/>
        </p:nvSpPr>
        <p:spPr>
          <a:xfrm>
            <a:off x="194526" y="1417639"/>
            <a:ext cx="2798056" cy="2697162"/>
          </a:xfrm>
          <a:prstGeom prst="rect">
            <a:avLst/>
          </a:prstGeom>
        </p:spPr>
        <p:txBody>
          <a:bodyPr vert="horz" lIns="91440" tIns="45720" rIns="91440" bIns="45720" rtlCol="0">
            <a:normAutofit/>
          </a:bodyPr>
          <a:lstStyle>
            <a:lvl1pPr marL="342900" indent="-342900" algn="l" defTabSz="342900" rtl="0" eaLnBrk="1" latinLnBrk="0" hangingPunct="1">
              <a:spcBef>
                <a:spcPct val="20000"/>
              </a:spcBef>
              <a:buFont typeface="Arial"/>
              <a:buChar char="•"/>
              <a:defRPr sz="2400" kern="1200">
                <a:solidFill>
                  <a:schemeClr val="bg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bg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bg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bg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bg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buNone/>
            </a:pPr>
            <a:r>
              <a:rPr lang="en-US" dirty="0"/>
              <a:t>Key idea: similar events reinstate overlapping context, allowing </a:t>
            </a:r>
            <a:r>
              <a:rPr lang="en-US" b="1" dirty="0"/>
              <a:t>transitions to similar items </a:t>
            </a:r>
            <a:r>
              <a:rPr lang="en-US" dirty="0"/>
              <a:t>– not just nearby items. </a:t>
            </a:r>
          </a:p>
        </p:txBody>
      </p:sp>
      <p:pic>
        <p:nvPicPr>
          <p:cNvPr id="6" name="Picture 5">
            <a:extLst>
              <a:ext uri="{FF2B5EF4-FFF2-40B4-BE49-F238E27FC236}">
                <a16:creationId xmlns:a16="http://schemas.microsoft.com/office/drawing/2014/main" id="{E2BA75FF-C3E3-F583-B888-0A61AD7BD734}"/>
              </a:ext>
            </a:extLst>
          </p:cNvPr>
          <p:cNvPicPr>
            <a:picLocks noChangeAspect="1"/>
          </p:cNvPicPr>
          <p:nvPr/>
        </p:nvPicPr>
        <p:blipFill>
          <a:blip r:embed="rId4"/>
          <a:stretch>
            <a:fillRect/>
          </a:stretch>
        </p:blipFill>
        <p:spPr>
          <a:xfrm>
            <a:off x="194526" y="4297360"/>
            <a:ext cx="3535709" cy="2147455"/>
          </a:xfrm>
          <a:prstGeom prst="rect">
            <a:avLst/>
          </a:prstGeom>
        </p:spPr>
      </p:pic>
    </p:spTree>
    <p:extLst>
      <p:ext uri="{BB962C8B-B14F-4D97-AF65-F5344CB8AC3E}">
        <p14:creationId xmlns:p14="http://schemas.microsoft.com/office/powerpoint/2010/main" val="4005163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DF221-604E-D1C5-979F-9E45379FDF14}"/>
              </a:ext>
            </a:extLst>
          </p:cNvPr>
          <p:cNvSpPr>
            <a:spLocks noGrp="1"/>
          </p:cNvSpPr>
          <p:nvPr>
            <p:ph type="title"/>
          </p:nvPr>
        </p:nvSpPr>
        <p:spPr>
          <a:xfrm>
            <a:off x="0" y="274638"/>
            <a:ext cx="9144000" cy="1401761"/>
          </a:xfrm>
        </p:spPr>
        <p:txBody>
          <a:bodyPr>
            <a:normAutofit fontScale="90000"/>
          </a:bodyPr>
          <a:lstStyle/>
          <a:p>
            <a:r>
              <a:rPr lang="en-US" dirty="0" err="1"/>
              <a:t>eCMR</a:t>
            </a:r>
            <a:r>
              <a:rPr lang="en-US" dirty="0"/>
              <a:t> (Talmi et al, 2019)</a:t>
            </a:r>
            <a:br>
              <a:rPr lang="en-US" dirty="0"/>
            </a:br>
            <a:r>
              <a:rPr lang="en-US" dirty="0"/>
              <a:t>Extends to Emotional Similarity, </a:t>
            </a:r>
            <a:br>
              <a:rPr lang="en-US" dirty="0"/>
            </a:br>
            <a:r>
              <a:rPr lang="en-US" dirty="0"/>
              <a:t>Adds Arousal-Boosted Encoding</a:t>
            </a:r>
          </a:p>
        </p:txBody>
      </p:sp>
      <p:pic>
        <p:nvPicPr>
          <p:cNvPr id="4" name="Content Placeholder 3">
            <a:extLst>
              <a:ext uri="{FF2B5EF4-FFF2-40B4-BE49-F238E27FC236}">
                <a16:creationId xmlns:a16="http://schemas.microsoft.com/office/drawing/2014/main" id="{8D6FF4BC-976D-AA59-224A-C0B496C5B9E2}"/>
              </a:ext>
            </a:extLst>
          </p:cNvPr>
          <p:cNvPicPr>
            <a:picLocks noGrp="1" noChangeAspect="1"/>
          </p:cNvPicPr>
          <p:nvPr>
            <p:ph idx="1"/>
          </p:nvPr>
        </p:nvPicPr>
        <p:blipFill>
          <a:blip r:embed="rId3"/>
          <a:stretch>
            <a:fillRect/>
          </a:stretch>
        </p:blipFill>
        <p:spPr>
          <a:xfrm>
            <a:off x="457200" y="1960785"/>
            <a:ext cx="8229600" cy="3915628"/>
          </a:xfrm>
          <a:prstGeom prst="rect">
            <a:avLst/>
          </a:prstGeom>
        </p:spPr>
      </p:pic>
    </p:spTree>
    <p:extLst>
      <p:ext uri="{BB962C8B-B14F-4D97-AF65-F5344CB8AC3E}">
        <p14:creationId xmlns:p14="http://schemas.microsoft.com/office/powerpoint/2010/main" val="3600016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4A81C-CAF4-F540-5434-06DC6A76C1FA}"/>
              </a:ext>
            </a:extLst>
          </p:cNvPr>
          <p:cNvSpPr>
            <a:spLocks noGrp="1"/>
          </p:cNvSpPr>
          <p:nvPr>
            <p:ph type="title"/>
          </p:nvPr>
        </p:nvSpPr>
        <p:spPr/>
        <p:txBody>
          <a:bodyPr/>
          <a:lstStyle/>
          <a:p>
            <a:r>
              <a:rPr lang="en-US" dirty="0"/>
              <a:t>Key Tie to Dual Representation Account:</a:t>
            </a:r>
            <a:br>
              <a:rPr lang="en-US" dirty="0"/>
            </a:br>
            <a:r>
              <a:rPr lang="en-US" dirty="0"/>
              <a:t>Both Address Spatiotemporal Context</a:t>
            </a:r>
          </a:p>
        </p:txBody>
      </p:sp>
      <p:sp>
        <p:nvSpPr>
          <p:cNvPr id="4" name="Content Placeholder 3">
            <a:extLst>
              <a:ext uri="{FF2B5EF4-FFF2-40B4-BE49-F238E27FC236}">
                <a16:creationId xmlns:a16="http://schemas.microsoft.com/office/drawing/2014/main" id="{C3319FFA-C2B8-F753-E478-EF6B86363D81}"/>
              </a:ext>
            </a:extLst>
          </p:cNvPr>
          <p:cNvSpPr>
            <a:spLocks noGrp="1"/>
          </p:cNvSpPr>
          <p:nvPr>
            <p:ph sz="half" idx="1"/>
          </p:nvPr>
        </p:nvSpPr>
        <p:spPr>
          <a:xfrm>
            <a:off x="257907" y="1600200"/>
            <a:ext cx="4501661" cy="5257799"/>
          </a:xfrm>
        </p:spPr>
        <p:txBody>
          <a:bodyPr>
            <a:normAutofit fontScale="92500"/>
          </a:bodyPr>
          <a:lstStyle/>
          <a:p>
            <a:r>
              <a:rPr lang="en-US" b="1" dirty="0"/>
              <a:t>DRA: </a:t>
            </a:r>
            <a:r>
              <a:rPr lang="en-US" dirty="0"/>
              <a:t>Emotional arousal strengthens binding among sensory and affective elements. </a:t>
            </a:r>
          </a:p>
          <a:p>
            <a:r>
              <a:rPr lang="en-US" b="1" dirty="0"/>
              <a:t>DRA: </a:t>
            </a:r>
            <a:r>
              <a:rPr lang="en-US" dirty="0"/>
              <a:t>The same arousal weakens links between those elements and spatiotemporal context.</a:t>
            </a:r>
          </a:p>
          <a:p>
            <a:r>
              <a:rPr lang="en-US" b="1" dirty="0"/>
              <a:t>CMR</a:t>
            </a:r>
            <a:r>
              <a:rPr lang="en-US" dirty="0"/>
              <a:t>: items associated to temporal contexts drives the temporal contiguity effect</a:t>
            </a:r>
          </a:p>
          <a:p>
            <a:r>
              <a:rPr lang="en-US" b="1" dirty="0" err="1"/>
              <a:t>eCMR</a:t>
            </a:r>
            <a:r>
              <a:rPr lang="en-US" dirty="0"/>
              <a:t>: emotional items </a:t>
            </a:r>
            <a:r>
              <a:rPr lang="en-US" i="1" dirty="0"/>
              <a:t>more strongly</a:t>
            </a:r>
            <a:r>
              <a:rPr lang="en-US" dirty="0"/>
              <a:t> associated to context than neutral items</a:t>
            </a:r>
          </a:p>
          <a:p>
            <a:pPr marL="0" indent="0" algn="ctr">
              <a:buNone/>
            </a:pPr>
            <a:r>
              <a:rPr lang="en-US" dirty="0"/>
              <a:t>Key alternative prediction for a DRA-CMR hybrid: diminished temporal contiguity effect even in voluntary recall? </a:t>
            </a:r>
          </a:p>
          <a:p>
            <a:pPr marL="0" indent="0" algn="ctr">
              <a:buNone/>
            </a:pPr>
            <a:r>
              <a:rPr lang="en-US" dirty="0"/>
              <a:t>But unimpaired or boosted sensory contiguity.</a:t>
            </a:r>
          </a:p>
          <a:p>
            <a:endParaRPr lang="en-US" dirty="0"/>
          </a:p>
        </p:txBody>
      </p:sp>
      <p:pic>
        <p:nvPicPr>
          <p:cNvPr id="10" name="Content Placeholder 5">
            <a:extLst>
              <a:ext uri="{FF2B5EF4-FFF2-40B4-BE49-F238E27FC236}">
                <a16:creationId xmlns:a16="http://schemas.microsoft.com/office/drawing/2014/main" id="{FC5D6622-CF5D-1DC2-2D57-67043F4366C0}"/>
              </a:ext>
            </a:extLst>
          </p:cNvPr>
          <p:cNvPicPr>
            <a:picLocks noGrp="1" noChangeAspect="1"/>
          </p:cNvPicPr>
          <p:nvPr>
            <p:ph sz="half" idx="2"/>
          </p:nvPr>
        </p:nvPicPr>
        <p:blipFill>
          <a:blip r:embed="rId3"/>
          <a:stretch>
            <a:fillRect/>
          </a:stretch>
        </p:blipFill>
        <p:spPr>
          <a:xfrm>
            <a:off x="4942063" y="1417639"/>
            <a:ext cx="4038600" cy="2350924"/>
          </a:xfrm>
          <a:prstGeom prst="rect">
            <a:avLst/>
          </a:prstGeom>
        </p:spPr>
      </p:pic>
      <p:pic>
        <p:nvPicPr>
          <p:cNvPr id="12" name="Picture 11" descr="A graph of a line graph&#10;&#10;Description automatically generated with medium confidence">
            <a:extLst>
              <a:ext uri="{FF2B5EF4-FFF2-40B4-BE49-F238E27FC236}">
                <a16:creationId xmlns:a16="http://schemas.microsoft.com/office/drawing/2014/main" id="{396D112D-7A76-126D-7F4E-360708CAF5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28004" y="3967091"/>
            <a:ext cx="3666717" cy="2739289"/>
          </a:xfrm>
          <a:prstGeom prst="rect">
            <a:avLst/>
          </a:prstGeom>
        </p:spPr>
      </p:pic>
    </p:spTree>
    <p:extLst>
      <p:ext uri="{BB962C8B-B14F-4D97-AF65-F5344CB8AC3E}">
        <p14:creationId xmlns:p14="http://schemas.microsoft.com/office/powerpoint/2010/main" val="18875978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1CEC8-4037-5F0D-6496-AB5E8D7DB93B}"/>
              </a:ext>
            </a:extLst>
          </p:cNvPr>
          <p:cNvSpPr>
            <a:spLocks noGrp="1"/>
          </p:cNvSpPr>
          <p:nvPr>
            <p:ph type="title"/>
          </p:nvPr>
        </p:nvSpPr>
        <p:spPr/>
        <p:txBody>
          <a:bodyPr>
            <a:normAutofit fontScale="90000"/>
          </a:bodyPr>
          <a:lstStyle/>
          <a:p>
            <a:r>
              <a:rPr lang="en-US" dirty="0"/>
              <a:t>Distraction Account of Post-Encoding Interference in CMR: Reduced Contact Between Stored Contexts</a:t>
            </a:r>
          </a:p>
        </p:txBody>
      </p:sp>
      <p:grpSp>
        <p:nvGrpSpPr>
          <p:cNvPr id="4" name="Group 3">
            <a:extLst>
              <a:ext uri="{FF2B5EF4-FFF2-40B4-BE49-F238E27FC236}">
                <a16:creationId xmlns:a16="http://schemas.microsoft.com/office/drawing/2014/main" id="{E2C8C67E-9435-B958-0620-BAC0765091AA}"/>
              </a:ext>
            </a:extLst>
          </p:cNvPr>
          <p:cNvGrpSpPr/>
          <p:nvPr/>
        </p:nvGrpSpPr>
        <p:grpSpPr>
          <a:xfrm>
            <a:off x="357655" y="1703169"/>
            <a:ext cx="5646567" cy="3570862"/>
            <a:chOff x="785091" y="1929263"/>
            <a:chExt cx="8382400" cy="3370453"/>
          </a:xfrm>
        </p:grpSpPr>
        <p:sp>
          <p:nvSpPr>
            <p:cNvPr id="5" name="Rectangle: Rounded Corners 6">
              <a:extLst>
                <a:ext uri="{FF2B5EF4-FFF2-40B4-BE49-F238E27FC236}">
                  <a16:creationId xmlns:a16="http://schemas.microsoft.com/office/drawing/2014/main" id="{BAD31067-08B3-1D62-3F24-CCD206C06446}"/>
                </a:ext>
              </a:extLst>
            </p:cNvPr>
            <p:cNvSpPr/>
            <p:nvPr/>
          </p:nvSpPr>
          <p:spPr>
            <a:xfrm>
              <a:off x="785091" y="2857500"/>
              <a:ext cx="2008910" cy="1143000"/>
            </a:xfrm>
            <a:prstGeom prst="round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b="1" dirty="0">
                  <a:solidFill>
                    <a:schemeClr val="bg1"/>
                  </a:solidFill>
                </a:rPr>
                <a:t>CONTEXT</a:t>
              </a:r>
              <a:r>
                <a:rPr lang="en-US" sz="2000" dirty="0">
                  <a:solidFill>
                    <a:schemeClr val="bg1"/>
                  </a:solidFill>
                </a:rPr>
                <a:t> </a:t>
              </a:r>
            </a:p>
            <a:p>
              <a:pPr algn="ctr"/>
              <a:r>
                <a:rPr lang="en-US" sz="2000" dirty="0">
                  <a:solidFill>
                    <a:schemeClr val="bg1"/>
                  </a:solidFill>
                </a:rPr>
                <a:t>(</a:t>
              </a:r>
              <a:r>
                <a:rPr lang="en-US" sz="2000" i="1" dirty="0">
                  <a:solidFill>
                    <a:schemeClr val="bg1"/>
                  </a:solidFill>
                </a:rPr>
                <a:t>C</a:t>
              </a:r>
              <a:r>
                <a:rPr lang="en-US" sz="2000" dirty="0">
                  <a:solidFill>
                    <a:schemeClr val="bg1"/>
                  </a:solidFill>
                </a:rPr>
                <a:t>)</a:t>
              </a:r>
            </a:p>
          </p:txBody>
        </p:sp>
        <p:sp>
          <p:nvSpPr>
            <p:cNvPr id="6" name="Rectangle: Rounded Corners 7">
              <a:extLst>
                <a:ext uri="{FF2B5EF4-FFF2-40B4-BE49-F238E27FC236}">
                  <a16:creationId xmlns:a16="http://schemas.microsoft.com/office/drawing/2014/main" id="{10E329FC-7892-417D-DA2B-A2B6FD6AC71F}"/>
                </a:ext>
              </a:extLst>
            </p:cNvPr>
            <p:cNvSpPr/>
            <p:nvPr/>
          </p:nvSpPr>
          <p:spPr>
            <a:xfrm>
              <a:off x="6349999" y="2857500"/>
              <a:ext cx="2008910" cy="1143000"/>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000" b="1" dirty="0">
                  <a:solidFill>
                    <a:schemeClr val="bg1"/>
                  </a:solidFill>
                </a:rPr>
                <a:t>ITEM FEATURES </a:t>
              </a:r>
              <a:r>
                <a:rPr lang="en-US" sz="2000" dirty="0">
                  <a:solidFill>
                    <a:schemeClr val="bg1"/>
                  </a:solidFill>
                </a:rPr>
                <a:t>(</a:t>
              </a:r>
              <a:r>
                <a:rPr lang="en-US" sz="2000" i="1" dirty="0">
                  <a:solidFill>
                    <a:schemeClr val="bg1"/>
                  </a:solidFill>
                </a:rPr>
                <a:t>F)</a:t>
              </a:r>
              <a:endParaRPr lang="en-US" sz="2000" dirty="0">
                <a:solidFill>
                  <a:schemeClr val="bg1"/>
                </a:solidFill>
              </a:endParaRPr>
            </a:p>
          </p:txBody>
        </p:sp>
        <p:sp>
          <p:nvSpPr>
            <p:cNvPr id="7" name="Rectangle: Rounded Corners 8">
              <a:extLst>
                <a:ext uri="{FF2B5EF4-FFF2-40B4-BE49-F238E27FC236}">
                  <a16:creationId xmlns:a16="http://schemas.microsoft.com/office/drawing/2014/main" id="{6A0A6C97-FAFC-A81F-BA76-43783B97C143}"/>
                </a:ext>
              </a:extLst>
            </p:cNvPr>
            <p:cNvSpPr/>
            <p:nvPr/>
          </p:nvSpPr>
          <p:spPr>
            <a:xfrm>
              <a:off x="3601982" y="3799979"/>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bg1"/>
                  </a:solidFill>
                </a:rPr>
                <a:t>MEMORY</a:t>
              </a:r>
            </a:p>
            <a:p>
              <a:pPr algn="ctr"/>
              <a:r>
                <a:rPr lang="en-US" sz="2000" dirty="0">
                  <a:solidFill>
                    <a:schemeClr val="bg1"/>
                  </a:solidFill>
                </a:rPr>
                <a:t>(Context to Item)</a:t>
              </a:r>
            </a:p>
            <a:p>
              <a:pPr algn="ctr"/>
              <a:r>
                <a:rPr lang="en-US" sz="2000" i="1" dirty="0">
                  <a:solidFill>
                    <a:schemeClr val="bg1"/>
                  </a:solidFill>
                </a:rPr>
                <a:t>M</a:t>
              </a:r>
              <a:r>
                <a:rPr lang="en-US" sz="2000" i="1" baseline="30000" dirty="0">
                  <a:solidFill>
                    <a:schemeClr val="bg1"/>
                  </a:solidFill>
                </a:rPr>
                <a:t>CF</a:t>
              </a:r>
            </a:p>
          </p:txBody>
        </p:sp>
        <p:sp>
          <p:nvSpPr>
            <p:cNvPr id="8" name="Rectangle: Rounded Corners 9">
              <a:extLst>
                <a:ext uri="{FF2B5EF4-FFF2-40B4-BE49-F238E27FC236}">
                  <a16:creationId xmlns:a16="http://schemas.microsoft.com/office/drawing/2014/main" id="{CEBF38AD-2066-EC64-9D13-CEFC3452F87E}"/>
                </a:ext>
              </a:extLst>
            </p:cNvPr>
            <p:cNvSpPr/>
            <p:nvPr/>
          </p:nvSpPr>
          <p:spPr>
            <a:xfrm>
              <a:off x="3601982" y="1929263"/>
              <a:ext cx="1940036" cy="149973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bg1"/>
                  </a:solidFill>
                </a:rPr>
                <a:t>MEMORY</a:t>
              </a:r>
            </a:p>
            <a:p>
              <a:pPr algn="ctr"/>
              <a:r>
                <a:rPr lang="en-US" sz="2000" dirty="0">
                  <a:solidFill>
                    <a:schemeClr val="bg1"/>
                  </a:solidFill>
                </a:rPr>
                <a:t>(Item to Context)</a:t>
              </a:r>
            </a:p>
            <a:p>
              <a:pPr algn="ctr"/>
              <a:r>
                <a:rPr lang="en-US" sz="2000" i="1" dirty="0">
                  <a:solidFill>
                    <a:schemeClr val="bg1"/>
                  </a:solidFill>
                </a:rPr>
                <a:t>M</a:t>
              </a:r>
              <a:r>
                <a:rPr lang="en-US" sz="2000" i="1" baseline="30000" dirty="0">
                  <a:solidFill>
                    <a:schemeClr val="bg1"/>
                  </a:solidFill>
                </a:rPr>
                <a:t>FC</a:t>
              </a:r>
              <a:endParaRPr lang="en-US" sz="2000" i="1" dirty="0">
                <a:solidFill>
                  <a:schemeClr val="bg1"/>
                </a:solidFill>
              </a:endParaRPr>
            </a:p>
          </p:txBody>
        </p:sp>
        <p:sp>
          <p:nvSpPr>
            <p:cNvPr id="9" name="Arrow: Bent 10">
              <a:extLst>
                <a:ext uri="{FF2B5EF4-FFF2-40B4-BE49-F238E27FC236}">
                  <a16:creationId xmlns:a16="http://schemas.microsoft.com/office/drawing/2014/main" id="{115019F8-D5A7-3965-D2FF-01483348E8FF}"/>
                </a:ext>
              </a:extLst>
            </p:cNvPr>
            <p:cNvSpPr/>
            <p:nvPr/>
          </p:nvSpPr>
          <p:spPr>
            <a:xfrm flipH="1">
              <a:off x="5800435" y="1988411"/>
              <a:ext cx="1427019" cy="804702"/>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10" name="Arrow: Bent 11">
              <a:extLst>
                <a:ext uri="{FF2B5EF4-FFF2-40B4-BE49-F238E27FC236}">
                  <a16:creationId xmlns:a16="http://schemas.microsoft.com/office/drawing/2014/main" id="{CF2418AB-4932-3E50-4385-8AC36E05193F}"/>
                </a:ext>
              </a:extLst>
            </p:cNvPr>
            <p:cNvSpPr/>
            <p:nvPr/>
          </p:nvSpPr>
          <p:spPr>
            <a:xfrm flipV="1">
              <a:off x="2145147" y="4058196"/>
              <a:ext cx="1297708" cy="816383"/>
            </a:xfrm>
            <a:prstGeom prst="bentArrow">
              <a:avLst>
                <a:gd name="adj1" fmla="val 25000"/>
                <a:gd name="adj2" fmla="val 41834"/>
                <a:gd name="adj3" fmla="val 2409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11" name="TextBox 10">
              <a:extLst>
                <a:ext uri="{FF2B5EF4-FFF2-40B4-BE49-F238E27FC236}">
                  <a16:creationId xmlns:a16="http://schemas.microsoft.com/office/drawing/2014/main" id="{F8D7BD9D-47A7-A30C-1CC1-A4EE9E6D04AF}"/>
                </a:ext>
              </a:extLst>
            </p:cNvPr>
            <p:cNvSpPr txBox="1"/>
            <p:nvPr/>
          </p:nvSpPr>
          <p:spPr>
            <a:xfrm>
              <a:off x="785091" y="4342253"/>
              <a:ext cx="1614056" cy="348604"/>
            </a:xfrm>
            <a:prstGeom prst="rect">
              <a:avLst/>
            </a:prstGeom>
            <a:noFill/>
          </p:spPr>
          <p:txBody>
            <a:bodyPr wrap="square" rtlCol="0">
              <a:spAutoFit/>
            </a:bodyPr>
            <a:lstStyle/>
            <a:p>
              <a:r>
                <a:rPr lang="en-US" dirty="0">
                  <a:solidFill>
                    <a:schemeClr val="bg1"/>
                  </a:solidFill>
                </a:rPr>
                <a:t>Guide Search</a:t>
              </a:r>
            </a:p>
          </p:txBody>
        </p:sp>
        <p:sp>
          <p:nvSpPr>
            <p:cNvPr id="12" name="TextBox 11">
              <a:extLst>
                <a:ext uri="{FF2B5EF4-FFF2-40B4-BE49-F238E27FC236}">
                  <a16:creationId xmlns:a16="http://schemas.microsoft.com/office/drawing/2014/main" id="{D65BBA30-7C78-B350-8B6B-46C272E96119}"/>
                </a:ext>
              </a:extLst>
            </p:cNvPr>
            <p:cNvSpPr txBox="1"/>
            <p:nvPr/>
          </p:nvSpPr>
          <p:spPr>
            <a:xfrm>
              <a:off x="7227454" y="1942574"/>
              <a:ext cx="1940037" cy="348604"/>
            </a:xfrm>
            <a:prstGeom prst="rect">
              <a:avLst/>
            </a:prstGeom>
            <a:noFill/>
          </p:spPr>
          <p:txBody>
            <a:bodyPr wrap="square" rtlCol="0">
              <a:spAutoFit/>
            </a:bodyPr>
            <a:lstStyle/>
            <a:p>
              <a:r>
                <a:rPr lang="en-US" dirty="0">
                  <a:solidFill>
                    <a:schemeClr val="bg1"/>
                  </a:solidFill>
                </a:rPr>
                <a:t>Update Context</a:t>
              </a:r>
            </a:p>
          </p:txBody>
        </p:sp>
        <p:sp>
          <p:nvSpPr>
            <p:cNvPr id="13" name="Arrow: Bent 14">
              <a:extLst>
                <a:ext uri="{FF2B5EF4-FFF2-40B4-BE49-F238E27FC236}">
                  <a16:creationId xmlns:a16="http://schemas.microsoft.com/office/drawing/2014/main" id="{B11BA67F-8E41-3FFB-56AD-BDEB5940F67E}"/>
                </a:ext>
              </a:extLst>
            </p:cNvPr>
            <p:cNvSpPr/>
            <p:nvPr/>
          </p:nvSpPr>
          <p:spPr>
            <a:xfrm rot="16200000" flipH="1">
              <a:off x="2335000" y="1675753"/>
              <a:ext cx="620579" cy="1595134"/>
            </a:xfrm>
            <a:prstGeom prst="bentArrow">
              <a:avLst>
                <a:gd name="adj1" fmla="val 25000"/>
                <a:gd name="adj2" fmla="val 50000"/>
                <a:gd name="adj3" fmla="val 25000"/>
                <a:gd name="adj4" fmla="val 43750"/>
              </a:avLst>
            </a:prstGeom>
            <a:solidFill>
              <a:schemeClr val="accent2"/>
            </a:solidFill>
            <a:ln>
              <a:solidFill>
                <a:schemeClr val="accent2"/>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14" name="Arrow: Bent 15">
              <a:extLst>
                <a:ext uri="{FF2B5EF4-FFF2-40B4-BE49-F238E27FC236}">
                  <a16:creationId xmlns:a16="http://schemas.microsoft.com/office/drawing/2014/main" id="{E99782D3-8C94-FE75-7BEB-250CCD52780E}"/>
                </a:ext>
              </a:extLst>
            </p:cNvPr>
            <p:cNvSpPr/>
            <p:nvPr/>
          </p:nvSpPr>
          <p:spPr>
            <a:xfrm rot="16200000" flipV="1">
              <a:off x="6221792" y="3579099"/>
              <a:ext cx="485013" cy="1526309"/>
            </a:xfrm>
            <a:prstGeom prst="bentArrow">
              <a:avLst>
                <a:gd name="adj1" fmla="val 42851"/>
                <a:gd name="adj2" fmla="val 50000"/>
                <a:gd name="adj3" fmla="val 17383"/>
                <a:gd name="adj4" fmla="val 43750"/>
              </a:avLst>
            </a:prstGeom>
            <a:solidFill>
              <a:schemeClr val="accent3"/>
            </a:solidFill>
            <a:ln>
              <a:solidFill>
                <a:schemeClr val="accent3"/>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grpSp>
      <p:pic>
        <p:nvPicPr>
          <p:cNvPr id="15" name="Picture 14">
            <a:extLst>
              <a:ext uri="{FF2B5EF4-FFF2-40B4-BE49-F238E27FC236}">
                <a16:creationId xmlns:a16="http://schemas.microsoft.com/office/drawing/2014/main" id="{F7ED1B87-F0FA-141D-0704-6FC85102F71A}"/>
              </a:ext>
            </a:extLst>
          </p:cNvPr>
          <p:cNvPicPr>
            <a:picLocks noChangeAspect="1"/>
          </p:cNvPicPr>
          <p:nvPr/>
        </p:nvPicPr>
        <p:blipFill>
          <a:blip r:embed="rId3"/>
          <a:stretch>
            <a:fillRect/>
          </a:stretch>
        </p:blipFill>
        <p:spPr>
          <a:xfrm>
            <a:off x="5791140" y="1479502"/>
            <a:ext cx="3243084" cy="825067"/>
          </a:xfrm>
          <a:prstGeom prst="rect">
            <a:avLst/>
          </a:prstGeom>
        </p:spPr>
      </p:pic>
      <p:pic>
        <p:nvPicPr>
          <p:cNvPr id="16" name="Picture 15">
            <a:extLst>
              <a:ext uri="{FF2B5EF4-FFF2-40B4-BE49-F238E27FC236}">
                <a16:creationId xmlns:a16="http://schemas.microsoft.com/office/drawing/2014/main" id="{979E9ECC-1068-798F-6924-A664B0A09D13}"/>
              </a:ext>
            </a:extLst>
          </p:cNvPr>
          <p:cNvPicPr>
            <a:picLocks noChangeAspect="1"/>
          </p:cNvPicPr>
          <p:nvPr/>
        </p:nvPicPr>
        <p:blipFill>
          <a:blip r:embed="rId4"/>
          <a:stretch>
            <a:fillRect/>
          </a:stretch>
        </p:blipFill>
        <p:spPr>
          <a:xfrm>
            <a:off x="5823250" y="2431713"/>
            <a:ext cx="3243085" cy="825067"/>
          </a:xfrm>
          <a:prstGeom prst="rect">
            <a:avLst/>
          </a:prstGeom>
        </p:spPr>
      </p:pic>
      <p:pic>
        <p:nvPicPr>
          <p:cNvPr id="17" name="Picture 16">
            <a:extLst>
              <a:ext uri="{FF2B5EF4-FFF2-40B4-BE49-F238E27FC236}">
                <a16:creationId xmlns:a16="http://schemas.microsoft.com/office/drawing/2014/main" id="{897DDB1F-653D-8292-B071-6159AA88E610}"/>
              </a:ext>
            </a:extLst>
          </p:cNvPr>
          <p:cNvPicPr>
            <a:picLocks noChangeAspect="1"/>
          </p:cNvPicPr>
          <p:nvPr/>
        </p:nvPicPr>
        <p:blipFill>
          <a:blip r:embed="rId5"/>
          <a:stretch>
            <a:fillRect/>
          </a:stretch>
        </p:blipFill>
        <p:spPr>
          <a:xfrm>
            <a:off x="5804928" y="3347739"/>
            <a:ext cx="3261407" cy="829728"/>
          </a:xfrm>
          <a:prstGeom prst="rect">
            <a:avLst/>
          </a:prstGeom>
        </p:spPr>
      </p:pic>
      <p:pic>
        <p:nvPicPr>
          <p:cNvPr id="18" name="Picture 17">
            <a:extLst>
              <a:ext uri="{FF2B5EF4-FFF2-40B4-BE49-F238E27FC236}">
                <a16:creationId xmlns:a16="http://schemas.microsoft.com/office/drawing/2014/main" id="{651D6919-281B-8FBA-FFF1-411E345CA547}"/>
              </a:ext>
            </a:extLst>
          </p:cNvPr>
          <p:cNvPicPr>
            <a:picLocks noChangeAspect="1"/>
          </p:cNvPicPr>
          <p:nvPr/>
        </p:nvPicPr>
        <p:blipFill>
          <a:blip r:embed="rId6"/>
          <a:stretch>
            <a:fillRect/>
          </a:stretch>
        </p:blipFill>
        <p:spPr>
          <a:xfrm>
            <a:off x="5823980" y="4484513"/>
            <a:ext cx="3261405" cy="829728"/>
          </a:xfrm>
          <a:prstGeom prst="rect">
            <a:avLst/>
          </a:prstGeom>
        </p:spPr>
      </p:pic>
      <p:sp>
        <p:nvSpPr>
          <p:cNvPr id="19" name="TextBox 18">
            <a:extLst>
              <a:ext uri="{FF2B5EF4-FFF2-40B4-BE49-F238E27FC236}">
                <a16:creationId xmlns:a16="http://schemas.microsoft.com/office/drawing/2014/main" id="{EFE89F45-3A37-1616-3F10-459B7921F041}"/>
              </a:ext>
            </a:extLst>
          </p:cNvPr>
          <p:cNvSpPr txBox="1"/>
          <p:nvPr/>
        </p:nvSpPr>
        <p:spPr>
          <a:xfrm>
            <a:off x="7368165" y="4154418"/>
            <a:ext cx="1817298" cy="369332"/>
          </a:xfrm>
          <a:prstGeom prst="rect">
            <a:avLst/>
          </a:prstGeom>
          <a:noFill/>
        </p:spPr>
        <p:txBody>
          <a:bodyPr wrap="square" rtlCol="0">
            <a:spAutoFit/>
          </a:bodyPr>
          <a:lstStyle/>
          <a:p>
            <a:r>
              <a:rPr lang="en-US" dirty="0">
                <a:solidFill>
                  <a:schemeClr val="bg1"/>
                </a:solidFill>
              </a:rPr>
              <a:t>…</a:t>
            </a:r>
          </a:p>
        </p:txBody>
      </p:sp>
      <p:sp>
        <p:nvSpPr>
          <p:cNvPr id="20" name="Content Placeholder 3">
            <a:extLst>
              <a:ext uri="{FF2B5EF4-FFF2-40B4-BE49-F238E27FC236}">
                <a16:creationId xmlns:a16="http://schemas.microsoft.com/office/drawing/2014/main" id="{5648EF36-24FB-5BA0-1285-757C48B3B9B0}"/>
              </a:ext>
            </a:extLst>
          </p:cNvPr>
          <p:cNvSpPr>
            <a:spLocks noGrp="1"/>
          </p:cNvSpPr>
          <p:nvPr>
            <p:ph sz="half" idx="1"/>
          </p:nvPr>
        </p:nvSpPr>
        <p:spPr>
          <a:xfrm>
            <a:off x="211663" y="5533133"/>
            <a:ext cx="8915400" cy="1499037"/>
          </a:xfrm>
        </p:spPr>
        <p:txBody>
          <a:bodyPr>
            <a:normAutofit/>
          </a:bodyPr>
          <a:lstStyle/>
          <a:p>
            <a:pPr marL="0" indent="0" algn="ctr">
              <a:buNone/>
            </a:pPr>
            <a:r>
              <a:rPr lang="en-US" sz="2000" dirty="0"/>
              <a:t>CMR predicts that strong distraction effectively accelerates context drift between successive states. </a:t>
            </a:r>
            <a:r>
              <a:rPr lang="en-US" sz="2000" b="1" dirty="0"/>
              <a:t>Later, cues generated from retrieving one time become worse cues for the other item, reducing overall access during unconstrained recall.</a:t>
            </a:r>
          </a:p>
        </p:txBody>
      </p:sp>
    </p:spTree>
    <p:extLst>
      <p:ext uri="{BB962C8B-B14F-4D97-AF65-F5344CB8AC3E}">
        <p14:creationId xmlns:p14="http://schemas.microsoft.com/office/powerpoint/2010/main" val="28031404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22A4B-7981-9491-CD5D-A17F9295B6A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5A079C2-C7DD-6C7F-6DAE-C54CBEC901C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45374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15D94-A18F-EEEB-54B1-2C5370ACB70D}"/>
              </a:ext>
            </a:extLst>
          </p:cNvPr>
          <p:cNvSpPr>
            <a:spLocks noGrp="1"/>
          </p:cNvSpPr>
          <p:nvPr>
            <p:ph type="title"/>
          </p:nvPr>
        </p:nvSpPr>
        <p:spPr/>
        <p:txBody>
          <a:bodyPr/>
          <a:lstStyle/>
          <a:p>
            <a:r>
              <a:rPr lang="en-US" dirty="0"/>
              <a:t>Alternatives</a:t>
            </a:r>
          </a:p>
        </p:txBody>
      </p:sp>
      <p:sp>
        <p:nvSpPr>
          <p:cNvPr id="3" name="Content Placeholder 2">
            <a:extLst>
              <a:ext uri="{FF2B5EF4-FFF2-40B4-BE49-F238E27FC236}">
                <a16:creationId xmlns:a16="http://schemas.microsoft.com/office/drawing/2014/main" id="{3F1BE751-7819-F07F-689B-58E53B990062}"/>
              </a:ext>
            </a:extLst>
          </p:cNvPr>
          <p:cNvSpPr>
            <a:spLocks noGrp="1"/>
          </p:cNvSpPr>
          <p:nvPr>
            <p:ph idx="1"/>
          </p:nvPr>
        </p:nvSpPr>
        <p:spPr/>
        <p:txBody>
          <a:bodyPr/>
          <a:lstStyle/>
          <a:p>
            <a:r>
              <a:rPr lang="en-US" dirty="0"/>
              <a:t>Not interference, but forward-going association with strong neutral memory.</a:t>
            </a:r>
          </a:p>
          <a:p>
            <a:r>
              <a:rPr lang="en-US" dirty="0"/>
              <a:t>…</a:t>
            </a:r>
          </a:p>
        </p:txBody>
      </p:sp>
    </p:spTree>
    <p:extLst>
      <p:ext uri="{BB962C8B-B14F-4D97-AF65-F5344CB8AC3E}">
        <p14:creationId xmlns:p14="http://schemas.microsoft.com/office/powerpoint/2010/main" val="14472586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66038</TotalTime>
  <Words>2561</Words>
  <Application>Microsoft Macintosh PowerPoint</Application>
  <PresentationFormat>On-screen Show (4:3)</PresentationFormat>
  <Paragraphs>161</Paragraphs>
  <Slides>21</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Consolas</vt:lpstr>
      <vt:lpstr>Office Theme</vt:lpstr>
      <vt:lpstr>Modelling Meeting</vt:lpstr>
      <vt:lpstr>Goals for Modelling Project (From Grant)</vt:lpstr>
      <vt:lpstr>Goals for Meeting</vt:lpstr>
      <vt:lpstr>Select the focal experiment(s) for the selective interference / Tetris effect</vt:lpstr>
      <vt:lpstr>Criteria</vt:lpstr>
      <vt:lpstr>Example:  Lau-Zhu, A., Henson, R. N., &amp; Holmes, E. A. (2019)</vt:lpstr>
      <vt:lpstr>Example: Experiment 1 from current project</vt:lpstr>
      <vt:lpstr>Note: The Vigilance Retrieval Task is Very Cool!</vt:lpstr>
      <vt:lpstr>Any Clearly Favored Options?</vt:lpstr>
      <vt:lpstr>SELECT commitments from dual-representation ACCOUNT (DRA) for initial model</vt:lpstr>
      <vt:lpstr>The Dual Representation Account (DRA)</vt:lpstr>
      <vt:lpstr>Are These the DRA Properties We Care About?</vt:lpstr>
      <vt:lpstr>Set the theoretical framework and comparison approach</vt:lpstr>
      <vt:lpstr>CMR Addresses a Signature of  the Retrieval of Temporal Context</vt:lpstr>
      <vt:lpstr>Retrieved Context Theory (Howard &amp; Kahana, 2002): Experiences Tied To, Retrieved By Temporal Contexts</vt:lpstr>
      <vt:lpstr>CMR (Polyn, Norman &amp; Kahana, 2009): Visual/Other Features Also Carried in Context</vt:lpstr>
      <vt:lpstr>eCMR (Talmi et al, 2019) Extends to Emotional Similarity,  Adds Arousal-Boosted Encoding</vt:lpstr>
      <vt:lpstr>Key Tie to Dual Representation Account: Both Address Spatiotemporal Context</vt:lpstr>
      <vt:lpstr>Distraction Account of Post-Encoding Interference in CMR: Reduced Contact Between Stored Contexts</vt:lpstr>
      <vt:lpstr>PowerPoint Presentation</vt:lpstr>
      <vt:lpstr>Alternatives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Some Problems for the Retrieved Context Account of Repetition Effects in Free Recall</dc:title>
  <dc:creator>Jordan Gunn</dc:creator>
  <cp:keywords/>
  <cp:lastModifiedBy>Jordan Gunn</cp:lastModifiedBy>
  <cp:revision>10</cp:revision>
  <dcterms:created xsi:type="dcterms:W3CDTF">2023-11-28T14:31:23Z</dcterms:created>
  <dcterms:modified xsi:type="dcterms:W3CDTF">2025-11-16T20:07:22Z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toc-title">
    <vt:lpwstr>Table of contents</vt:lpwstr>
  </property>
</Properties>
</file>