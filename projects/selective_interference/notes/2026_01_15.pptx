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19"/>
  </p:notesMasterIdLst>
  <p:handoutMasterIdLst>
    <p:handoutMasterId r:id="rId20"/>
  </p:handoutMasterIdLst>
  <p:sldIdLst>
    <p:sldId id="256" r:id="rId3"/>
    <p:sldId id="258" r:id="rId4"/>
    <p:sldId id="257" r:id="rId5"/>
    <p:sldId id="260" r:id="rId6"/>
    <p:sldId id="259" r:id="rId7"/>
    <p:sldId id="262" r:id="rId8"/>
    <p:sldId id="263" r:id="rId9"/>
    <p:sldId id="274" r:id="rId10"/>
    <p:sldId id="275" r:id="rId11"/>
    <p:sldId id="261" r:id="rId12"/>
    <p:sldId id="276" r:id="rId13"/>
    <p:sldId id="277" r:id="rId14"/>
    <p:sldId id="279" r:id="rId15"/>
    <p:sldId id="280" r:id="rId16"/>
    <p:sldId id="281" r:id="rId17"/>
    <p:sldId id="282" r:id="rId18"/>
  </p:sldIdLst>
  <p:sldSz cx="9144000" cy="6858000" type="screen4x3"/>
  <p:notesSz cx="6858000" cy="9144000"/>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0808"/>
    <a:srgbClr val="003E72"/>
    <a:srgbClr val="6AADE4"/>
    <a:srgbClr val="0030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13"/>
    <p:restoredTop sz="77949"/>
  </p:normalViewPr>
  <p:slideViewPr>
    <p:cSldViewPr>
      <p:cViewPr varScale="1">
        <p:scale>
          <a:sx n="83" d="100"/>
          <a:sy n="83" d="100"/>
        </p:scale>
        <p:origin x="192" y="448"/>
      </p:cViewPr>
      <p:guideLst>
        <p:guide orient="horz" pos="2160"/>
        <p:guide pos="2880"/>
      </p:guideLst>
    </p:cSldViewPr>
  </p:slideViewPr>
  <p:outlineViewPr>
    <p:cViewPr>
      <p:scale>
        <a:sx n="33" d="100"/>
        <a:sy n="33" d="100"/>
      </p:scale>
      <p:origin x="0" y="-32392"/>
    </p:cViewPr>
  </p:outlineViewPr>
  <p:notesTextViewPr>
    <p:cViewPr>
      <p:scale>
        <a:sx n="1" d="1"/>
        <a:sy n="1" d="1"/>
      </p:scale>
      <p:origin x="0" y="0"/>
    </p:cViewPr>
  </p:notesTextViewPr>
  <p:sorterViewPr>
    <p:cViewPr>
      <p:scale>
        <a:sx n="80" d="100"/>
        <a:sy n="8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54829FD-AA8D-402C-B969-9BDD4214046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GB" altLang="en-US"/>
          </a:p>
        </p:txBody>
      </p:sp>
      <p:sp>
        <p:nvSpPr>
          <p:cNvPr id="9219" name="Rectangle 3">
            <a:extLst>
              <a:ext uri="{FF2B5EF4-FFF2-40B4-BE49-F238E27FC236}">
                <a16:creationId xmlns:a16="http://schemas.microsoft.com/office/drawing/2014/main" id="{5705EE3B-642B-4B31-81F1-D1E1046BF93E}"/>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GB" altLang="en-US"/>
          </a:p>
        </p:txBody>
      </p:sp>
      <p:sp>
        <p:nvSpPr>
          <p:cNvPr id="9220" name="Rectangle 4">
            <a:extLst>
              <a:ext uri="{FF2B5EF4-FFF2-40B4-BE49-F238E27FC236}">
                <a16:creationId xmlns:a16="http://schemas.microsoft.com/office/drawing/2014/main" id="{B6EE33C4-7597-4898-BE8A-32CA814848BB}"/>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GB" altLang="en-US"/>
          </a:p>
        </p:txBody>
      </p:sp>
      <p:sp>
        <p:nvSpPr>
          <p:cNvPr id="9221" name="Rectangle 5">
            <a:extLst>
              <a:ext uri="{FF2B5EF4-FFF2-40B4-BE49-F238E27FC236}">
                <a16:creationId xmlns:a16="http://schemas.microsoft.com/office/drawing/2014/main" id="{A05EDBA9-BACD-43D6-BF5D-181E303C3DF6}"/>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4B67D7FD-786C-4CB7-8AF4-D718F2B264DC}"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13.439"/>
    </inkml:context>
    <inkml:brush xml:id="br0">
      <inkml:brushProperty name="width" value="0.035" units="cm"/>
      <inkml:brushProperty name="height" value="0.035" units="cm"/>
      <inkml:brushProperty name="color" value="#E71224"/>
    </inkml:brush>
  </inkml:definitions>
  <inkml:trace contextRef="#ctx0" brushRef="#br0">518 4704 24575,'21'-26'0,"5"5"0,0 0 0,23 2 0,6-9 0,-4-37 0,3-6 0,5 33 0,8 6 0,-5-8-1395,-12-16 1,-4-8 0,4 7 1394,15 15 0,4 6 0,-4-7 0,-13-14 0,-6-8 0,8 5 0,18 8 0,8 5 0,-2-6-642,-23 1 0,-3-6 0,0-1 1,3 3 641,2 6 0,1 1 0,2 2 0,0 0-790,4-1 1,1 1 0,0-1 0,-3-2 789,-6-6 0,-4-4 0,1 2 0,6 7 0,11 9 0,6 6 0,1 2 0,-8-6 0,2-19 0,-7-6 0,5 6-415,-4 20 0,6 4 0,-1 2 0,-4-1 415,2-6 0,-5 0 0,-1 0 220,-3 2 0,-3 0 0,-4-1-220,8-18 0,-5-1 0,3 7 0,-6 3 2458,6-25-2458,31 31 3592,-42 42-3592,0-42 0,4 17 0,7-2 662,3-17 1,4-6-663,0 5 0,7-2 0,0 3-813,-8 8 1,-1 3 0,3-3 812,16-14 0,3-5 0,-1 3 0,-10 11 0,-2 2 0,2-1-732,3-6 0,1-2 1,2 1 731,5 0 0,1 1 0,-6-2 0,-18 1 0,-5-1 0,1 2 0,3 4 0,1 2 0,-2 2 0,21-11 0,-5 4-462,-25 8 0,3 6 462,33 7 0,3 1 0,-27-11 0,0 0 0,26 9 0,5-3-236,-32-7 0,0-6 1,2 8 235,32 13 0,1 3 0,-33-10 0,-2-6 0,0 9 0,21 19 0,-4 5 0,-17-11 0,-3 1 3106,35 10-3106,-26 0 0,-21 0 0,15 10 0,6 1 2458,21-6-2458,-9 4 0,-3 3 0,-4 9 0,16 5 867,5 1-867,-16-7 2837,11-20-2837,-42 21 0,0-15 0,21 35 0,5 6 0,-27-21 0,2 1 0,10 8 0,-1-2 0,22-7 0,10-5 527,-63 20-527,16-30 0,-16 31 0,21-42 0,0 0 0,0 0 0,0 21 0,21 5 0,5 21 0,0 0 0,-19-24 0,2 1-985,-7 11 0,1-2 985,11-17 0,-2-1 0,-10 18 0,-3-3 0,21-25 0,-19 16 0,-1-21 0,-21 21 0,15 5 0,-35 21 0,36-21 1970,-16-5-1970,0 0 0,37 5 0,-32 0 0,37-5 0,-21 0 0,21 26 0,-37 26 0,32-20 0,-40-3 0,1 4 0,12-15 0,1 0-249,-8 18 0,-6 7 249,0 14 0,-4 0-597,-7-26 1,-3 1 596,-8 35 0,3 2-987,17-27 0,0-1 987,-17 19 0,-3 0 0,9-19 0,1-4-219,1 2 1,-3-5 218,-4 19 0,37-7 408,-37 1-408,16-15 1066,-42 15-1066,16-21 0,-16 0 0,21 0 0,0 0 0,-21 21 0,16-16 0,-16 16 0,21-21 0,-21 0 2095,-26 21-2095,-5-16 0,17-10 0,2 5 0,8-1 0,3 2 38,-2 10 0,1 4-38,1 9 0,-3-1-1935,-10-9 1,2-1 1934,18-2 0,-1-1 0,-16-8 0,1-4 0,5 7 0,0 11 0,-16-37 0,-5 42 0,-5-16-2552,6-18 0,3 0 2552,11 13 2646,-30 0-2646,15-21 0,2 16 0,-4 0-372,-1-25 0,0 2 372,-6 35 0,-3 2 0,-10-29 0,2-2 0,26 20 0,-1-1 0,-36-17 0,4-2 0,17 43 0,3-54 0,-2-1-174,-17 49 174,0-30 0,19 1 0,-2 2 2803,7-12 0,-1 1-2803,-20 8 0,-2 4-1308,2-1 1,-1 3 1307,-11 7 0,2 4 0,17-3 0,1 2 0,-6 0 0,0-2 0,8-9 0,5-1 18,15 0 1,2-4-19,-30-6 216,47 16-216,0-37 630,-5 37-630,-42-16 0,22-4 0,-2 3 0,-1 8 0,-2 2-1835,-17 2 0,1-1 1835,-12 17 0,13-10 0,1-3 574,8-8-574,2 2 0,0-1 0,3-6 0,5 14 0,5-35 0,16 15 0,-42-1 0,12-6 0,-3-1-357,9-1 1,-4 2 356,-16 1 0,-9 0 0,8-3 0,13-10 0,1 1 0,-32 16 0,0 4 0,29-10 0,5 0 6361,-23 13-6361,-11-5 0,42-21 0,-42 0 0,30 0 0,-2 0-322,0 0 1,-3 0 321,-36 0 0,1 0 0,44 0 0,0 0 0,-44 0 0,0 0 0,45 0 0,3 0 0,-9-3 0,5 6 0,8 18 0,5-16 0,16 16 0,-21-21 1031,-21 0-1031,-5 21 0,18-9 0,-5 2-764,-11 7 0,1 5 764,8 8 0,-1 0 0,-27-7 0,2-2 0,34-1 0,3-1 0,-9-1 0,5-2 819,8 6-819,5 0 0,37 16 0,-16-16 0,-20 21 0,9-21 1597,-15 16-1597,5-37 0,16 16 0,-42-21 0,16 21 0,-37 5 0,37 0 0,5 16 0,5-16 0,-5 0 0,3-4 0,-6-2-317,-8-5 0,-4-4 317,-10 3 0,3-1 0,17-3 0,4 0 0,-41 11 0,42-15 0,-21 35 0,16-35 0,-16 15 0,21-21 0,0 0 634,0 0-634,0 0 0,0 20 0,0-14 0,-21 15 0,-5-21 0,0 0 0,-16 0 0,37 0 0,5-21 0,5 15 0,16-14 0,-21 20 0,0 0 0,0 0 0,0 0 0,-1 0 0,1 0 0,0 0 0,0 0 0,0 0 0,0-21 0,0 15 0,0-15 0,21 1 0,-16 14 0,16-15 0,0 1 0,-16 14 0,16-15 0,0 1 0,-16 14 0,16-36 0,-21 37 0,0-16 0,0-20 0,0 9 0,21-36 0,-16 42 0,16 5 0,0 0 0,-37-5 0,52-21 0,-51 0 0,36 0 0,-21 21 0,20-16 0,7 16 0,20-21 0,0 0 0,0 0 0,-42-42 0,10 32 0,8 1 0,1 2 0,2 2 0,21-16 0,0 21 0,-20 20 0,14-14 0,-15 14 0,21-20 0,0 0 0,0 0 0,-20-42 0,-7 32 0,1-32 0,5 21 0,21 16 0,-21-16 0,16 21 0,-16 0 0,21 0 0,10-6 0,1-4 0,-6-26-1608,24-7 1,5 2 1607,-2 4 0,9 10 0,6-3-756,-9 17 1,-2-1 755,1-22 0,-1-1 0,-1 20 0,-2 3 0,-8 3 0,-3 6 0,4 5 0,16 21 0,-37 5 0,16 21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28.619"/>
    </inkml:context>
    <inkml:brush xml:id="br0">
      <inkml:brushProperty name="width" value="0.035" units="cm"/>
      <inkml:brushProperty name="height" value="0.035" units="cm"/>
      <inkml:brushProperty name="color" value="#66CC00"/>
    </inkml:brush>
  </inkml:definitions>
  <inkml:trace contextRef="#ctx0" brushRef="#br0">48 1 24575,'-26'0'0,"5"0"0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36.621"/>
    </inkml:context>
    <inkml:brush xml:id="br0">
      <inkml:brushProperty name="width" value="0.035" units="cm"/>
      <inkml:brushProperty name="height" value="0.035" units="cm"/>
      <inkml:brushProperty name="color" value="#66CC00"/>
    </inkml:brush>
  </inkml:definitions>
  <inkml:trace contextRef="#ctx0" brushRef="#br0">9173 376 24575,'26'-20'0,"16"14"0,-16-15 0,42 21 0,5-41 0,0 30 0,-18-19 0,0-3 0,23 7 0,-20 4 0,-1-3-1212,16-22 1212,-18 34 0,0 0 0,24-29 206,15 37-206,-26-16 0,-21 21 0,0 0 0,21 0 0,-16 21 0,16-16 0,-21 16 0,21-21 0,5 42 911,0-32-911,-26 53 95,-5-37-95,-16 0 0,21-5 0,0-21 0,-21 21 0,16-16 0,-37 37 0,37-16 0,-16 1 0,42 14 0,-16-35 0,16 14 0,-41 1 0,14-15-6784,-15 14 6784,1 1 0,-7 26 0,-20 27 0,21-22 0,6-10 0,-1-21-4537,15-16 4537,-35 37 4537,36-37-4537,-37 37 0,37-37 0,-37 37 0,16 5 0,-21 5 0,0 16 0,21 21 0,-16-32 0,14-1 0,4-2 0,3-2 0,0 16 6784,-5-21-6784,-21 0 0,0 0 0,0 0 0,21 0 0,5 42 0,0-31 0,-5 31 0,-21-42 0,0 0 0,0 0 0,21 0 0,5 0 0,0 21 0,-26-37 0,-5 32 0,-16-37 0,21 21 0,0 0 0,0 21 0,0 26 0,0 5 0,-10-40 0,-1-3-1006,6 17 1006,-16-5 0,0 0 0,16 6 0,-37-1 0,37-5 0,-16-21 0,21 0 0,-21-21 0,-5-5 0,-21 21 1006,0 10-1006,21 42 0,5-21 0,0-5 0,1-21 0,-7-5 0,-46-6 0,36 5 0,0 2 0,-31 4 0,21 5 0,0-5 0,21-5 0,-16-37 0,37 37 0,-37-16 0,16 1 0,-42-7 0,-5 43 0,0-26 0,29 8 0,-1-1 0,-28-18 0,25-6 0,2 2 0,-6 4 0,-11 0 0,58 16 0,-37-37 0,16 16 0,0 0 0,-16 5 0,16 0-6784,0 16 6784,-16-37 0,16 16 0,-21 0 0,-21 26 0,31-10 0,0-1 0,-36-5 0,5 27 0,21-32 0,0 5 0,21 53 0,5-53 0,0 16 6784,16-5-6784,-58-16 0,53 21 0,-53-21 0,37-5 0,-21 0 0,0 5 0,21 21 0,5 0 0,0-20 0,16 14 0,-16-15 0,0 1 0,-5-6 0,-21 41 0,-21-4-339,42-13 1,0 4 338,-18-2 0,-1-5 0,-8 10 0,9-8 0,0 1 0,-9 7 0,-15-5 0,42-5 0,-15-37 0,14 37 0,-20-37 0,0 37 0,0-16 0,0 42 0,0-16 0,6-6 0,-7-3 0,-2-16 0,1-2 338,9 9 1,2 0-339,-46 13 0,37 0 0,16 0 0,-32-20 0,58 14 0,-37-35 0,16 15 0,0-1 0,-16 7 0,-5-1 0,-6-5 0,6 0 0,6-16 0,15 16 0,-42 0 0,-6 5-709,19 6 0,-5 4 709,-9-10 0,-3 0 0,-2 8 0,2 0 0,11-9 0,2-3-447,1-10 0,6 2 447,0 28-218,-16-37 218,21 16 0,21 0 0,-16-16 1335,16 16-1335,-21-21 0,0 0 0,20 21 949,-14-16-949,15 16 246,-21-21-246,-1 0 0,-19 21 0,-7-16 0,1 16 0,5-21 0,21 0 0,0 0 0,0 0 0,0 0 0,0 21 0,0-16 0,0 16 0,0 0 0,0-16 0,21 37 0,-16-37 0,16 37 0,-21-16 0,-21 21 0,16-21 0,-16-5 0,21-21 0,0 21 0,-42 5 0,52 21 0,-46 0 0,15 0-457,31-12 1,-5-2 456,-26-7 0,0 1 0,28 6 0,2 2 0,-17-1 0,0 0 0,-18 18 0,0 16 0,5-21 0,21-21 0,21 16 0,-16-37 0,16 16 0,-21-21 0,-21 0 0,16 0 913,-16 0-913,21 0 0,0 0 0,-21 0 0,15 0 0,-15 0 0,21 0 0,0 0 0,0 0 0,0 0 0,0 0 0,0 0 0,0 0 0,0 0 0,0 0 0,0 0 0,0 0 0,0 0 0,0 0 0,0 0 0,0 0 0,0 0 0,0 0 0,0 0 0,0 0 0,0 0 0,0 0 0,20-21 0,-14 16 0,15-16 0,-22 21 0,1 0 0,0 0 0,0 0 0,-21 0 0,16-21 0,-37 16 0,37-16 0,-16 21 0,21 0 0,0-21-6784,21-5 6784,-16 0 0,16 5 0,-21 21 0,21-21 0,-16-5 0,16-21 0,-42 20 0,-5-14 0,26 17 0,0 1 0,-1-2 0,2-3 0,-2-5 0,2-2 0,-1 1 0,-1 0 0,1 8 0,0 0 0,0-8 0,0 0 0,-1 11 0,2-1 0,-27-44 0,5 16 0,42-37 0,-37 16 0,32 0 0,-16 5 0,-16 42 0,53-16 6784,-53 16-6784,58-21 0,-37 0 0,16 0 0,-21 0 0,0 0 0,3 13 0,-1 0 0,-13-19 0,22 10 0,4-2 0,12-8 0,-1-15 0,-5 21 0,-1 0 0,6 0-6784,21-42 6784,21 32 0,-18-3 0,0-11-852,14-7 0,7-9 1,-3 7 851,-6 1 0,2 1-576,9-10 1,5-6 0,1 15 575,-6 27 0,0 9 0,21-30 0,-5 26 4663,-16 5-4663,21 37 0,-21-37 0,37 16 2173,-11-21-2173,-6 23 0,2 1 0,25-24 2979,-5 0-2979,0 0 0,-16 0 0,-8 26 0,1-5 0,-9-26 0,1-6-1100,30 8 1,2-4 1099,-16-25 0,-1-4 0,-3 26 0,6 2 0,-2 5 0,9-2 0,-4-1 0,-8-25 0,-1 5 0,-4 43 0,-1 2-72,-8-27 1,-4 0 71,20 3 0,16 5 0,-42 5 1098,16 37-1098,-16-16 0,21 21 0,0 0 0,21 0 2321,5 0-2321,5-18 0,1-6 0,10-7-420,-14-4 1,1 2 419,19 7 0,-46 6 0,1-2 0,8-2 0,-1 1-68,16-8 68,-26-32 0,-5 58 0,5-16 0,5 21 0,37-21 0,-37 16 0,16-37 0,-21 37 0,-21-37 1009,37 37-1009,-11-37 71,42 16-71,-41-21 0,9 21 0,-35 5 0,40 0 0,7 15 0,-1-35 0,-5 15 0,0-1 0,5 6 0,-26 1 0,0-1 0,26-11 0,-27-10 0,-3-5 0,9-5 0,16-16 0,-21 42 0,0 5 0,-21 0 0,16 16 0,-16-16 0,21 0 0,0 16 0,0-37 0,0 37 0,-20-37 0,14 37 0,-14-16 0,-1 0 0,36 16 0,-30-16 0,36 0 0,-21-5 0,0 0 0,0-16 0,21 37 0,5-16 0,-21 0 0,11 16 0,-37-37 0,21 16 0,0-21 0,0 21 0,0 5 0,0 21 0,0 0 0,-21-21 0,16-5 0,-16 0 0,42 5 0,5 0 0,1-5 0,-6 0 0,-21 5 0,0 21 0,-21-21 0,57-5 0,-46-21 0,6 23 0,3 1 0,22-45 0,-16 15 0,16 6 0,-42 5 0,16 37 0,-37-37 0,37 37-6784,-16-16 6784,0 0 0,16-5 0,-16 0 0,42-37 0,-16 53 0,-5-53 0,-5 58 0,-37-37 0,58 16 0,10-42 1702,-13 42 0,1 0-1702,-21-8 0,-2 0 0,46-13-312,-37-21 312,-3 42 0,6 0 0,-2-19 0,3 1-420,6 17 1,1 2 419,0-21 0,-1 3 0,-6 27 0,-3 0 0,25-46 0,-10 56 0,-58-35 3152,37 35-3152,5-15 356,5 21-356,16 42 0,-21-31 0,0 31 1023,0-42-1023,1 20 0,-1-14 0,0 36 0,-21-37 0,-5 16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39.507"/>
    </inkml:context>
    <inkml:brush xml:id="br0">
      <inkml:brushProperty name="width" value="0.035" units="cm"/>
      <inkml:brushProperty name="height" value="0.035" units="cm"/>
      <inkml:brushProperty name="color" value="#66CC00"/>
    </inkml:brush>
  </inkml:definitions>
  <inkml:trace contextRef="#ctx0" brushRef="#br0">1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6CA4456-F361-4B44-A308-3E6D964ED5E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GB" altLang="en-US"/>
          </a:p>
        </p:txBody>
      </p:sp>
      <p:sp>
        <p:nvSpPr>
          <p:cNvPr id="8195" name="Rectangle 3">
            <a:extLst>
              <a:ext uri="{FF2B5EF4-FFF2-40B4-BE49-F238E27FC236}">
                <a16:creationId xmlns:a16="http://schemas.microsoft.com/office/drawing/2014/main" id="{08C818F8-B2DF-401F-97D5-3C4C43187B6E}"/>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GB" altLang="en-US"/>
          </a:p>
        </p:txBody>
      </p:sp>
      <p:sp>
        <p:nvSpPr>
          <p:cNvPr id="5124" name="Rectangle 4">
            <a:extLst>
              <a:ext uri="{FF2B5EF4-FFF2-40B4-BE49-F238E27FC236}">
                <a16:creationId xmlns:a16="http://schemas.microsoft.com/office/drawing/2014/main" id="{B359CEE7-979E-4ECA-B60E-F8371A4D883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a:extLst>
              <a:ext uri="{FF2B5EF4-FFF2-40B4-BE49-F238E27FC236}">
                <a16:creationId xmlns:a16="http://schemas.microsoft.com/office/drawing/2014/main" id="{C80015F8-FF0A-4A7F-ABD6-7BD6E40F6ACE}"/>
              </a:ext>
            </a:extLst>
          </p:cNvPr>
          <p:cNvSpPr>
            <a:spLocks noGrp="1" noChangeArrowheads="1"/>
          </p:cNvSpPr>
          <p:nvPr>
            <p:ph type="body" sz="quarter" idx="3"/>
          </p:nvPr>
        </p:nvSpPr>
        <p:spPr bwMode="auto">
          <a:xfrm>
            <a:off x="1143000" y="4343400"/>
            <a:ext cx="45561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noProof="0"/>
              <a:t>Click to edit Master text styles</a:t>
            </a:r>
          </a:p>
          <a:p>
            <a:pPr lvl="1"/>
            <a:r>
              <a:rPr lang="en-GB" altLang="en-US" noProof="0"/>
              <a:t>Second level</a:t>
            </a:r>
          </a:p>
          <a:p>
            <a:pPr lvl="2"/>
            <a:r>
              <a:rPr lang="en-GB" altLang="en-US" noProof="0"/>
              <a:t>Third level</a:t>
            </a:r>
          </a:p>
          <a:p>
            <a:pPr lvl="3"/>
            <a:r>
              <a:rPr lang="en-GB" altLang="en-US" noProof="0"/>
              <a:t>Fourth level</a:t>
            </a:r>
          </a:p>
          <a:p>
            <a:pPr lvl="4"/>
            <a:r>
              <a:rPr lang="en-GB" altLang="en-US" noProof="0"/>
              <a:t>Fifth level</a:t>
            </a:r>
          </a:p>
        </p:txBody>
      </p:sp>
      <p:sp>
        <p:nvSpPr>
          <p:cNvPr id="8198" name="Rectangle 6">
            <a:extLst>
              <a:ext uri="{FF2B5EF4-FFF2-40B4-BE49-F238E27FC236}">
                <a16:creationId xmlns:a16="http://schemas.microsoft.com/office/drawing/2014/main" id="{FC8A3E9C-3A05-4F0F-A897-F596674ECFB3}"/>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GB" altLang="en-US"/>
          </a:p>
        </p:txBody>
      </p:sp>
      <p:sp>
        <p:nvSpPr>
          <p:cNvPr id="8199" name="Rectangle 7">
            <a:extLst>
              <a:ext uri="{FF2B5EF4-FFF2-40B4-BE49-F238E27FC236}">
                <a16:creationId xmlns:a16="http://schemas.microsoft.com/office/drawing/2014/main" id="{419914C5-D7AD-4B98-AE8F-0F6C07EE7AED}"/>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CEA5AD2E-89E1-4370-8739-344D4E353C41}"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C7D363F4-AFB4-4666-B181-6ABB76387421}"/>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5734EB-D06B-4794-9C0B-3CA60BFA27EA}" type="slidenum">
              <a:rPr lang="en-GB" altLang="en-US"/>
              <a:pPr eaLnBrk="1" hangingPunct="1"/>
              <a:t>1</a:t>
            </a:fld>
            <a:endParaRPr lang="en-GB" altLang="en-US"/>
          </a:p>
        </p:txBody>
      </p:sp>
      <p:sp>
        <p:nvSpPr>
          <p:cNvPr id="6147" name="Rectangle 2">
            <a:extLst>
              <a:ext uri="{FF2B5EF4-FFF2-40B4-BE49-F238E27FC236}">
                <a16:creationId xmlns:a16="http://schemas.microsoft.com/office/drawing/2014/main" id="{ABC7FC18-B57B-495C-A9F0-E0D19CB7E12A}"/>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E5DCEC76-4B29-4493-B2CF-E1CC273C2E90}"/>
              </a:ext>
            </a:extLst>
          </p:cNvPr>
          <p:cNvSpPr>
            <a:spLocks noGrp="1" noChangeArrowheads="1"/>
          </p:cNvSpPr>
          <p:nvPr>
            <p:ph type="body" idx="1"/>
          </p:nvPr>
        </p:nvSpPr>
        <p:spPr>
          <a:noFill/>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big aim for now in the project is still to see whether a retrieved-context model can account for the selective interference effect in these trauma-film plus Tetris paradigms.”</a:t>
            </a:r>
          </a:p>
          <a:p>
            <a:r>
              <a:rPr lang="en-US" dirty="0"/>
              <a:t>“Last time we agreed that Lau-Zhu 2019 and 2021 would be our primary empirical anchors.”</a:t>
            </a:r>
          </a:p>
          <a:p>
            <a:r>
              <a:rPr lang="en-US" dirty="0"/>
              <a:t>“Since our last meeting, I started to zoom in on the 2021 associative-cue experiment and ask: what does this look like to CMR, and how much do we want to lean into that reading in our modelling plan?”</a:t>
            </a:r>
          </a:p>
          <a:p>
            <a:r>
              <a:rPr lang="en-US" dirty="0" err="1"/>
              <a:t>Unforunately</a:t>
            </a:r>
            <a:r>
              <a:rPr lang="en-US" dirty="0"/>
              <a:t>, my simulation work is in the early stages. And yet, I think I’ve made important conceptual progress that might help update our thinking about this project and how </a:t>
            </a:r>
            <a:r>
              <a:rPr lang="en-US" dirty="0" err="1"/>
              <a:t>we’l</a:t>
            </a:r>
            <a:r>
              <a:rPr lang="en-US" dirty="0"/>
              <a:t> tackle it.</a:t>
            </a:r>
          </a:p>
          <a:p>
            <a:r>
              <a:rPr lang="en-US" dirty="0"/>
              <a:t>“My hope is that this helps us get more concrete about how retrieved-context fits this domain, clarify our research goals, and sharpen our simulations going forward.”</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a:t>
            </a:fld>
            <a:endParaRPr lang="en-GB" altLang="en-US"/>
          </a:p>
        </p:txBody>
      </p:sp>
    </p:spTree>
    <p:extLst>
      <p:ext uri="{BB962C8B-B14F-4D97-AF65-F5344CB8AC3E}">
        <p14:creationId xmlns:p14="http://schemas.microsoft.com/office/powerpoint/2010/main" val="1695552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started adapting CMR/</a:t>
            </a:r>
            <a:r>
              <a:rPr lang="en-US" dirty="0" err="1"/>
              <a:t>eCMR</a:t>
            </a:r>
            <a:r>
              <a:rPr lang="en-US" dirty="0"/>
              <a:t> to these trauma-film paradigms, but unfortunately I haven’t finished. Before we get too invested in tuning parameters, I wanted to use the 2021 experiment as a conceptual checkpoint.”</a:t>
            </a:r>
          </a:p>
          <a:p>
            <a:r>
              <a:rPr lang="en-US" dirty="0"/>
              <a:t>“Rather than give a status report, I’d like to </a:t>
            </a:r>
            <a:r>
              <a:rPr lang="en-US" dirty="0" err="1"/>
              <a:t>organise</a:t>
            </a:r>
            <a:r>
              <a:rPr lang="en-US" dirty="0"/>
              <a:t> the rest of the talk around three questions.”</a:t>
            </a:r>
          </a:p>
          <a:p>
            <a:r>
              <a:rPr lang="en-US" dirty="0"/>
              <a:t>“First: if we take CMR seriously, what does it say is happening in the VIT and in the modified recognition task in 2021?”</a:t>
            </a:r>
          </a:p>
          <a:p>
            <a:r>
              <a:rPr lang="en-US" dirty="0"/>
              <a:t>“Second: given that reading, what would we actually want a CMR simulation to explain about the selective interference pattern here?”</a:t>
            </a:r>
          </a:p>
          <a:p>
            <a:r>
              <a:rPr lang="en-US" dirty="0"/>
              <a:t>“Third: depending on the answers, how central do we want this experiment to be in our modelling narrative versus, say, the free recall work in 2019 or ongoing matched-cue experiments in the lab?”</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3</a:t>
            </a:fld>
            <a:endParaRPr lang="en-GB" altLang="en-US"/>
          </a:p>
        </p:txBody>
      </p:sp>
    </p:spTree>
    <p:extLst>
      <p:ext uri="{BB962C8B-B14F-4D97-AF65-F5344CB8AC3E}">
        <p14:creationId xmlns:p14="http://schemas.microsoft.com/office/powerpoint/2010/main" val="3150593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to have the structure fresh in our minds, here are the two main tasks in 2021.”</a:t>
            </a:r>
          </a:p>
          <a:p>
            <a:r>
              <a:rPr lang="en-US" dirty="0"/>
              <a:t>“On the left is the VIT: essentially a go/no-go task with blurred backgrounds and occasional film or foil stills, where participants report intrusions.”</a:t>
            </a:r>
          </a:p>
          <a:p>
            <a:r>
              <a:rPr lang="en-US" dirty="0"/>
              <a:t>“On the right is the modified recognition task: each trial starts with a cue still, then a blurred target still, and people decide whether the target came from the trauma film.”</a:t>
            </a:r>
          </a:p>
          <a:p>
            <a:r>
              <a:rPr lang="en-US" dirty="0"/>
              <a:t>“The key difference is how those stills are linked to the </a:t>
            </a:r>
            <a:r>
              <a:rPr lang="en-US" i="1" dirty="0"/>
              <a:t>response</a:t>
            </a:r>
            <a:r>
              <a:rPr lang="en-US" dirty="0"/>
              <a:t>: in VIT they’re background triggers; in recognition background cues precede an explicit probe–target decision.”</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4</a:t>
            </a:fld>
            <a:endParaRPr lang="en-GB" altLang="en-US"/>
          </a:p>
        </p:txBody>
      </p:sp>
    </p:spTree>
    <p:extLst>
      <p:ext uri="{BB962C8B-B14F-4D97-AF65-F5344CB8AC3E}">
        <p14:creationId xmlns:p14="http://schemas.microsoft.com/office/powerpoint/2010/main" val="4177825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understanding is that they saw a mismatch in how context was handled across tasks in the earlier work.”</a:t>
            </a:r>
          </a:p>
          <a:p>
            <a:r>
              <a:rPr lang="en-US" dirty="0"/>
              <a:t>“Intrusions almost always happen in some triggering situation, whereas the early recognition tests used single stills without much structure around them.”</a:t>
            </a:r>
          </a:p>
          <a:p>
            <a:r>
              <a:rPr lang="en-US" dirty="0"/>
              <a:t>“That leaves open a story where interference mainly damages how scenes are embedded in the wider event, which would hurt intrusions more than single-item recognition.”</a:t>
            </a:r>
          </a:p>
          <a:p>
            <a:r>
              <a:rPr lang="en-US" dirty="0"/>
              <a:t>“So in 2021 they try to fix that by putting film versus foil cues in front of both tasks, so that both VIT and recognition can, in principle, benefit from having the current context aligned with the film. Then they ask: under that setup, does interference still look selective?”</a:t>
            </a:r>
          </a:p>
          <a:p>
            <a:br>
              <a:rPr lang="en-US" dirty="0"/>
            </a:br>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5</a:t>
            </a:fld>
            <a:endParaRPr lang="en-GB" altLang="en-US"/>
          </a:p>
        </p:txBody>
      </p:sp>
    </p:spTree>
    <p:extLst>
      <p:ext uri="{BB962C8B-B14F-4D97-AF65-F5344CB8AC3E}">
        <p14:creationId xmlns:p14="http://schemas.microsoft.com/office/powerpoint/2010/main" val="2141088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10BAB-9C08-9F95-DE74-5408EED8B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E7755A-950A-EC66-A25E-03EE2E0B91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4AFAD-7A73-5575-DD50-87C0D3862C94}"/>
              </a:ext>
            </a:extLst>
          </p:cNvPr>
          <p:cNvSpPr>
            <a:spLocks noGrp="1"/>
          </p:cNvSpPr>
          <p:nvPr>
            <p:ph type="body" idx="1"/>
          </p:nvPr>
        </p:nvSpPr>
        <p:spPr/>
        <p:txBody>
          <a:bodyPr/>
          <a:lstStyle/>
          <a:p>
            <a:r>
              <a:rPr lang="en-US" dirty="0"/>
              <a:t>“Very briefly, this is the pattern they found that we might to explain.</a:t>
            </a:r>
          </a:p>
          <a:p>
            <a:r>
              <a:rPr lang="en-US" dirty="0"/>
              <a:t>“Reminder plus Tetris reduces intrusions in the VIT and the diary, and trauma-film cues generally increase intrusions.”</a:t>
            </a:r>
          </a:p>
          <a:p>
            <a:r>
              <a:rPr lang="en-US" dirty="0"/>
              <a:t>“On the recognition side, accuracy is comfortably above chance, trauma-film cues help a bit, but there’s no obvious difference between interference and control groups, and no interaction with cue type.”</a:t>
            </a:r>
          </a:p>
          <a:p>
            <a:r>
              <a:rPr lang="en-US" dirty="0"/>
              <a:t>“So we get what they call ‘selective interference’: intrusions hit, recognition spared, even in this associative, cue-rich setup.”</a:t>
            </a:r>
          </a:p>
        </p:txBody>
      </p:sp>
      <p:sp>
        <p:nvSpPr>
          <p:cNvPr id="4" name="Slide Number Placeholder 3">
            <a:extLst>
              <a:ext uri="{FF2B5EF4-FFF2-40B4-BE49-F238E27FC236}">
                <a16:creationId xmlns:a16="http://schemas.microsoft.com/office/drawing/2014/main" id="{CC1CDA29-1855-9859-C712-7AA0392E0A40}"/>
              </a:ext>
            </a:extLst>
          </p:cNvPr>
          <p:cNvSpPr>
            <a:spLocks noGrp="1"/>
          </p:cNvSpPr>
          <p:nvPr>
            <p:ph type="sldNum" sz="quarter" idx="5"/>
          </p:nvPr>
        </p:nvSpPr>
        <p:spPr/>
        <p:txBody>
          <a:bodyPr/>
          <a:lstStyle/>
          <a:p>
            <a:fld id="{CEA5AD2E-89E1-4370-8739-344D4E353C41}" type="slidenum">
              <a:rPr lang="en-GB" altLang="en-US" smtClean="0"/>
              <a:pPr/>
              <a:t>6</a:t>
            </a:fld>
            <a:endParaRPr lang="en-GB" altLang="en-US"/>
          </a:p>
        </p:txBody>
      </p:sp>
    </p:spTree>
    <p:extLst>
      <p:ext uri="{BB962C8B-B14F-4D97-AF65-F5344CB8AC3E}">
        <p14:creationId xmlns:p14="http://schemas.microsoft.com/office/powerpoint/2010/main" val="1301842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Objective</a:t>
            </a:r>
            <a:endParaRPr lang="en-US" dirty="0"/>
          </a:p>
          <a:p>
            <a:r>
              <a:rPr lang="en-US" dirty="0"/>
              <a:t>Remind everyone (briefly) what CMR actually does well in its canonical setting — context-driven free recall with temporal contiguity — so that treating VIT/diary as a low-intentionality cousin of free recall feels natural, not like a stretch.</a:t>
            </a:r>
          </a:p>
          <a:p>
            <a:r>
              <a:rPr lang="en-US" b="1" dirty="0"/>
              <a:t>What you might say</a:t>
            </a:r>
            <a:endParaRPr lang="en-US" dirty="0"/>
          </a:p>
          <a:p>
            <a:r>
              <a:rPr lang="en-US" dirty="0"/>
              <a:t>“Before I plug CMR into the trauma-film tasks, I just want to remind us what it thinks it’s explaining in its home territory.”</a:t>
            </a:r>
          </a:p>
          <a:p>
            <a:r>
              <a:rPr lang="en-US" dirty="0"/>
              <a:t>“The classic use case is free recall of lists: a drifting temporal context that gets updated with each study item, item–context bindings at encoding, and then at test, retrieval is driven by whatever context is currently active.”</a:t>
            </a:r>
          </a:p>
          <a:p>
            <a:r>
              <a:rPr lang="en-US" dirty="0"/>
              <a:t>“As you recall items, they in turn reinstate their associated context, which tends to bring along near </a:t>
            </a:r>
            <a:r>
              <a:rPr lang="en-US" dirty="0" err="1"/>
              <a:t>neighbours</a:t>
            </a:r>
            <a:r>
              <a:rPr lang="en-US" dirty="0"/>
              <a:t> — that’s where the temporal contiguity effect comes from.”</a:t>
            </a:r>
          </a:p>
          <a:p>
            <a:r>
              <a:rPr lang="en-US" dirty="0"/>
              <a:t>“The important point for today is that any task where context is the main driver of what comes to mind — not just list recall — is, in principle, living in the same part of the model’s space. That’s why it’s natural to treat the VIT and the intrusion diary as cousins of free recall within this framework.”</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7</a:t>
            </a:fld>
            <a:endParaRPr lang="en-GB" altLang="en-US"/>
          </a:p>
        </p:txBody>
      </p:sp>
    </p:spTree>
    <p:extLst>
      <p:ext uri="{BB962C8B-B14F-4D97-AF65-F5344CB8AC3E}">
        <p14:creationId xmlns:p14="http://schemas.microsoft.com/office/powerpoint/2010/main" val="3364977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7062F8D-6015-4186-952A-87493F61A5D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8881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0F94F-0F18-EA77-3603-6664DEBD6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B051B-0702-AFA9-EF9C-4CF9617762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26B57-595D-26C0-EDC3-E63598D1B52E}"/>
              </a:ext>
            </a:extLst>
          </p:cNvPr>
          <p:cNvSpPr>
            <a:spLocks noGrp="1"/>
          </p:cNvSpPr>
          <p:nvPr>
            <p:ph type="body" idx="1"/>
          </p:nvPr>
        </p:nvSpPr>
        <p:spPr/>
        <p:txBody>
          <a:bodyPr/>
          <a:lstStyle/>
          <a:p>
            <a:r>
              <a:rPr lang="en-US" b="1" dirty="0"/>
              <a:t>Objective</a:t>
            </a:r>
            <a:br>
              <a:rPr lang="en-US" dirty="0"/>
            </a:br>
            <a:r>
              <a:rPr lang="en-US" dirty="0"/>
              <a:t>Show that reduced intrusions can arise naturally from adding competitors to the trauma context in a standard CMR framework.</a:t>
            </a:r>
          </a:p>
          <a:p>
            <a:r>
              <a:rPr lang="en-US" b="1" dirty="0"/>
              <a:t>Things you might say</a:t>
            </a:r>
            <a:endParaRPr lang="en-US" dirty="0"/>
          </a:p>
          <a:p>
            <a:r>
              <a:rPr lang="en-US" dirty="0"/>
              <a:t>“In a CMR frame, the VIT and the diary are both asking: what pops up when context happens to wander near the trauma-film region?”</a:t>
            </a:r>
          </a:p>
          <a:p>
            <a:r>
              <a:rPr lang="en-US" dirty="0"/>
              <a:t>“The </a:t>
            </a:r>
            <a:r>
              <a:rPr lang="en-US" dirty="0" err="1"/>
              <a:t>reminder+Tetris</a:t>
            </a:r>
            <a:r>
              <a:rPr lang="en-US" dirty="0"/>
              <a:t> block effectively litters that region with extra items that share context with the film but aren’t themselves ‘film intrusions’.”</a:t>
            </a:r>
          </a:p>
          <a:p>
            <a:r>
              <a:rPr lang="en-US" dirty="0"/>
              <a:t>“That makes it less likely that a film hotspot wins the race at any given moment, so we count fewer intrusions.”</a:t>
            </a:r>
          </a:p>
          <a:p>
            <a:endParaRPr lang="en-US" dirty="0"/>
          </a:p>
        </p:txBody>
      </p:sp>
      <p:sp>
        <p:nvSpPr>
          <p:cNvPr id="4" name="Slide Number Placeholder 3">
            <a:extLst>
              <a:ext uri="{FF2B5EF4-FFF2-40B4-BE49-F238E27FC236}">
                <a16:creationId xmlns:a16="http://schemas.microsoft.com/office/drawing/2014/main" id="{375E1D2D-1F72-E9A1-4584-5C9A2A499622}"/>
              </a:ext>
            </a:extLst>
          </p:cNvPr>
          <p:cNvSpPr>
            <a:spLocks noGrp="1"/>
          </p:cNvSpPr>
          <p:nvPr>
            <p:ph type="sldNum" sz="quarter" idx="5"/>
          </p:nvPr>
        </p:nvSpPr>
        <p:spPr/>
        <p:txBody>
          <a:bodyPr/>
          <a:lstStyle/>
          <a:p>
            <a:fld id="{CEA5AD2E-89E1-4370-8739-344D4E353C41}" type="slidenum">
              <a:rPr lang="en-GB" altLang="en-US" smtClean="0"/>
              <a:pPr/>
              <a:t>9</a:t>
            </a:fld>
            <a:endParaRPr lang="en-GB" altLang="en-US"/>
          </a:p>
        </p:txBody>
      </p:sp>
    </p:spTree>
    <p:extLst>
      <p:ext uri="{BB962C8B-B14F-4D97-AF65-F5344CB8AC3E}">
        <p14:creationId xmlns:p14="http://schemas.microsoft.com/office/powerpoint/2010/main" val="2976447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contrast, the modified recognition task is explicitly probe-driven.”</a:t>
            </a:r>
          </a:p>
          <a:p>
            <a:r>
              <a:rPr lang="en-US" dirty="0"/>
              <a:t>“The cue still is there to roughly align context with the film or with unseen material, but the key driver for the decision is the blurred target still.”</a:t>
            </a:r>
          </a:p>
          <a:p>
            <a:r>
              <a:rPr lang="en-US" dirty="0"/>
              <a:t>“In a CMR-style model, that probe item retrieves its associated context and we compare that to a reference ‘film’ context, or use it in a film-vs-foil decision rule.”</a:t>
            </a:r>
          </a:p>
          <a:p>
            <a:r>
              <a:rPr lang="en-US" dirty="0"/>
              <a:t>“The Tetris items share the trauma context region, but they don’t get strongly activated by a particular film still in the same way, so their ability to interfere is much weaker here.”</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10</a:t>
            </a:fld>
            <a:endParaRPr lang="en-GB" altLang="en-US"/>
          </a:p>
        </p:txBody>
      </p:sp>
    </p:spTree>
    <p:extLst>
      <p:ext uri="{BB962C8B-B14F-4D97-AF65-F5344CB8AC3E}">
        <p14:creationId xmlns:p14="http://schemas.microsoft.com/office/powerpoint/2010/main" val="2386449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2A0C3-0F20-056A-BF58-E16A146E40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57254-2F2F-78C2-A220-DBE434CFB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7E3BCC-CEB7-C146-4CD5-5E802E199F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5D6BF-3822-07B9-A93D-9AA88BA2181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7062F8D-6015-4186-952A-87493F61A5D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7526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54E2-6868-5154-5C5D-6E82CCB47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197A9-B1E4-1C15-514A-CEE2BCB5A0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C8956-A9C1-05B8-159E-6E856DA1AB25}"/>
              </a:ext>
            </a:extLst>
          </p:cNvPr>
          <p:cNvSpPr>
            <a:spLocks noGrp="1"/>
          </p:cNvSpPr>
          <p:nvPr>
            <p:ph type="body" idx="1"/>
          </p:nvPr>
        </p:nvSpPr>
        <p:spPr/>
        <p:txBody>
          <a:bodyPr/>
          <a:lstStyle/>
          <a:p>
            <a:r>
              <a:rPr lang="en-US" dirty="0"/>
              <a:t>“I see two main ways we could position this experiment in our project.”</a:t>
            </a:r>
          </a:p>
          <a:p>
            <a:r>
              <a:rPr lang="en-US" dirty="0"/>
              <a:t>“One is to say: given how different the retrieval regimes are, this was never going to be a clean test of dual vs single trace, so we mainly want CMR not to do anything implausible here.”</a:t>
            </a:r>
          </a:p>
          <a:p>
            <a:r>
              <a:rPr lang="en-US" dirty="0"/>
              <a:t>“The other is to treat it as a useful case study: a place where we can make CMR’s single-system explanation of selective interference very explicit, and set that next to the dual-representation reading.”</a:t>
            </a:r>
          </a:p>
          <a:p>
            <a:r>
              <a:rPr lang="en-US" dirty="0"/>
              <a:t>“Where we fall between these will affect what we ask the model to do and how central this experiment is in the write-up.”</a:t>
            </a:r>
          </a:p>
        </p:txBody>
      </p:sp>
      <p:sp>
        <p:nvSpPr>
          <p:cNvPr id="4" name="Slide Number Placeholder 3">
            <a:extLst>
              <a:ext uri="{FF2B5EF4-FFF2-40B4-BE49-F238E27FC236}">
                <a16:creationId xmlns:a16="http://schemas.microsoft.com/office/drawing/2014/main" id="{200F0873-65D4-573F-8B12-50A4E3115BF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EA5AD2E-89E1-4370-8739-344D4E353C41}"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74413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 the interpretive discussion into concrete expectations for the simulations: what they must do, and what is optional depending on how bold you want to be.</a:t>
            </a:r>
          </a:p>
          <a:p>
            <a:r>
              <a:rPr lang="en-US" b="1" dirty="0"/>
              <a:t>What you might say</a:t>
            </a:r>
            <a:endParaRPr lang="en-US" dirty="0"/>
          </a:p>
          <a:p>
            <a:r>
              <a:rPr lang="en-US" dirty="0"/>
              <a:t>“Whatever interpretive stance we take, there’s a baseline we should hit: CMR ought to be able to produce the qualitative 2021 pattern via a reasonably simple interference story.”</a:t>
            </a:r>
          </a:p>
          <a:p>
            <a:r>
              <a:rPr lang="en-US" dirty="0"/>
              <a:t>“We don’t want that to require completely different mechanisms for intrusions and recognition; the whole point is to keep them in one system.”</a:t>
            </a:r>
          </a:p>
          <a:p>
            <a:r>
              <a:rPr lang="en-US" dirty="0"/>
              <a:t>“On top of that, we can decide how much we want to lean on 2021 in our narrative: is it mostly there as a check that CMR behaves sensibly, or do we want to present it as a central worked example?”</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14</a:t>
            </a:fld>
            <a:endParaRPr lang="en-GB" altLang="en-US"/>
          </a:p>
        </p:txBody>
      </p:sp>
    </p:spTree>
    <p:extLst>
      <p:ext uri="{BB962C8B-B14F-4D97-AF65-F5344CB8AC3E}">
        <p14:creationId xmlns:p14="http://schemas.microsoft.com/office/powerpoint/2010/main" val="3980286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I’ve said so far has been about the 2021 experiment, but of course that’s only one way the selective interference effect has been measured.”</a:t>
            </a:r>
          </a:p>
          <a:p>
            <a:r>
              <a:rPr lang="en-US" dirty="0"/>
              <a:t>“The 2021 design is strong on cue control and gives us both intrusions and recognition in one package, but from a retrieved-context perspective it’s also quite asymmetric: ambient retrieval on one side, probe-driven on the other.”</a:t>
            </a:r>
          </a:p>
          <a:p>
            <a:r>
              <a:rPr lang="en-US" dirty="0"/>
              <a:t>“Other paradigms – like the free-recall plus diary work, and the ongoing lab study that matches cueing more closely across tasks – live closer to CMR’s natural habitat, where both measures are strongly context-driven.”</a:t>
            </a:r>
          </a:p>
          <a:p>
            <a:r>
              <a:rPr lang="en-US" dirty="0"/>
              <a:t>“So one implication is: 2021 is an important consistency target for the model, but we may want to treat a different paradigm as the flagship test when we get to stronger single-vs-dual-trace claims.”</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15</a:t>
            </a:fld>
            <a:endParaRPr lang="en-GB" altLang="en-US"/>
          </a:p>
        </p:txBody>
      </p:sp>
    </p:spTree>
    <p:extLst>
      <p:ext uri="{BB962C8B-B14F-4D97-AF65-F5344CB8AC3E}">
        <p14:creationId xmlns:p14="http://schemas.microsoft.com/office/powerpoint/2010/main" val="4371105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0E6BC-5D48-D855-2D83-1D6124760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042BE-75A1-9A64-DF14-AC72D73C27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ABDA36-0EAB-DAE9-A43D-913C1B09DE4D}"/>
              </a:ext>
            </a:extLst>
          </p:cNvPr>
          <p:cNvSpPr>
            <a:spLocks noGrp="1"/>
          </p:cNvSpPr>
          <p:nvPr>
            <p:ph type="body" idx="1"/>
          </p:nvPr>
        </p:nvSpPr>
        <p:spPr/>
        <p:txBody>
          <a:bodyPr/>
          <a:lstStyle/>
          <a:p>
            <a:r>
              <a:rPr lang="en-US" dirty="0"/>
              <a:t>“At the start I said I hoped this would help us get more concrete about how retrieved-context fits this domain, clarify our goals, and sharpen simulations. Let me try to </a:t>
            </a:r>
            <a:r>
              <a:rPr lang="en-US" dirty="0" err="1"/>
              <a:t>summarise</a:t>
            </a:r>
            <a:r>
              <a:rPr lang="en-US" dirty="0"/>
              <a:t> where I currently am on each of those.”</a:t>
            </a:r>
          </a:p>
          <a:p>
            <a:r>
              <a:rPr lang="en-US" dirty="0"/>
              <a:t>“First, on fit: my reading is that a single CMR-like system gives you the 2021 selective interference pattern quite naturally, if you treat Tetris as adding competitors in the trauma context.”</a:t>
            </a:r>
          </a:p>
          <a:p>
            <a:r>
              <a:rPr lang="en-US" dirty="0"/>
              <a:t>“Second, for our goals: that makes me think 2021 is better used as a worked example of a single-system account, with other paradigms doing more of the heavy lifting for dual vs unitary.”</a:t>
            </a:r>
          </a:p>
          <a:p>
            <a:r>
              <a:rPr lang="en-US" dirty="0"/>
              <a:t>“Third, for simulations: I’d like the first set to show that CMR can qualitatively capture 2021 with a principled interference mechanism, and then pivot to a more context-matched paradigm as the flagship discriminative test.”</a:t>
            </a:r>
          </a:p>
          <a:p>
            <a:r>
              <a:rPr lang="en-US" dirty="0"/>
              <a:t>“I’m very happy to adjust any of those ‘my take’ bullets – this slide is really meant as a starting point for that discussion.”</a:t>
            </a:r>
          </a:p>
        </p:txBody>
      </p:sp>
      <p:sp>
        <p:nvSpPr>
          <p:cNvPr id="4" name="Slide Number Placeholder 3">
            <a:extLst>
              <a:ext uri="{FF2B5EF4-FFF2-40B4-BE49-F238E27FC236}">
                <a16:creationId xmlns:a16="http://schemas.microsoft.com/office/drawing/2014/main" id="{1D415098-7535-6B6A-6D78-3142EA9DE162}"/>
              </a:ext>
            </a:extLst>
          </p:cNvPr>
          <p:cNvSpPr>
            <a:spLocks noGrp="1"/>
          </p:cNvSpPr>
          <p:nvPr>
            <p:ph type="sldNum" sz="quarter" idx="5"/>
          </p:nvPr>
        </p:nvSpPr>
        <p:spPr/>
        <p:txBody>
          <a:bodyPr/>
          <a:lstStyle/>
          <a:p>
            <a:fld id="{CEA5AD2E-89E1-4370-8739-344D4E353C41}" type="slidenum">
              <a:rPr lang="en-GB" altLang="en-US" smtClean="0"/>
              <a:pPr/>
              <a:t>16</a:t>
            </a:fld>
            <a:endParaRPr lang="en-GB" altLang="en-US"/>
          </a:p>
        </p:txBody>
      </p:sp>
    </p:spTree>
    <p:extLst>
      <p:ext uri="{BB962C8B-B14F-4D97-AF65-F5344CB8AC3E}">
        <p14:creationId xmlns:p14="http://schemas.microsoft.com/office/powerpoint/2010/main" val="20484374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5625AB8A-B804-4C05-BD28-FB95C54EF652}"/>
              </a:ext>
            </a:extLst>
          </p:cNvPr>
          <p:cNvSpPr>
            <a:spLocks noChangeArrowheads="1"/>
          </p:cNvSpPr>
          <p:nvPr/>
        </p:nvSpPr>
        <p:spPr bwMode="auto">
          <a:xfrm>
            <a:off x="0" y="5365750"/>
            <a:ext cx="9140825" cy="665163"/>
          </a:xfrm>
          <a:prstGeom prst="rect">
            <a:avLst/>
          </a:prstGeom>
          <a:solidFill>
            <a:srgbClr val="003E72"/>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 name="Rectangle 14">
            <a:extLst>
              <a:ext uri="{FF2B5EF4-FFF2-40B4-BE49-F238E27FC236}">
                <a16:creationId xmlns:a16="http://schemas.microsoft.com/office/drawing/2014/main" id="{F7517D6D-681A-4295-9A0D-8CED85D1C217}"/>
              </a:ext>
            </a:extLst>
          </p:cNvPr>
          <p:cNvSpPr>
            <a:spLocks noChangeArrowheads="1"/>
          </p:cNvSpPr>
          <p:nvPr/>
        </p:nvSpPr>
        <p:spPr bwMode="auto">
          <a:xfrm>
            <a:off x="0" y="6030913"/>
            <a:ext cx="9140825" cy="173037"/>
          </a:xfrm>
          <a:prstGeom prst="rect">
            <a:avLst/>
          </a:prstGeom>
          <a:solidFill>
            <a:srgbClr val="6AADE4"/>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22" name="Rectangle 2"/>
          <p:cNvSpPr>
            <a:spLocks noGrp="1" noChangeArrowheads="1"/>
          </p:cNvSpPr>
          <p:nvPr>
            <p:ph type="ctrTitle"/>
          </p:nvPr>
        </p:nvSpPr>
        <p:spPr>
          <a:xfrm>
            <a:off x="384175" y="2016125"/>
            <a:ext cx="8374063" cy="576263"/>
          </a:xfrm>
        </p:spPr>
        <p:txBody>
          <a:bodyPr/>
          <a:lstStyle>
            <a:lvl1pPr>
              <a:defRPr sz="3600"/>
            </a:lvl1pPr>
          </a:lstStyle>
          <a:p>
            <a:pPr lvl="0"/>
            <a:r>
              <a:rPr lang="en-GB" altLang="en-US" noProof="0"/>
              <a:t>Click to edit Master title style</a:t>
            </a:r>
          </a:p>
        </p:txBody>
      </p:sp>
      <p:sp>
        <p:nvSpPr>
          <p:cNvPr id="5123" name="Rectangle 3"/>
          <p:cNvSpPr>
            <a:spLocks noGrp="1" noChangeArrowheads="1"/>
          </p:cNvSpPr>
          <p:nvPr>
            <p:ph type="subTitle" idx="1"/>
          </p:nvPr>
        </p:nvSpPr>
        <p:spPr>
          <a:xfrm>
            <a:off x="384175" y="2774950"/>
            <a:ext cx="8374063" cy="539750"/>
          </a:xfrm>
        </p:spPr>
        <p:txBody>
          <a:bodyPr/>
          <a:lstStyle>
            <a:lvl1pPr marL="0" indent="0">
              <a:buFontTx/>
              <a:buNone/>
              <a:defRPr sz="1800" b="1">
                <a:solidFill>
                  <a:schemeClr val="tx2"/>
                </a:solidFill>
              </a:defRPr>
            </a:lvl1pPr>
          </a:lstStyle>
          <a:p>
            <a:pPr lvl="0"/>
            <a:r>
              <a:rPr lang="en-GB" altLang="en-US" noProof="0"/>
              <a:t>Click to edit Master subtitle style</a:t>
            </a:r>
          </a:p>
        </p:txBody>
      </p:sp>
      <p:sp>
        <p:nvSpPr>
          <p:cNvPr id="6" name="Rectangle 10">
            <a:extLst>
              <a:ext uri="{FF2B5EF4-FFF2-40B4-BE49-F238E27FC236}">
                <a16:creationId xmlns:a16="http://schemas.microsoft.com/office/drawing/2014/main" id="{4E20DC7D-5229-49FD-AE0A-6709536DD943}"/>
              </a:ext>
            </a:extLst>
          </p:cNvPr>
          <p:cNvSpPr>
            <a:spLocks noGrp="1" noChangeArrowheads="1"/>
          </p:cNvSpPr>
          <p:nvPr>
            <p:ph type="sldNum" sz="quarter" idx="10"/>
          </p:nvPr>
        </p:nvSpPr>
        <p:spPr>
          <a:xfrm>
            <a:off x="7862888" y="6448425"/>
            <a:ext cx="900112" cy="179388"/>
          </a:xfrm>
        </p:spPr>
        <p:txBody>
          <a:bodyPr/>
          <a:lstStyle>
            <a:lvl1pPr>
              <a:defRPr>
                <a:solidFill>
                  <a:schemeClr val="tx1"/>
                </a:solidFill>
              </a:defRPr>
            </a:lvl1pPr>
          </a:lstStyle>
          <a:p>
            <a:fld id="{B97AC216-041A-44A4-B5AB-80C1521BAB14}" type="slidenum">
              <a:rPr lang="en-GB" altLang="en-US"/>
              <a:pPr/>
              <a:t>‹#›</a:t>
            </a:fld>
            <a:endParaRPr lang="en-GB" altLang="en-US"/>
          </a:p>
        </p:txBody>
      </p:sp>
    </p:spTree>
    <p:extLst>
      <p:ext uri="{BB962C8B-B14F-4D97-AF65-F5344CB8AC3E}">
        <p14:creationId xmlns:p14="http://schemas.microsoft.com/office/powerpoint/2010/main" val="408421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D9EA17AB-B8D2-4FBB-8F3A-3C36E1D9E0AE}"/>
              </a:ext>
            </a:extLst>
          </p:cNvPr>
          <p:cNvSpPr>
            <a:spLocks noGrp="1" noChangeArrowheads="1"/>
          </p:cNvSpPr>
          <p:nvPr>
            <p:ph type="sldNum" sz="quarter" idx="10"/>
          </p:nvPr>
        </p:nvSpPr>
        <p:spPr>
          <a:ln/>
        </p:spPr>
        <p:txBody>
          <a:bodyPr/>
          <a:lstStyle>
            <a:lvl1pPr>
              <a:defRPr/>
            </a:lvl1pPr>
          </a:lstStyle>
          <a:p>
            <a:fld id="{2A4D10C6-676A-42AD-AF0A-D202E481C773}" type="slidenum">
              <a:rPr lang="en-GB" altLang="en-US"/>
              <a:pPr/>
              <a:t>‹#›</a:t>
            </a:fld>
            <a:endParaRPr lang="en-GB" altLang="en-US"/>
          </a:p>
        </p:txBody>
      </p:sp>
    </p:spTree>
    <p:extLst>
      <p:ext uri="{BB962C8B-B14F-4D97-AF65-F5344CB8AC3E}">
        <p14:creationId xmlns:p14="http://schemas.microsoft.com/office/powerpoint/2010/main" val="2348688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0FEBCDE6-F095-448E-A91C-5229FB1878E8}"/>
              </a:ext>
            </a:extLst>
          </p:cNvPr>
          <p:cNvSpPr>
            <a:spLocks noGrp="1" noChangeArrowheads="1"/>
          </p:cNvSpPr>
          <p:nvPr>
            <p:ph type="sldNum" sz="quarter" idx="10"/>
          </p:nvPr>
        </p:nvSpPr>
        <p:spPr>
          <a:ln/>
        </p:spPr>
        <p:txBody>
          <a:bodyPr/>
          <a:lstStyle>
            <a:lvl1pPr>
              <a:defRPr/>
            </a:lvl1pPr>
          </a:lstStyle>
          <a:p>
            <a:fld id="{BE9A6FEA-E865-43B0-9CBB-C1502FF683E7}" type="slidenum">
              <a:rPr lang="en-GB" altLang="en-US"/>
              <a:pPr/>
              <a:t>‹#›</a:t>
            </a:fld>
            <a:endParaRPr lang="en-GB" altLang="en-US"/>
          </a:p>
        </p:txBody>
      </p:sp>
    </p:spTree>
    <p:extLst>
      <p:ext uri="{BB962C8B-B14F-4D97-AF65-F5344CB8AC3E}">
        <p14:creationId xmlns:p14="http://schemas.microsoft.com/office/powerpoint/2010/main" val="1224981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84175" y="1708150"/>
            <a:ext cx="4110038"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708150"/>
            <a:ext cx="4111625"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a:extLst>
              <a:ext uri="{FF2B5EF4-FFF2-40B4-BE49-F238E27FC236}">
                <a16:creationId xmlns:a16="http://schemas.microsoft.com/office/drawing/2014/main" id="{C78F397C-52FB-4AEF-A4BD-A1B4D8834BD2}"/>
              </a:ext>
            </a:extLst>
          </p:cNvPr>
          <p:cNvSpPr>
            <a:spLocks noGrp="1" noChangeArrowheads="1"/>
          </p:cNvSpPr>
          <p:nvPr>
            <p:ph type="sldNum" sz="quarter" idx="10"/>
          </p:nvPr>
        </p:nvSpPr>
        <p:spPr>
          <a:ln/>
        </p:spPr>
        <p:txBody>
          <a:bodyPr/>
          <a:lstStyle>
            <a:lvl1pPr>
              <a:defRPr/>
            </a:lvl1pPr>
          </a:lstStyle>
          <a:p>
            <a:fld id="{DF55023D-4CAB-4A05-9EE6-2A94DFF1D144}" type="slidenum">
              <a:rPr lang="en-GB" altLang="en-US"/>
              <a:pPr/>
              <a:t>‹#›</a:t>
            </a:fld>
            <a:endParaRPr lang="en-GB" altLang="en-US"/>
          </a:p>
        </p:txBody>
      </p:sp>
    </p:spTree>
    <p:extLst>
      <p:ext uri="{BB962C8B-B14F-4D97-AF65-F5344CB8AC3E}">
        <p14:creationId xmlns:p14="http://schemas.microsoft.com/office/powerpoint/2010/main" val="3605388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a:extLst>
              <a:ext uri="{FF2B5EF4-FFF2-40B4-BE49-F238E27FC236}">
                <a16:creationId xmlns:a16="http://schemas.microsoft.com/office/drawing/2014/main" id="{7979B699-388C-4529-9C82-930F4C829832}"/>
              </a:ext>
            </a:extLst>
          </p:cNvPr>
          <p:cNvSpPr>
            <a:spLocks noGrp="1" noChangeArrowheads="1"/>
          </p:cNvSpPr>
          <p:nvPr>
            <p:ph type="sldNum" sz="quarter" idx="10"/>
          </p:nvPr>
        </p:nvSpPr>
        <p:spPr>
          <a:ln/>
        </p:spPr>
        <p:txBody>
          <a:bodyPr/>
          <a:lstStyle>
            <a:lvl1pPr>
              <a:defRPr/>
            </a:lvl1pPr>
          </a:lstStyle>
          <a:p>
            <a:fld id="{06ADC1E3-72DD-4285-A87B-2DFA9C60E3AA}" type="slidenum">
              <a:rPr lang="en-GB" altLang="en-US"/>
              <a:pPr/>
              <a:t>‹#›</a:t>
            </a:fld>
            <a:endParaRPr lang="en-GB" altLang="en-US"/>
          </a:p>
        </p:txBody>
      </p:sp>
    </p:spTree>
    <p:extLst>
      <p:ext uri="{BB962C8B-B14F-4D97-AF65-F5344CB8AC3E}">
        <p14:creationId xmlns:p14="http://schemas.microsoft.com/office/powerpoint/2010/main" val="1194947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6">
            <a:extLst>
              <a:ext uri="{FF2B5EF4-FFF2-40B4-BE49-F238E27FC236}">
                <a16:creationId xmlns:a16="http://schemas.microsoft.com/office/drawing/2014/main" id="{82D588D0-AD0E-4314-A631-95E18A584F58}"/>
              </a:ext>
            </a:extLst>
          </p:cNvPr>
          <p:cNvSpPr>
            <a:spLocks noGrp="1" noChangeArrowheads="1"/>
          </p:cNvSpPr>
          <p:nvPr>
            <p:ph type="sldNum" sz="quarter" idx="10"/>
          </p:nvPr>
        </p:nvSpPr>
        <p:spPr>
          <a:ln/>
        </p:spPr>
        <p:txBody>
          <a:bodyPr/>
          <a:lstStyle>
            <a:lvl1pPr>
              <a:defRPr/>
            </a:lvl1pPr>
          </a:lstStyle>
          <a:p>
            <a:fld id="{3F22CD49-8928-488B-B09F-6730EA983BEA}" type="slidenum">
              <a:rPr lang="en-GB" altLang="en-US"/>
              <a:pPr/>
              <a:t>‹#›</a:t>
            </a:fld>
            <a:endParaRPr lang="en-GB" altLang="en-US"/>
          </a:p>
        </p:txBody>
      </p:sp>
    </p:spTree>
    <p:extLst>
      <p:ext uri="{BB962C8B-B14F-4D97-AF65-F5344CB8AC3E}">
        <p14:creationId xmlns:p14="http://schemas.microsoft.com/office/powerpoint/2010/main" val="103304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435B7FC8-0946-454B-B375-D7BE6401A6E8}"/>
              </a:ext>
            </a:extLst>
          </p:cNvPr>
          <p:cNvSpPr>
            <a:spLocks noGrp="1" noChangeArrowheads="1"/>
          </p:cNvSpPr>
          <p:nvPr>
            <p:ph type="sldNum" sz="quarter" idx="10"/>
          </p:nvPr>
        </p:nvSpPr>
        <p:spPr>
          <a:ln/>
        </p:spPr>
        <p:txBody>
          <a:bodyPr/>
          <a:lstStyle>
            <a:lvl1pPr>
              <a:defRPr/>
            </a:lvl1pPr>
          </a:lstStyle>
          <a:p>
            <a:fld id="{0C66430D-5D7F-4DC0-A9CE-56B173CE581F}" type="slidenum">
              <a:rPr lang="en-GB" altLang="en-US"/>
              <a:pPr/>
              <a:t>‹#›</a:t>
            </a:fld>
            <a:endParaRPr lang="en-GB" altLang="en-US"/>
          </a:p>
        </p:txBody>
      </p:sp>
    </p:spTree>
    <p:extLst>
      <p:ext uri="{BB962C8B-B14F-4D97-AF65-F5344CB8AC3E}">
        <p14:creationId xmlns:p14="http://schemas.microsoft.com/office/powerpoint/2010/main" val="2430761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F1A47D0-EF0C-45FF-A0CB-86F80988FD1C}"/>
              </a:ext>
            </a:extLst>
          </p:cNvPr>
          <p:cNvSpPr>
            <a:spLocks noGrp="1" noChangeArrowheads="1"/>
          </p:cNvSpPr>
          <p:nvPr>
            <p:ph type="sldNum" sz="quarter" idx="10"/>
          </p:nvPr>
        </p:nvSpPr>
        <p:spPr>
          <a:ln/>
        </p:spPr>
        <p:txBody>
          <a:bodyPr/>
          <a:lstStyle>
            <a:lvl1pPr>
              <a:defRPr/>
            </a:lvl1pPr>
          </a:lstStyle>
          <a:p>
            <a:fld id="{FD3112A3-5F43-48B3-9919-6C69ADA7D71A}" type="slidenum">
              <a:rPr lang="en-GB" altLang="en-US"/>
              <a:pPr/>
              <a:t>‹#›</a:t>
            </a:fld>
            <a:endParaRPr lang="en-GB" altLang="en-US"/>
          </a:p>
        </p:txBody>
      </p:sp>
    </p:spTree>
    <p:extLst>
      <p:ext uri="{BB962C8B-B14F-4D97-AF65-F5344CB8AC3E}">
        <p14:creationId xmlns:p14="http://schemas.microsoft.com/office/powerpoint/2010/main" val="1194820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239648E4-5F4D-41DA-86F5-AE988A7C1293}"/>
              </a:ext>
            </a:extLst>
          </p:cNvPr>
          <p:cNvSpPr>
            <a:spLocks noGrp="1" noChangeArrowheads="1"/>
          </p:cNvSpPr>
          <p:nvPr>
            <p:ph type="sldNum" sz="quarter" idx="10"/>
          </p:nvPr>
        </p:nvSpPr>
        <p:spPr>
          <a:ln/>
        </p:spPr>
        <p:txBody>
          <a:bodyPr/>
          <a:lstStyle>
            <a:lvl1pPr>
              <a:defRPr/>
            </a:lvl1pPr>
          </a:lstStyle>
          <a:p>
            <a:fld id="{0879EC82-3A38-42F8-B20F-C4BA196B4427}" type="slidenum">
              <a:rPr lang="en-GB" altLang="en-US"/>
              <a:pPr/>
              <a:t>‹#›</a:t>
            </a:fld>
            <a:endParaRPr lang="en-GB" altLang="en-US"/>
          </a:p>
        </p:txBody>
      </p:sp>
    </p:spTree>
    <p:extLst>
      <p:ext uri="{BB962C8B-B14F-4D97-AF65-F5344CB8AC3E}">
        <p14:creationId xmlns:p14="http://schemas.microsoft.com/office/powerpoint/2010/main" val="414436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C73F3B9-EB4B-48B0-A499-3A6BEF8D4633}"/>
              </a:ext>
            </a:extLst>
          </p:cNvPr>
          <p:cNvSpPr>
            <a:spLocks noGrp="1" noChangeArrowheads="1"/>
          </p:cNvSpPr>
          <p:nvPr>
            <p:ph type="sldNum" sz="quarter" idx="10"/>
          </p:nvPr>
        </p:nvSpPr>
        <p:spPr>
          <a:ln/>
        </p:spPr>
        <p:txBody>
          <a:bodyPr/>
          <a:lstStyle>
            <a:lvl1pPr>
              <a:defRPr/>
            </a:lvl1pPr>
          </a:lstStyle>
          <a:p>
            <a:fld id="{0E00A4F9-908B-416C-9D26-7A92CE4F39D6}" type="slidenum">
              <a:rPr lang="en-GB" altLang="en-US"/>
              <a:pPr/>
              <a:t>‹#›</a:t>
            </a:fld>
            <a:endParaRPr lang="en-GB" altLang="en-US"/>
          </a:p>
        </p:txBody>
      </p:sp>
    </p:spTree>
    <p:extLst>
      <p:ext uri="{BB962C8B-B14F-4D97-AF65-F5344CB8AC3E}">
        <p14:creationId xmlns:p14="http://schemas.microsoft.com/office/powerpoint/2010/main" val="420922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5913" y="398463"/>
            <a:ext cx="2093912" cy="53768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4175" y="398463"/>
            <a:ext cx="6129338" cy="53768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0DF798D2-1C06-4475-BA0D-CA6FB90A27AA}"/>
              </a:ext>
            </a:extLst>
          </p:cNvPr>
          <p:cNvSpPr>
            <a:spLocks noGrp="1" noChangeArrowheads="1"/>
          </p:cNvSpPr>
          <p:nvPr>
            <p:ph type="sldNum" sz="quarter" idx="10"/>
          </p:nvPr>
        </p:nvSpPr>
        <p:spPr>
          <a:ln/>
        </p:spPr>
        <p:txBody>
          <a:bodyPr/>
          <a:lstStyle>
            <a:lvl1pPr>
              <a:defRPr/>
            </a:lvl1pPr>
          </a:lstStyle>
          <a:p>
            <a:fld id="{80954144-9285-4E94-97F5-BA7785277F49}" type="slidenum">
              <a:rPr lang="en-GB" altLang="en-US"/>
              <a:pPr/>
              <a:t>‹#›</a:t>
            </a:fld>
            <a:endParaRPr lang="en-GB" altLang="en-US"/>
          </a:p>
        </p:txBody>
      </p:sp>
    </p:spTree>
    <p:extLst>
      <p:ext uri="{BB962C8B-B14F-4D97-AF65-F5344CB8AC3E}">
        <p14:creationId xmlns:p14="http://schemas.microsoft.com/office/powerpoint/2010/main" val="378503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241EB5C9-1307-BA42-ABA2-0BC069CD8E7F}" type="datetimeFigureOut">
              <a:rPr lang="en-US" smtClean="0"/>
              <a:pPr/>
              <a:t>2/10/26</a:t>
            </a:fld>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4136769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0486847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000" b="1" cap="all">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bg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713708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2/10/26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6902744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457201" y="1535113"/>
            <a:ext cx="4040188"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2/10/26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9368953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2/10/26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8496636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2/10/26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8667985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49"/>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4"/>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435104"/>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927015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214836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1688854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741304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89B15AB-FD17-404F-A74B-EB6D08463C50}"/>
              </a:ext>
            </a:extLst>
          </p:cNvPr>
          <p:cNvSpPr>
            <a:spLocks noGrp="1" noChangeArrowheads="1"/>
          </p:cNvSpPr>
          <p:nvPr>
            <p:ph type="title"/>
          </p:nvPr>
        </p:nvSpPr>
        <p:spPr bwMode="auto">
          <a:xfrm>
            <a:off x="384175" y="398463"/>
            <a:ext cx="8375650"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45F34970-0ED4-41B5-B528-16141A7588CE}"/>
              </a:ext>
            </a:extLst>
          </p:cNvPr>
          <p:cNvSpPr>
            <a:spLocks noGrp="1" noChangeArrowheads="1"/>
          </p:cNvSpPr>
          <p:nvPr>
            <p:ph type="body" idx="1"/>
          </p:nvPr>
        </p:nvSpPr>
        <p:spPr bwMode="auto">
          <a:xfrm>
            <a:off x="384175" y="1708150"/>
            <a:ext cx="8374063"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30" name="Rectangle 6">
            <a:extLst>
              <a:ext uri="{FF2B5EF4-FFF2-40B4-BE49-F238E27FC236}">
                <a16:creationId xmlns:a16="http://schemas.microsoft.com/office/drawing/2014/main" id="{F1DE82EC-9569-4E10-B1A0-0F2A2411A1CB}"/>
              </a:ext>
            </a:extLst>
          </p:cNvPr>
          <p:cNvSpPr>
            <a:spLocks noGrp="1" noChangeArrowheads="1"/>
          </p:cNvSpPr>
          <p:nvPr>
            <p:ph type="sldNum" sz="quarter" idx="4"/>
          </p:nvPr>
        </p:nvSpPr>
        <p:spPr bwMode="auto">
          <a:xfrm>
            <a:off x="7862888" y="6451600"/>
            <a:ext cx="900112" cy="17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defRPr sz="1000">
                <a:solidFill>
                  <a:schemeClr val="tx2"/>
                </a:solidFill>
              </a:defRPr>
            </a:lvl1pPr>
          </a:lstStyle>
          <a:p>
            <a:fld id="{4CF5641A-EC8F-47E8-B385-FEB744445A42}"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rtl="0" eaLnBrk="0" fontAlgn="base" hangingPunct="0">
        <a:spcBef>
          <a:spcPct val="0"/>
        </a:spcBef>
        <a:spcAft>
          <a:spcPct val="0"/>
        </a:spcAft>
        <a:defRPr sz="2600" b="1">
          <a:solidFill>
            <a:schemeClr val="tx2"/>
          </a:solidFill>
          <a:latin typeface="+mj-lt"/>
          <a:ea typeface="+mj-ea"/>
          <a:cs typeface="+mj-cs"/>
        </a:defRPr>
      </a:lvl1pPr>
      <a:lvl2pPr algn="l" rtl="0" eaLnBrk="0" fontAlgn="base" hangingPunct="0">
        <a:spcBef>
          <a:spcPct val="0"/>
        </a:spcBef>
        <a:spcAft>
          <a:spcPct val="0"/>
        </a:spcAft>
        <a:defRPr sz="2600" b="1">
          <a:solidFill>
            <a:schemeClr val="tx2"/>
          </a:solidFill>
          <a:latin typeface="Arial" charset="0"/>
        </a:defRPr>
      </a:lvl2pPr>
      <a:lvl3pPr algn="l" rtl="0" eaLnBrk="0" fontAlgn="base" hangingPunct="0">
        <a:spcBef>
          <a:spcPct val="0"/>
        </a:spcBef>
        <a:spcAft>
          <a:spcPct val="0"/>
        </a:spcAft>
        <a:defRPr sz="2600" b="1">
          <a:solidFill>
            <a:schemeClr val="tx2"/>
          </a:solidFill>
          <a:latin typeface="Arial" charset="0"/>
        </a:defRPr>
      </a:lvl3pPr>
      <a:lvl4pPr algn="l" rtl="0" eaLnBrk="0" fontAlgn="base" hangingPunct="0">
        <a:spcBef>
          <a:spcPct val="0"/>
        </a:spcBef>
        <a:spcAft>
          <a:spcPct val="0"/>
        </a:spcAft>
        <a:defRPr sz="2600" b="1">
          <a:solidFill>
            <a:schemeClr val="tx2"/>
          </a:solidFill>
          <a:latin typeface="Arial" charset="0"/>
        </a:defRPr>
      </a:lvl4pPr>
      <a:lvl5pPr algn="l" rtl="0" eaLnBrk="0" fontAlgn="base" hangingPunct="0">
        <a:spcBef>
          <a:spcPct val="0"/>
        </a:spcBef>
        <a:spcAft>
          <a:spcPct val="0"/>
        </a:spcAft>
        <a:defRPr sz="2600" b="1">
          <a:solidFill>
            <a:schemeClr val="tx2"/>
          </a:solidFill>
          <a:latin typeface="Arial" charset="0"/>
        </a:defRPr>
      </a:lvl5pPr>
      <a:lvl6pPr marL="457200" algn="l" rtl="0" fontAlgn="base">
        <a:spcBef>
          <a:spcPct val="0"/>
        </a:spcBef>
        <a:spcAft>
          <a:spcPct val="0"/>
        </a:spcAft>
        <a:defRPr sz="2600" b="1">
          <a:solidFill>
            <a:schemeClr val="tx2"/>
          </a:solidFill>
          <a:latin typeface="Arial" charset="0"/>
        </a:defRPr>
      </a:lvl6pPr>
      <a:lvl7pPr marL="914400" algn="l" rtl="0" fontAlgn="base">
        <a:spcBef>
          <a:spcPct val="0"/>
        </a:spcBef>
        <a:spcAft>
          <a:spcPct val="0"/>
        </a:spcAft>
        <a:defRPr sz="2600" b="1">
          <a:solidFill>
            <a:schemeClr val="tx2"/>
          </a:solidFill>
          <a:latin typeface="Arial" charset="0"/>
        </a:defRPr>
      </a:lvl7pPr>
      <a:lvl8pPr marL="1371600" algn="l" rtl="0" fontAlgn="base">
        <a:spcBef>
          <a:spcPct val="0"/>
        </a:spcBef>
        <a:spcAft>
          <a:spcPct val="0"/>
        </a:spcAft>
        <a:defRPr sz="2600" b="1">
          <a:solidFill>
            <a:schemeClr val="tx2"/>
          </a:solidFill>
          <a:latin typeface="Arial" charset="0"/>
        </a:defRPr>
      </a:lvl8pPr>
      <a:lvl9pPr marL="1828800" algn="l" rtl="0" fontAlgn="base">
        <a:spcBef>
          <a:spcPct val="0"/>
        </a:spcBef>
        <a:spcAft>
          <a:spcPct val="0"/>
        </a:spcAft>
        <a:defRPr sz="2600" b="1">
          <a:solidFill>
            <a:schemeClr val="tx2"/>
          </a:solidFill>
          <a:latin typeface="Arial" charset="0"/>
        </a:defRPr>
      </a:lvl9pPr>
    </p:titleStyle>
    <p:bodyStyle>
      <a:lvl1pPr marL="269875" indent="-269875" algn="l" rtl="0" eaLnBrk="0" fontAlgn="base" hangingPunct="0">
        <a:spcBef>
          <a:spcPct val="0"/>
        </a:spcBef>
        <a:spcAft>
          <a:spcPct val="75000"/>
        </a:spcAft>
        <a:buChar char="•"/>
        <a:defRPr sz="2000">
          <a:solidFill>
            <a:schemeClr val="tx1"/>
          </a:solidFill>
          <a:latin typeface="+mn-lt"/>
          <a:ea typeface="+mn-ea"/>
          <a:cs typeface="+mn-cs"/>
        </a:defRPr>
      </a:lvl1pPr>
      <a:lvl2pPr marL="538163" indent="-266700" algn="l" rtl="0" eaLnBrk="0" fontAlgn="base" hangingPunct="0">
        <a:spcBef>
          <a:spcPct val="0"/>
        </a:spcBef>
        <a:spcAft>
          <a:spcPct val="75000"/>
        </a:spcAft>
        <a:buChar char="•"/>
        <a:defRPr sz="2000">
          <a:solidFill>
            <a:schemeClr val="tx1"/>
          </a:solidFill>
          <a:latin typeface="+mn-lt"/>
        </a:defRPr>
      </a:lvl2pPr>
      <a:lvl3pPr marL="809625" indent="-269875" algn="l" rtl="0" eaLnBrk="0" fontAlgn="base" hangingPunct="0">
        <a:spcBef>
          <a:spcPct val="0"/>
        </a:spcBef>
        <a:spcAft>
          <a:spcPct val="75000"/>
        </a:spcAft>
        <a:buChar char="•"/>
        <a:defRPr sz="2000">
          <a:solidFill>
            <a:schemeClr val="tx1"/>
          </a:solidFill>
          <a:latin typeface="+mn-lt"/>
        </a:defRPr>
      </a:lvl3pPr>
      <a:lvl4pPr marL="1079500" indent="-268288" algn="l" rtl="0" eaLnBrk="0" fontAlgn="base" hangingPunct="0">
        <a:spcBef>
          <a:spcPct val="0"/>
        </a:spcBef>
        <a:spcAft>
          <a:spcPct val="75000"/>
        </a:spcAft>
        <a:buChar char="•"/>
        <a:defRPr sz="2000">
          <a:solidFill>
            <a:schemeClr val="tx1"/>
          </a:solidFill>
          <a:latin typeface="+mn-lt"/>
        </a:defRPr>
      </a:lvl4pPr>
      <a:lvl5pPr marL="1350963" indent="-269875" algn="l" rtl="0" eaLnBrk="0" fontAlgn="base" hangingPunct="0">
        <a:spcBef>
          <a:spcPct val="0"/>
        </a:spcBef>
        <a:spcAft>
          <a:spcPct val="75000"/>
        </a:spcAft>
        <a:buChar char="•"/>
        <a:defRPr sz="2000">
          <a:solidFill>
            <a:schemeClr val="tx1"/>
          </a:solidFill>
          <a:latin typeface="+mn-lt"/>
        </a:defRPr>
      </a:lvl5pPr>
      <a:lvl6pPr marL="1808163" indent="-269875" algn="l" rtl="0" fontAlgn="base">
        <a:spcBef>
          <a:spcPct val="0"/>
        </a:spcBef>
        <a:spcAft>
          <a:spcPct val="75000"/>
        </a:spcAft>
        <a:buChar char="•"/>
        <a:defRPr sz="2000">
          <a:solidFill>
            <a:schemeClr val="tx1"/>
          </a:solidFill>
          <a:latin typeface="+mn-lt"/>
        </a:defRPr>
      </a:lvl6pPr>
      <a:lvl7pPr marL="2265363" indent="-269875" algn="l" rtl="0" fontAlgn="base">
        <a:spcBef>
          <a:spcPct val="0"/>
        </a:spcBef>
        <a:spcAft>
          <a:spcPct val="75000"/>
        </a:spcAft>
        <a:buChar char="•"/>
        <a:defRPr sz="2000">
          <a:solidFill>
            <a:schemeClr val="tx1"/>
          </a:solidFill>
          <a:latin typeface="+mn-lt"/>
        </a:defRPr>
      </a:lvl7pPr>
      <a:lvl8pPr marL="2722563" indent="-269875" algn="l" rtl="0" fontAlgn="base">
        <a:spcBef>
          <a:spcPct val="0"/>
        </a:spcBef>
        <a:spcAft>
          <a:spcPct val="75000"/>
        </a:spcAft>
        <a:buChar char="•"/>
        <a:defRPr sz="2000">
          <a:solidFill>
            <a:schemeClr val="tx1"/>
          </a:solidFill>
          <a:latin typeface="+mn-lt"/>
        </a:defRPr>
      </a:lvl8pPr>
      <a:lvl9pPr marL="3179763" indent="-269875" algn="l" rtl="0" fontAlgn="base">
        <a:spcBef>
          <a:spcPct val="0"/>
        </a:spcBef>
        <a:spcAft>
          <a:spcPct val="7500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2/10/26</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7090427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bg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bg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bg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bg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bg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customXml" Target="../ink/ink4.xml"/><Relationship Id="rId3" Type="http://schemas.openxmlformats.org/officeDocument/2006/relationships/image" Target="../media/image5.png"/><Relationship Id="rId7" Type="http://schemas.openxmlformats.org/officeDocument/2006/relationships/customXml" Target="../ink/ink1.xml"/><Relationship Id="rId12"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8.png"/><Relationship Id="rId11" Type="http://schemas.openxmlformats.org/officeDocument/2006/relationships/customXml" Target="../ink/ink3.xml"/><Relationship Id="rId5" Type="http://schemas.openxmlformats.org/officeDocument/2006/relationships/image" Target="../media/image7.png"/><Relationship Id="rId10"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customXml" Target="../ink/ink2.xml"/><Relationship Id="rId1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7415F0D-5CE4-4FEC-AEE3-DA8FE2AE2C8F}"/>
              </a:ext>
            </a:extLst>
          </p:cNvPr>
          <p:cNvSpPr>
            <a:spLocks noGrp="1" noChangeArrowheads="1"/>
          </p:cNvSpPr>
          <p:nvPr>
            <p:ph type="ctrTitle"/>
          </p:nvPr>
        </p:nvSpPr>
        <p:spPr>
          <a:xfrm>
            <a:off x="384175" y="1988840"/>
            <a:ext cx="8374063" cy="576263"/>
          </a:xfrm>
        </p:spPr>
        <p:txBody>
          <a:bodyPr/>
          <a:lstStyle/>
          <a:p>
            <a:pPr eaLnBrk="1" hangingPunct="1"/>
            <a:r>
              <a:rPr lang="en-US" altLang="en-US" sz="2800" dirty="0"/>
              <a:t>Modeling Meeting 3</a:t>
            </a:r>
            <a:br>
              <a:rPr lang="en-US" altLang="en-US" sz="2800" dirty="0"/>
            </a:br>
            <a:r>
              <a:rPr lang="en-US" altLang="en-US" sz="2800" dirty="0"/>
              <a:t>15 January 2026</a:t>
            </a:r>
          </a:p>
        </p:txBody>
      </p:sp>
      <p:sp>
        <p:nvSpPr>
          <p:cNvPr id="3076" name="Rectangle 4">
            <a:extLst>
              <a:ext uri="{FF2B5EF4-FFF2-40B4-BE49-F238E27FC236}">
                <a16:creationId xmlns:a16="http://schemas.microsoft.com/office/drawing/2014/main" id="{B13D353B-4EE6-45FB-850E-FA83841DBAC4}"/>
              </a:ext>
            </a:extLst>
          </p:cNvPr>
          <p:cNvSpPr>
            <a:spLocks noChangeArrowheads="1"/>
          </p:cNvSpPr>
          <p:nvPr/>
        </p:nvSpPr>
        <p:spPr bwMode="auto">
          <a:xfrm>
            <a:off x="376410" y="3645024"/>
            <a:ext cx="8374063"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b="1" dirty="0">
                <a:solidFill>
                  <a:schemeClr val="tx2"/>
                </a:solidFill>
              </a:rPr>
              <a:t>Jordan Gunn</a:t>
            </a:r>
          </a:p>
        </p:txBody>
      </p:sp>
    </p:spTree>
  </p:cSld>
  <p:clrMapOvr>
    <a:masterClrMapping/>
  </p:clrMapOvr>
  <mc:AlternateContent xmlns:mc="http://schemas.openxmlformats.org/markup-compatibility/2006" xmlns:p14="http://schemas.microsoft.com/office/powerpoint/2010/main">
    <mc:Choice Requires="p14">
      <p:transition spd="slow" p14:dur="2000" advTm="20604"/>
    </mc:Choice>
    <mc:Fallback xmlns="">
      <p:transition spd="slow" advTm="2060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FE77E-E779-3450-82B0-CB1D669089E0}"/>
              </a:ext>
            </a:extLst>
          </p:cNvPr>
          <p:cNvSpPr>
            <a:spLocks noGrp="1"/>
          </p:cNvSpPr>
          <p:nvPr>
            <p:ph type="title"/>
          </p:nvPr>
        </p:nvSpPr>
        <p:spPr>
          <a:xfrm>
            <a:off x="379937" y="188640"/>
            <a:ext cx="8375650" cy="423862"/>
          </a:xfrm>
        </p:spPr>
        <p:txBody>
          <a:bodyPr/>
          <a:lstStyle/>
          <a:p>
            <a:r>
              <a:rPr lang="en-US" dirty="0"/>
              <a:t>Today’s Focus</a:t>
            </a:r>
          </a:p>
        </p:txBody>
      </p:sp>
      <p:sp>
        <p:nvSpPr>
          <p:cNvPr id="3" name="Content Placeholder 2">
            <a:extLst>
              <a:ext uri="{FF2B5EF4-FFF2-40B4-BE49-F238E27FC236}">
                <a16:creationId xmlns:a16="http://schemas.microsoft.com/office/drawing/2014/main" id="{827BFBC1-9699-F792-2849-F200DCC95621}"/>
              </a:ext>
            </a:extLst>
          </p:cNvPr>
          <p:cNvSpPr>
            <a:spLocks noGrp="1"/>
          </p:cNvSpPr>
          <p:nvPr>
            <p:ph idx="1"/>
          </p:nvPr>
        </p:nvSpPr>
        <p:spPr>
          <a:xfrm>
            <a:off x="179512" y="1628800"/>
            <a:ext cx="8856984" cy="4067175"/>
          </a:xfrm>
        </p:spPr>
        <p:txBody>
          <a:bodyPr/>
          <a:lstStyle/>
          <a:p>
            <a:pPr>
              <a:spcAft>
                <a:spcPts val="0"/>
              </a:spcAft>
            </a:pPr>
            <a:r>
              <a:rPr lang="en-US" sz="2200" dirty="0"/>
              <a:t>Current goal:</a:t>
            </a:r>
          </a:p>
          <a:p>
            <a:pPr lvl="1"/>
            <a:r>
              <a:rPr lang="en-US" sz="2200" dirty="0"/>
              <a:t>Use retrieved-context models (CMR/</a:t>
            </a:r>
            <a:r>
              <a:rPr lang="en-US" sz="2200" dirty="0" err="1"/>
              <a:t>eCMR</a:t>
            </a:r>
            <a:r>
              <a:rPr lang="en-US" sz="2200" dirty="0"/>
              <a:t>) to account for the selective interference effect in trauma-film + Tetris paradigms.</a:t>
            </a:r>
          </a:p>
          <a:p>
            <a:pPr>
              <a:spcAft>
                <a:spcPts val="0"/>
              </a:spcAft>
            </a:pPr>
            <a:r>
              <a:rPr lang="en-US" sz="2200" dirty="0"/>
              <a:t>We previously agreed to anchor initial modelling on:</a:t>
            </a:r>
          </a:p>
          <a:p>
            <a:pPr lvl="1"/>
            <a:r>
              <a:rPr lang="en-US" sz="2200" dirty="0"/>
              <a:t>Lau-Zhu et al. 2019 and 2021 trauma-film / Tetris experiments.</a:t>
            </a:r>
          </a:p>
          <a:p>
            <a:pPr>
              <a:spcAft>
                <a:spcPts val="0"/>
              </a:spcAft>
            </a:pPr>
            <a:r>
              <a:rPr lang="en-US" sz="2200" dirty="0"/>
              <a:t>Today’s focus:</a:t>
            </a:r>
          </a:p>
          <a:p>
            <a:pPr lvl="1">
              <a:spcAft>
                <a:spcPts val="0"/>
              </a:spcAft>
            </a:pPr>
            <a:r>
              <a:rPr lang="en-US" sz="2200" dirty="0"/>
              <a:t>Zoom in on the 2021 associative-cue experiment.</a:t>
            </a:r>
          </a:p>
          <a:p>
            <a:pPr lvl="1">
              <a:spcAft>
                <a:spcPts val="0"/>
              </a:spcAft>
            </a:pPr>
            <a:r>
              <a:rPr lang="en-US" sz="2200" dirty="0"/>
              <a:t>Ask what it looks like through a CMR/RCT lens.</a:t>
            </a:r>
          </a:p>
          <a:p>
            <a:pPr lvl="1">
              <a:spcAft>
                <a:spcPts val="0"/>
              </a:spcAft>
            </a:pPr>
            <a:r>
              <a:rPr lang="en-US" sz="2200" dirty="0"/>
              <a:t>Use that to refine our modelling plan.</a:t>
            </a:r>
          </a:p>
          <a:p>
            <a:endParaRPr lang="en-US" sz="2200" dirty="0"/>
          </a:p>
        </p:txBody>
      </p:sp>
    </p:spTree>
    <p:extLst>
      <p:ext uri="{BB962C8B-B14F-4D97-AF65-F5344CB8AC3E}">
        <p14:creationId xmlns:p14="http://schemas.microsoft.com/office/powerpoint/2010/main" val="1629264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CB902-8DD9-25A9-81E3-B7F0C1A10DC0}"/>
              </a:ext>
            </a:extLst>
          </p:cNvPr>
          <p:cNvSpPr>
            <a:spLocks noGrp="1"/>
          </p:cNvSpPr>
          <p:nvPr>
            <p:ph type="title"/>
          </p:nvPr>
        </p:nvSpPr>
        <p:spPr>
          <a:xfrm>
            <a:off x="397110" y="332656"/>
            <a:ext cx="8375650" cy="423862"/>
          </a:xfrm>
        </p:spPr>
        <p:txBody>
          <a:bodyPr/>
          <a:lstStyle/>
          <a:p>
            <a:r>
              <a:rPr lang="en-US" dirty="0"/>
              <a:t>Key Questions for Today</a:t>
            </a:r>
          </a:p>
        </p:txBody>
      </p:sp>
      <p:sp>
        <p:nvSpPr>
          <p:cNvPr id="3" name="Content Placeholder 2">
            <a:extLst>
              <a:ext uri="{FF2B5EF4-FFF2-40B4-BE49-F238E27FC236}">
                <a16:creationId xmlns:a16="http://schemas.microsoft.com/office/drawing/2014/main" id="{754EC652-FFBB-3C05-4698-EB5BA5BF010D}"/>
              </a:ext>
            </a:extLst>
          </p:cNvPr>
          <p:cNvSpPr>
            <a:spLocks noGrp="1"/>
          </p:cNvSpPr>
          <p:nvPr>
            <p:ph idx="1"/>
          </p:nvPr>
        </p:nvSpPr>
        <p:spPr>
          <a:xfrm>
            <a:off x="397110" y="1628800"/>
            <a:ext cx="8374063" cy="4067175"/>
          </a:xfrm>
        </p:spPr>
        <p:txBody>
          <a:bodyPr/>
          <a:lstStyle/>
          <a:p>
            <a:r>
              <a:rPr lang="en-US" sz="2400" dirty="0"/>
              <a:t>How does a retrieved-context model naturally interpret the 2021 VIT and recognition tasks?</a:t>
            </a:r>
          </a:p>
          <a:p>
            <a:r>
              <a:rPr lang="en-US" sz="2400" dirty="0"/>
              <a:t>Given that interpretation, what should we count as a “successful” CMR account of the selective interference effect on this paradigm?</a:t>
            </a:r>
          </a:p>
          <a:p>
            <a:r>
              <a:rPr lang="en-US" sz="2400" dirty="0"/>
              <a:t>How central do we want this experiment to be in the modelling story, relative to other available paradigms?</a:t>
            </a:r>
          </a:p>
        </p:txBody>
      </p:sp>
    </p:spTree>
    <p:extLst>
      <p:ext uri="{BB962C8B-B14F-4D97-AF65-F5344CB8AC3E}">
        <p14:creationId xmlns:p14="http://schemas.microsoft.com/office/powerpoint/2010/main" val="702174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AB77D-CDF5-33B9-A54C-D02F1247B6A7}"/>
              </a:ext>
            </a:extLst>
          </p:cNvPr>
          <p:cNvSpPr>
            <a:spLocks noGrp="1"/>
          </p:cNvSpPr>
          <p:nvPr>
            <p:ph type="title"/>
          </p:nvPr>
        </p:nvSpPr>
        <p:spPr/>
        <p:txBody>
          <a:bodyPr/>
          <a:lstStyle/>
          <a:p>
            <a:r>
              <a:rPr lang="en-US" dirty="0"/>
              <a:t>2021 Study: Task Features That Matter for CMR</a:t>
            </a:r>
          </a:p>
        </p:txBody>
      </p:sp>
      <p:sp>
        <p:nvSpPr>
          <p:cNvPr id="4" name="Content Placeholder 3">
            <a:extLst>
              <a:ext uri="{FF2B5EF4-FFF2-40B4-BE49-F238E27FC236}">
                <a16:creationId xmlns:a16="http://schemas.microsoft.com/office/drawing/2014/main" id="{F3A6288B-45DA-7FC7-AF56-D0EE693EA6F6}"/>
              </a:ext>
            </a:extLst>
          </p:cNvPr>
          <p:cNvSpPr>
            <a:spLocks noGrp="1"/>
          </p:cNvSpPr>
          <p:nvPr>
            <p:ph sz="half" idx="1"/>
          </p:nvPr>
        </p:nvSpPr>
        <p:spPr/>
        <p:txBody>
          <a:bodyPr/>
          <a:lstStyle/>
          <a:p>
            <a:pPr marL="0" indent="0" algn="ctr">
              <a:buNone/>
            </a:pPr>
            <a:r>
              <a:rPr lang="en-US" sz="2000" b="1" dirty="0"/>
              <a:t>Vigilance–Intrusion Task</a:t>
            </a:r>
          </a:p>
          <a:p>
            <a:r>
              <a:rPr lang="en-US" sz="2000" dirty="0"/>
              <a:t>Go/no-go digits; blurred backgrounds every few trials.</a:t>
            </a:r>
          </a:p>
          <a:p>
            <a:r>
              <a:rPr lang="en-US" sz="2000" dirty="0"/>
              <a:t>Occasionally: trauma-film stills (or foils) as extra backgrounds.</a:t>
            </a:r>
          </a:p>
          <a:p>
            <a:r>
              <a:rPr lang="en-US" sz="2000" dirty="0"/>
              <a:t>Participant just does the digit task; presses if a film image intrudes.</a:t>
            </a:r>
          </a:p>
        </p:txBody>
      </p:sp>
      <p:sp>
        <p:nvSpPr>
          <p:cNvPr id="5" name="Content Placeholder 4">
            <a:extLst>
              <a:ext uri="{FF2B5EF4-FFF2-40B4-BE49-F238E27FC236}">
                <a16:creationId xmlns:a16="http://schemas.microsoft.com/office/drawing/2014/main" id="{35E312DC-E4AF-8A46-BC2A-E497FF2602B6}"/>
              </a:ext>
            </a:extLst>
          </p:cNvPr>
          <p:cNvSpPr>
            <a:spLocks noGrp="1"/>
          </p:cNvSpPr>
          <p:nvPr>
            <p:ph sz="half" idx="2"/>
          </p:nvPr>
        </p:nvSpPr>
        <p:spPr/>
        <p:txBody>
          <a:bodyPr/>
          <a:lstStyle/>
          <a:p>
            <a:pPr marL="0" indent="0" algn="ctr">
              <a:buNone/>
            </a:pPr>
            <a:r>
              <a:rPr lang="en-US" sz="2000" b="1" dirty="0"/>
              <a:t>Modified Recognition Task</a:t>
            </a:r>
          </a:p>
          <a:p>
            <a:r>
              <a:rPr lang="en-US" sz="2000" dirty="0"/>
              <a:t>Same style of stills used as cues, including mixed film or foil stills</a:t>
            </a:r>
          </a:p>
          <a:p>
            <a:r>
              <a:rPr lang="en-US" sz="2000" dirty="0"/>
              <a:t>Each cue followed by a blurred target still (film or foil).</a:t>
            </a:r>
          </a:p>
          <a:p>
            <a:r>
              <a:rPr lang="en-US" sz="2000" dirty="0"/>
              <a:t>Task: decide yes/no ”from the trauma film or not”.</a:t>
            </a:r>
          </a:p>
          <a:p>
            <a:r>
              <a:rPr lang="en-US" sz="2000" dirty="0"/>
              <a:t>Some trials: cue and target from same film; some mismatched.</a:t>
            </a:r>
          </a:p>
          <a:p>
            <a:endParaRPr lang="en-US" sz="2000" dirty="0"/>
          </a:p>
        </p:txBody>
      </p:sp>
      <p:pic>
        <p:nvPicPr>
          <p:cNvPr id="6" name="Picture 5">
            <a:extLst>
              <a:ext uri="{FF2B5EF4-FFF2-40B4-BE49-F238E27FC236}">
                <a16:creationId xmlns:a16="http://schemas.microsoft.com/office/drawing/2014/main" id="{1A276ED5-5E1C-28FC-1B66-DA593BA07F53}"/>
              </a:ext>
            </a:extLst>
          </p:cNvPr>
          <p:cNvPicPr>
            <a:picLocks noChangeAspect="1"/>
          </p:cNvPicPr>
          <p:nvPr/>
        </p:nvPicPr>
        <p:blipFill>
          <a:blip r:embed="rId3"/>
          <a:stretch>
            <a:fillRect/>
          </a:stretch>
        </p:blipFill>
        <p:spPr>
          <a:xfrm>
            <a:off x="33536" y="5030465"/>
            <a:ext cx="4538464" cy="1644371"/>
          </a:xfrm>
          <a:prstGeom prst="rect">
            <a:avLst/>
          </a:prstGeom>
        </p:spPr>
      </p:pic>
    </p:spTree>
    <p:extLst>
      <p:ext uri="{BB962C8B-B14F-4D97-AF65-F5344CB8AC3E}">
        <p14:creationId xmlns:p14="http://schemas.microsoft.com/office/powerpoint/2010/main" val="1387971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8693E-DD38-58E2-CF7A-FBAB541AB349}"/>
              </a:ext>
            </a:extLst>
          </p:cNvPr>
          <p:cNvSpPr>
            <a:spLocks noGrp="1"/>
          </p:cNvSpPr>
          <p:nvPr>
            <p:ph type="title"/>
          </p:nvPr>
        </p:nvSpPr>
        <p:spPr/>
        <p:txBody>
          <a:bodyPr/>
          <a:lstStyle/>
          <a:p>
            <a:r>
              <a:rPr lang="en-US" dirty="0"/>
              <a:t>Lau-Zhu 2021: what they were trying to fix</a:t>
            </a:r>
          </a:p>
        </p:txBody>
      </p:sp>
      <p:sp>
        <p:nvSpPr>
          <p:cNvPr id="3" name="Content Placeholder 2">
            <a:extLst>
              <a:ext uri="{FF2B5EF4-FFF2-40B4-BE49-F238E27FC236}">
                <a16:creationId xmlns:a16="http://schemas.microsoft.com/office/drawing/2014/main" id="{BB4D24C6-3918-F050-F0D7-BCC01C870016}"/>
              </a:ext>
            </a:extLst>
          </p:cNvPr>
          <p:cNvSpPr>
            <a:spLocks noGrp="1"/>
          </p:cNvSpPr>
          <p:nvPr>
            <p:ph idx="1"/>
          </p:nvPr>
        </p:nvSpPr>
        <p:spPr>
          <a:xfrm>
            <a:off x="384175" y="1395412"/>
            <a:ext cx="8374063" cy="4067175"/>
          </a:xfrm>
        </p:spPr>
        <p:txBody>
          <a:bodyPr/>
          <a:lstStyle/>
          <a:p>
            <a:pPr>
              <a:spcAft>
                <a:spcPts val="0"/>
              </a:spcAft>
            </a:pPr>
            <a:r>
              <a:rPr lang="en-US" sz="2100" dirty="0"/>
              <a:t>Earlier trauma studies:</a:t>
            </a:r>
          </a:p>
          <a:p>
            <a:pPr lvl="1">
              <a:spcAft>
                <a:spcPts val="0"/>
              </a:spcAft>
            </a:pPr>
            <a:r>
              <a:rPr lang="en-US" sz="2100" dirty="0"/>
              <a:t>Intrusions arise in some triggering situation or scene</a:t>
            </a:r>
          </a:p>
          <a:p>
            <a:pPr lvl="1"/>
            <a:r>
              <a:rPr lang="en-US" sz="2100" dirty="0"/>
              <a:t>Voluntary memory: single-item recognition, stills tested more or less in isolation</a:t>
            </a:r>
          </a:p>
          <a:p>
            <a:pPr>
              <a:spcAft>
                <a:spcPts val="0"/>
              </a:spcAft>
            </a:pPr>
            <a:r>
              <a:rPr lang="en-US" sz="2100" dirty="0"/>
              <a:t>Possible explanation:</a:t>
            </a:r>
          </a:p>
          <a:p>
            <a:pPr lvl="1"/>
            <a:r>
              <a:rPr lang="en-US" sz="2100" dirty="0"/>
              <a:t>Interference might mainly disrupt how scenes are tied to the broader event context</a:t>
            </a:r>
          </a:p>
          <a:p>
            <a:pPr>
              <a:spcAft>
                <a:spcPts val="0"/>
              </a:spcAft>
            </a:pPr>
            <a:r>
              <a:rPr lang="en-US" sz="2100" dirty="0"/>
              <a:t>2021 idea:</a:t>
            </a:r>
          </a:p>
          <a:p>
            <a:pPr lvl="1"/>
            <a:r>
              <a:rPr lang="en-US" sz="2100" dirty="0"/>
              <a:t>Add </a:t>
            </a:r>
            <a:r>
              <a:rPr lang="en-US" sz="2100" b="1" dirty="0"/>
              <a:t>similar film vs foil cues </a:t>
            </a:r>
            <a:r>
              <a:rPr lang="en-US" sz="2100" dirty="0"/>
              <a:t>to both VIT and recognition tasks.</a:t>
            </a:r>
          </a:p>
          <a:p>
            <a:pPr>
              <a:spcAft>
                <a:spcPts val="0"/>
              </a:spcAft>
            </a:pPr>
            <a:r>
              <a:rPr lang="en-US" sz="2100" dirty="0"/>
              <a:t>Key question:</a:t>
            </a:r>
          </a:p>
          <a:p>
            <a:pPr lvl="1"/>
            <a:r>
              <a:rPr lang="en-US" sz="2200" dirty="0"/>
              <a:t>With that alignment in place, does interference still look selective for intrusions?</a:t>
            </a:r>
          </a:p>
          <a:p>
            <a:pPr lvl="1"/>
            <a:r>
              <a:rPr lang="en-US" sz="2100" dirty="0"/>
              <a:t>?</a:t>
            </a:r>
          </a:p>
        </p:txBody>
      </p:sp>
    </p:spTree>
    <p:extLst>
      <p:ext uri="{BB962C8B-B14F-4D97-AF65-F5344CB8AC3E}">
        <p14:creationId xmlns:p14="http://schemas.microsoft.com/office/powerpoint/2010/main" val="1781605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331F2-1F05-C8AA-58C9-2862D571C1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7EC32-D889-7369-DA3E-6EBD014B479F}"/>
              </a:ext>
            </a:extLst>
          </p:cNvPr>
          <p:cNvSpPr>
            <a:spLocks noGrp="1"/>
          </p:cNvSpPr>
          <p:nvPr>
            <p:ph type="title"/>
          </p:nvPr>
        </p:nvSpPr>
        <p:spPr/>
        <p:txBody>
          <a:bodyPr/>
          <a:lstStyle/>
          <a:p>
            <a:r>
              <a:rPr lang="en-US" dirty="0"/>
              <a:t>Lau-Zhu 2021: what they were trying to fix</a:t>
            </a:r>
          </a:p>
        </p:txBody>
      </p:sp>
      <p:sp>
        <p:nvSpPr>
          <p:cNvPr id="3" name="Content Placeholder 2">
            <a:extLst>
              <a:ext uri="{FF2B5EF4-FFF2-40B4-BE49-F238E27FC236}">
                <a16:creationId xmlns:a16="http://schemas.microsoft.com/office/drawing/2014/main" id="{1F879B93-8C5E-2DBC-40AF-2F4990AF26B1}"/>
              </a:ext>
            </a:extLst>
          </p:cNvPr>
          <p:cNvSpPr>
            <a:spLocks noGrp="1"/>
          </p:cNvSpPr>
          <p:nvPr>
            <p:ph idx="1"/>
          </p:nvPr>
        </p:nvSpPr>
        <p:spPr>
          <a:xfrm>
            <a:off x="401274" y="1395412"/>
            <a:ext cx="7920879" cy="4067175"/>
          </a:xfrm>
        </p:spPr>
        <p:txBody>
          <a:bodyPr/>
          <a:lstStyle/>
          <a:p>
            <a:pPr>
              <a:spcAft>
                <a:spcPts val="0"/>
              </a:spcAft>
            </a:pPr>
            <a:r>
              <a:rPr lang="en-US" sz="2200" dirty="0"/>
              <a:t>VIT and diary:</a:t>
            </a:r>
          </a:p>
          <a:p>
            <a:pPr lvl="1">
              <a:spcAft>
                <a:spcPts val="0"/>
              </a:spcAft>
            </a:pPr>
            <a:r>
              <a:rPr lang="en-US" sz="2200" dirty="0" err="1"/>
              <a:t>Reminder+Tetris</a:t>
            </a:r>
            <a:r>
              <a:rPr lang="en-US" sz="2200" dirty="0"/>
              <a:t> group shows </a:t>
            </a:r>
            <a:r>
              <a:rPr lang="en-US" sz="2200" b="1" dirty="0"/>
              <a:t>fewer</a:t>
            </a:r>
            <a:r>
              <a:rPr lang="en-US" sz="2200" dirty="0"/>
              <a:t> intrusions than reminder-only.</a:t>
            </a:r>
          </a:p>
          <a:p>
            <a:pPr lvl="1">
              <a:spcAft>
                <a:spcPts val="0"/>
              </a:spcAft>
            </a:pPr>
            <a:r>
              <a:rPr lang="en-US" sz="2200" dirty="0"/>
              <a:t>Trauma-film cues &gt; foil cues overall.</a:t>
            </a:r>
          </a:p>
          <a:p>
            <a:pPr lvl="1"/>
            <a:r>
              <a:rPr lang="en-US" sz="2200" dirty="0"/>
              <a:t>No strong evidence that cue type moderates the interference effect.</a:t>
            </a:r>
          </a:p>
          <a:p>
            <a:pPr marL="274320">
              <a:spcAft>
                <a:spcPts val="0"/>
              </a:spcAft>
            </a:pPr>
            <a:r>
              <a:rPr lang="en-US" sz="2200" dirty="0"/>
              <a:t>Recognition:</a:t>
            </a:r>
          </a:p>
          <a:p>
            <a:pPr marL="542608" lvl="1">
              <a:spcAft>
                <a:spcPts val="0"/>
              </a:spcAft>
            </a:pPr>
            <a:r>
              <a:rPr lang="en-US" sz="2200" dirty="0"/>
              <a:t>Accuracy above chance </a:t>
            </a:r>
            <a:r>
              <a:rPr lang="en-US" sz="2200" b="1" dirty="0"/>
              <a:t>across</a:t>
            </a:r>
            <a:r>
              <a:rPr lang="en-US" sz="2200" dirty="0"/>
              <a:t> conditions.</a:t>
            </a:r>
          </a:p>
          <a:p>
            <a:pPr marL="542608" lvl="1">
              <a:spcAft>
                <a:spcPts val="0"/>
              </a:spcAft>
            </a:pPr>
            <a:r>
              <a:rPr lang="en-US" sz="2200" dirty="0"/>
              <a:t>Trauma cues give a slight overall benefit.</a:t>
            </a:r>
          </a:p>
          <a:p>
            <a:pPr marL="542608" lvl="1">
              <a:spcAft>
                <a:spcPts val="0"/>
              </a:spcAft>
            </a:pPr>
            <a:r>
              <a:rPr lang="en-US" sz="2200" dirty="0"/>
              <a:t>No clear group effect; no cue × group interaction.</a:t>
            </a:r>
          </a:p>
          <a:p>
            <a:pPr marL="542608" lvl="1">
              <a:spcAft>
                <a:spcPts val="0"/>
              </a:spcAft>
            </a:pPr>
            <a:endParaRPr lang="en-US" sz="2200" dirty="0"/>
          </a:p>
          <a:p>
            <a:pPr marL="275908" lvl="1" indent="0">
              <a:spcAft>
                <a:spcPts val="0"/>
              </a:spcAft>
              <a:buNone/>
            </a:pPr>
            <a:r>
              <a:rPr lang="en-US" sz="2200" dirty="0"/>
              <a:t>Clear reproduction of selective interference effect!</a:t>
            </a:r>
          </a:p>
        </p:txBody>
      </p:sp>
    </p:spTree>
    <p:extLst>
      <p:ext uri="{BB962C8B-B14F-4D97-AF65-F5344CB8AC3E}">
        <p14:creationId xmlns:p14="http://schemas.microsoft.com/office/powerpoint/2010/main" val="3422074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0101-2E74-C6CC-3FF5-A3202249DA14}"/>
              </a:ext>
            </a:extLst>
          </p:cNvPr>
          <p:cNvSpPr>
            <a:spLocks noGrp="1"/>
          </p:cNvSpPr>
          <p:nvPr>
            <p:ph type="title"/>
          </p:nvPr>
        </p:nvSpPr>
        <p:spPr>
          <a:xfrm>
            <a:off x="179512" y="188640"/>
            <a:ext cx="3539753" cy="423862"/>
          </a:xfrm>
        </p:spPr>
        <p:txBody>
          <a:bodyPr/>
          <a:lstStyle/>
          <a:p>
            <a:r>
              <a:rPr lang="en-US" dirty="0"/>
              <a:t>CMR’s Perspective on its Home Turf</a:t>
            </a:r>
          </a:p>
        </p:txBody>
      </p:sp>
      <p:sp>
        <p:nvSpPr>
          <p:cNvPr id="3" name="Content Placeholder 2">
            <a:extLst>
              <a:ext uri="{FF2B5EF4-FFF2-40B4-BE49-F238E27FC236}">
                <a16:creationId xmlns:a16="http://schemas.microsoft.com/office/drawing/2014/main" id="{BE74B941-095E-9D94-AAD6-EC7C2E0692B1}"/>
              </a:ext>
            </a:extLst>
          </p:cNvPr>
          <p:cNvSpPr>
            <a:spLocks noGrp="1"/>
          </p:cNvSpPr>
          <p:nvPr>
            <p:ph idx="1"/>
          </p:nvPr>
        </p:nvSpPr>
        <p:spPr>
          <a:xfrm>
            <a:off x="1" y="1708150"/>
            <a:ext cx="4788024" cy="4067175"/>
          </a:xfrm>
        </p:spPr>
        <p:txBody>
          <a:bodyPr/>
          <a:lstStyle/>
          <a:p>
            <a:r>
              <a:rPr lang="en-US" sz="1600" dirty="0"/>
              <a:t>Classic domain: free recall of studied lists.</a:t>
            </a:r>
          </a:p>
          <a:p>
            <a:pPr>
              <a:spcAft>
                <a:spcPts val="0"/>
              </a:spcAft>
            </a:pPr>
            <a:r>
              <a:rPr lang="en-US" sz="1600" dirty="0"/>
              <a:t>Key ingredients:</a:t>
            </a:r>
          </a:p>
          <a:p>
            <a:pPr lvl="1">
              <a:spcAft>
                <a:spcPts val="0"/>
              </a:spcAft>
            </a:pPr>
            <a:r>
              <a:rPr lang="en-US" sz="1600" dirty="0"/>
              <a:t>A drifting temporal context that updates with each study item.</a:t>
            </a:r>
          </a:p>
          <a:p>
            <a:pPr lvl="1">
              <a:spcAft>
                <a:spcPts val="0"/>
              </a:spcAft>
            </a:pPr>
            <a:r>
              <a:rPr lang="en-US" sz="1600" dirty="0"/>
              <a:t>Item–context bindings laid down at encoding.</a:t>
            </a:r>
          </a:p>
          <a:p>
            <a:pPr lvl="1"/>
            <a:r>
              <a:rPr lang="en-US" sz="1600" dirty="0"/>
              <a:t>At test, retrieval is driven by current context, and recalled items update context again.</a:t>
            </a:r>
          </a:p>
          <a:p>
            <a:pPr>
              <a:spcAft>
                <a:spcPts val="0"/>
              </a:spcAft>
            </a:pPr>
            <a:r>
              <a:rPr lang="en-US" sz="1600" dirty="0"/>
              <a:t>Signature prediction:</a:t>
            </a:r>
          </a:p>
          <a:p>
            <a:pPr lvl="1"/>
            <a:r>
              <a:rPr lang="en-US" sz="1600" dirty="0"/>
              <a:t>Temporal contiguity – transitions tend to go to </a:t>
            </a:r>
            <a:r>
              <a:rPr lang="en-US" sz="1600" dirty="0" err="1"/>
              <a:t>neighbours</a:t>
            </a:r>
            <a:r>
              <a:rPr lang="en-US" sz="1600" dirty="0"/>
              <a:t> in the original sequence.</a:t>
            </a:r>
          </a:p>
          <a:p>
            <a:r>
              <a:rPr lang="en-US" sz="1600" dirty="0"/>
              <a:t>Similar logic extends to other tasks that rely on context-driven retrieval.</a:t>
            </a:r>
          </a:p>
          <a:p>
            <a:endParaRPr lang="en-US" sz="1600" dirty="0"/>
          </a:p>
        </p:txBody>
      </p:sp>
      <p:pic>
        <p:nvPicPr>
          <p:cNvPr id="4" name="Picture 3">
            <a:extLst>
              <a:ext uri="{FF2B5EF4-FFF2-40B4-BE49-F238E27FC236}">
                <a16:creationId xmlns:a16="http://schemas.microsoft.com/office/drawing/2014/main" id="{6BEA186C-E5DC-5237-CE2B-C6DE3C9461B9}"/>
              </a:ext>
            </a:extLst>
          </p:cNvPr>
          <p:cNvPicPr>
            <a:picLocks noChangeAspect="1"/>
          </p:cNvPicPr>
          <p:nvPr/>
        </p:nvPicPr>
        <p:blipFill>
          <a:blip r:embed="rId3"/>
          <a:stretch>
            <a:fillRect/>
          </a:stretch>
        </p:blipFill>
        <p:spPr>
          <a:xfrm>
            <a:off x="5080783" y="188640"/>
            <a:ext cx="3883705" cy="3928777"/>
          </a:xfrm>
          <a:prstGeom prst="rect">
            <a:avLst/>
          </a:prstGeom>
        </p:spPr>
      </p:pic>
    </p:spTree>
    <p:extLst>
      <p:ext uri="{BB962C8B-B14F-4D97-AF65-F5344CB8AC3E}">
        <p14:creationId xmlns:p14="http://schemas.microsoft.com/office/powerpoint/2010/main" val="2082624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1CEC8-4037-5F0D-6496-AB5E8D7DB93B}"/>
              </a:ext>
            </a:extLst>
          </p:cNvPr>
          <p:cNvSpPr>
            <a:spLocks noGrp="1"/>
          </p:cNvSpPr>
          <p:nvPr>
            <p:ph type="title"/>
          </p:nvPr>
        </p:nvSpPr>
        <p:spPr/>
        <p:txBody>
          <a:bodyPr>
            <a:normAutofit/>
          </a:bodyPr>
          <a:lstStyle/>
          <a:p>
            <a:r>
              <a:rPr lang="en-US" dirty="0"/>
              <a:t>CMR’s Perspective on its Home Turf</a:t>
            </a:r>
          </a:p>
        </p:txBody>
      </p:sp>
      <p:grpSp>
        <p:nvGrpSpPr>
          <p:cNvPr id="4" name="Group 3">
            <a:extLst>
              <a:ext uri="{FF2B5EF4-FFF2-40B4-BE49-F238E27FC236}">
                <a16:creationId xmlns:a16="http://schemas.microsoft.com/office/drawing/2014/main" id="{E2C8C67E-9435-B958-0620-BAC0765091AA}"/>
              </a:ext>
            </a:extLst>
          </p:cNvPr>
          <p:cNvGrpSpPr/>
          <p:nvPr/>
        </p:nvGrpSpPr>
        <p:grpSpPr>
          <a:xfrm>
            <a:off x="357655" y="1703169"/>
            <a:ext cx="5646567" cy="3570862"/>
            <a:chOff x="785091" y="1929263"/>
            <a:chExt cx="8382400" cy="3370453"/>
          </a:xfrm>
        </p:grpSpPr>
        <p:sp>
          <p:nvSpPr>
            <p:cNvPr id="5" name="Rectangle: Rounded Corners 6">
              <a:extLst>
                <a:ext uri="{FF2B5EF4-FFF2-40B4-BE49-F238E27FC236}">
                  <a16:creationId xmlns:a16="http://schemas.microsoft.com/office/drawing/2014/main" id="{BAD31067-08B3-1D62-3F24-CCD206C06446}"/>
                </a:ext>
              </a:extLst>
            </p:cNvPr>
            <p:cNvSpPr/>
            <p:nvPr/>
          </p:nvSpPr>
          <p:spPr>
            <a:xfrm>
              <a:off x="785091" y="2857500"/>
              <a:ext cx="2008910" cy="11430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CONTEXT</a:t>
              </a:r>
              <a:r>
                <a:rPr kumimoji="0" lang="en-US" sz="2000" b="0" i="0" u="none" strike="noStrike" kern="1200" cap="none" spc="0" normalizeH="0" baseline="0" noProof="0" dirty="0">
                  <a:ln>
                    <a:noFill/>
                  </a:ln>
                  <a:solidFill>
                    <a:prstClr val="white"/>
                  </a:solidFill>
                  <a:effectLst/>
                  <a:uLnTx/>
                  <a:uFillTx/>
                  <a:latin typeface="Calibri"/>
                  <a:ea typeface="+mn-ea"/>
                  <a:cs typeface="+mn-cs"/>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C</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p>
          </p:txBody>
        </p:sp>
        <p:sp>
          <p:nvSpPr>
            <p:cNvPr id="6" name="Rectangle: Rounded Corners 7">
              <a:extLst>
                <a:ext uri="{FF2B5EF4-FFF2-40B4-BE49-F238E27FC236}">
                  <a16:creationId xmlns:a16="http://schemas.microsoft.com/office/drawing/2014/main" id="{10E329FC-7892-417D-DA2B-A2B6FD6AC71F}"/>
                </a:ext>
              </a:extLst>
            </p:cNvPr>
            <p:cNvSpPr/>
            <p:nvPr/>
          </p:nvSpPr>
          <p:spPr>
            <a:xfrm>
              <a:off x="6349999" y="2857500"/>
              <a:ext cx="2008910" cy="11430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ITEM FEATURES </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F)</a:t>
              </a:r>
              <a:endParaRPr kumimoji="0" lang="en-US" sz="20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Rounded Corners 8">
              <a:extLst>
                <a:ext uri="{FF2B5EF4-FFF2-40B4-BE49-F238E27FC236}">
                  <a16:creationId xmlns:a16="http://schemas.microsoft.com/office/drawing/2014/main" id="{6A0A6C97-FAFC-A81F-BA76-43783B97C143}"/>
                </a:ext>
              </a:extLst>
            </p:cNvPr>
            <p:cNvSpPr/>
            <p:nvPr/>
          </p:nvSpPr>
          <p:spPr>
            <a:xfrm>
              <a:off x="3601982" y="3799979"/>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(Context to Item)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CF</a:t>
              </a:r>
            </a:p>
          </p:txBody>
        </p:sp>
        <p:sp>
          <p:nvSpPr>
            <p:cNvPr id="8" name="Rectangle: Rounded Corners 9">
              <a:extLst>
                <a:ext uri="{FF2B5EF4-FFF2-40B4-BE49-F238E27FC236}">
                  <a16:creationId xmlns:a16="http://schemas.microsoft.com/office/drawing/2014/main" id="{CEBF38AD-2066-EC64-9D13-CEFC3452F87E}"/>
                </a:ext>
              </a:extLst>
            </p:cNvPr>
            <p:cNvSpPr/>
            <p:nvPr/>
          </p:nvSpPr>
          <p:spPr>
            <a:xfrm>
              <a:off x="3601982" y="1929263"/>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(Item to Context)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FC</a:t>
              </a:r>
              <a:endParaRPr kumimoji="0" lang="en-US" sz="2000" b="0" i="1" u="none" strike="noStrike" kern="1200" cap="none" spc="0" normalizeH="0" baseline="0" noProof="0" dirty="0">
                <a:ln>
                  <a:noFill/>
                </a:ln>
                <a:solidFill>
                  <a:prstClr val="white"/>
                </a:solidFill>
                <a:effectLst/>
                <a:uLnTx/>
                <a:uFillTx/>
                <a:latin typeface="Calibri"/>
                <a:ea typeface="+mn-ea"/>
                <a:cs typeface="+mn-cs"/>
              </a:endParaRPr>
            </a:p>
          </p:txBody>
        </p:sp>
        <p:sp>
          <p:nvSpPr>
            <p:cNvPr id="9" name="Arrow: Bent 10">
              <a:extLst>
                <a:ext uri="{FF2B5EF4-FFF2-40B4-BE49-F238E27FC236}">
                  <a16:creationId xmlns:a16="http://schemas.microsoft.com/office/drawing/2014/main" id="{115019F8-D5A7-3965-D2FF-01483348E8FF}"/>
                </a:ext>
              </a:extLst>
            </p:cNvPr>
            <p:cNvSpPr/>
            <p:nvPr/>
          </p:nvSpPr>
          <p:spPr>
            <a:xfrm flipH="1">
              <a:off x="5800435" y="1988411"/>
              <a:ext cx="1427019" cy="804702"/>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Arrow: Bent 11">
              <a:extLst>
                <a:ext uri="{FF2B5EF4-FFF2-40B4-BE49-F238E27FC236}">
                  <a16:creationId xmlns:a16="http://schemas.microsoft.com/office/drawing/2014/main" id="{CF2418AB-4932-3E50-4385-8AC36E05193F}"/>
                </a:ext>
              </a:extLst>
            </p:cNvPr>
            <p:cNvSpPr/>
            <p:nvPr/>
          </p:nvSpPr>
          <p:spPr>
            <a:xfrm flipV="1">
              <a:off x="2145147" y="4058196"/>
              <a:ext cx="1297708" cy="816383"/>
            </a:xfrm>
            <a:prstGeom prst="bentArrow">
              <a:avLst>
                <a:gd name="adj1" fmla="val 25000"/>
                <a:gd name="adj2" fmla="val 41834"/>
                <a:gd name="adj3" fmla="val 2409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F8D7BD9D-47A7-A30C-1CC1-A4EE9E6D04AF}"/>
                </a:ext>
              </a:extLst>
            </p:cNvPr>
            <p:cNvSpPr txBox="1"/>
            <p:nvPr/>
          </p:nvSpPr>
          <p:spPr>
            <a:xfrm>
              <a:off x="785091" y="4342253"/>
              <a:ext cx="1614056"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Guide Search</a:t>
              </a:r>
            </a:p>
          </p:txBody>
        </p:sp>
        <p:sp>
          <p:nvSpPr>
            <p:cNvPr id="12" name="TextBox 11">
              <a:extLst>
                <a:ext uri="{FF2B5EF4-FFF2-40B4-BE49-F238E27FC236}">
                  <a16:creationId xmlns:a16="http://schemas.microsoft.com/office/drawing/2014/main" id="{D65BBA30-7C78-B350-8B6B-46C272E96119}"/>
                </a:ext>
              </a:extLst>
            </p:cNvPr>
            <p:cNvSpPr txBox="1"/>
            <p:nvPr/>
          </p:nvSpPr>
          <p:spPr>
            <a:xfrm>
              <a:off x="7227454" y="1942574"/>
              <a:ext cx="1940037"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Update Context</a:t>
              </a:r>
            </a:p>
          </p:txBody>
        </p:sp>
        <p:sp>
          <p:nvSpPr>
            <p:cNvPr id="13" name="Arrow: Bent 14">
              <a:extLst>
                <a:ext uri="{FF2B5EF4-FFF2-40B4-BE49-F238E27FC236}">
                  <a16:creationId xmlns:a16="http://schemas.microsoft.com/office/drawing/2014/main" id="{B11BA67F-8E41-3FFB-56AD-BDEB5940F67E}"/>
                </a:ext>
              </a:extLst>
            </p:cNvPr>
            <p:cNvSpPr/>
            <p:nvPr/>
          </p:nvSpPr>
          <p:spPr>
            <a:xfrm rot="16200000" flipH="1">
              <a:off x="2335000" y="1675753"/>
              <a:ext cx="620579" cy="1595134"/>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Arrow: Bent 15">
              <a:extLst>
                <a:ext uri="{FF2B5EF4-FFF2-40B4-BE49-F238E27FC236}">
                  <a16:creationId xmlns:a16="http://schemas.microsoft.com/office/drawing/2014/main" id="{E99782D3-8C94-FE75-7BEB-250CCD52780E}"/>
                </a:ext>
              </a:extLst>
            </p:cNvPr>
            <p:cNvSpPr/>
            <p:nvPr/>
          </p:nvSpPr>
          <p:spPr>
            <a:xfrm rot="16200000" flipV="1">
              <a:off x="6221792" y="3579099"/>
              <a:ext cx="485013" cy="1526309"/>
            </a:xfrm>
            <a:prstGeom prst="bentArrow">
              <a:avLst>
                <a:gd name="adj1" fmla="val 42851"/>
                <a:gd name="adj2" fmla="val 50000"/>
                <a:gd name="adj3" fmla="val 1738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5" name="Picture 14">
            <a:extLst>
              <a:ext uri="{FF2B5EF4-FFF2-40B4-BE49-F238E27FC236}">
                <a16:creationId xmlns:a16="http://schemas.microsoft.com/office/drawing/2014/main" id="{F7ED1B87-F0FA-141D-0704-6FC85102F71A}"/>
              </a:ext>
            </a:extLst>
          </p:cNvPr>
          <p:cNvPicPr>
            <a:picLocks noChangeAspect="1"/>
          </p:cNvPicPr>
          <p:nvPr/>
        </p:nvPicPr>
        <p:blipFill>
          <a:blip r:embed="rId3"/>
          <a:stretch>
            <a:fillRect/>
          </a:stretch>
        </p:blipFill>
        <p:spPr>
          <a:xfrm>
            <a:off x="5791140" y="1479502"/>
            <a:ext cx="3243084" cy="825067"/>
          </a:xfrm>
          <a:prstGeom prst="rect">
            <a:avLst/>
          </a:prstGeom>
        </p:spPr>
      </p:pic>
      <p:pic>
        <p:nvPicPr>
          <p:cNvPr id="16" name="Picture 15">
            <a:extLst>
              <a:ext uri="{FF2B5EF4-FFF2-40B4-BE49-F238E27FC236}">
                <a16:creationId xmlns:a16="http://schemas.microsoft.com/office/drawing/2014/main" id="{979E9ECC-1068-798F-6924-A664B0A09D13}"/>
              </a:ext>
            </a:extLst>
          </p:cNvPr>
          <p:cNvPicPr>
            <a:picLocks noChangeAspect="1"/>
          </p:cNvPicPr>
          <p:nvPr/>
        </p:nvPicPr>
        <p:blipFill>
          <a:blip r:embed="rId4"/>
          <a:stretch>
            <a:fillRect/>
          </a:stretch>
        </p:blipFill>
        <p:spPr>
          <a:xfrm>
            <a:off x="5823250" y="2431713"/>
            <a:ext cx="3243085" cy="825067"/>
          </a:xfrm>
          <a:prstGeom prst="rect">
            <a:avLst/>
          </a:prstGeom>
        </p:spPr>
      </p:pic>
      <p:pic>
        <p:nvPicPr>
          <p:cNvPr id="17" name="Picture 16">
            <a:extLst>
              <a:ext uri="{FF2B5EF4-FFF2-40B4-BE49-F238E27FC236}">
                <a16:creationId xmlns:a16="http://schemas.microsoft.com/office/drawing/2014/main" id="{897DDB1F-653D-8292-B071-6159AA88E610}"/>
              </a:ext>
            </a:extLst>
          </p:cNvPr>
          <p:cNvPicPr>
            <a:picLocks noChangeAspect="1"/>
          </p:cNvPicPr>
          <p:nvPr/>
        </p:nvPicPr>
        <p:blipFill>
          <a:blip r:embed="rId5"/>
          <a:stretch>
            <a:fillRect/>
          </a:stretch>
        </p:blipFill>
        <p:spPr>
          <a:xfrm>
            <a:off x="5804928" y="3347739"/>
            <a:ext cx="3261407" cy="829728"/>
          </a:xfrm>
          <a:prstGeom prst="rect">
            <a:avLst/>
          </a:prstGeom>
        </p:spPr>
      </p:pic>
      <p:pic>
        <p:nvPicPr>
          <p:cNvPr id="18" name="Picture 17">
            <a:extLst>
              <a:ext uri="{FF2B5EF4-FFF2-40B4-BE49-F238E27FC236}">
                <a16:creationId xmlns:a16="http://schemas.microsoft.com/office/drawing/2014/main" id="{651D6919-281B-8FBA-FFF1-411E345CA547}"/>
              </a:ext>
            </a:extLst>
          </p:cNvPr>
          <p:cNvPicPr>
            <a:picLocks noChangeAspect="1"/>
          </p:cNvPicPr>
          <p:nvPr/>
        </p:nvPicPr>
        <p:blipFill>
          <a:blip r:embed="rId6"/>
          <a:stretch>
            <a:fillRect/>
          </a:stretch>
        </p:blipFill>
        <p:spPr>
          <a:xfrm>
            <a:off x="5823980" y="4484513"/>
            <a:ext cx="3261405" cy="829728"/>
          </a:xfrm>
          <a:prstGeom prst="rect">
            <a:avLst/>
          </a:prstGeom>
        </p:spPr>
      </p:pic>
      <p:sp>
        <p:nvSpPr>
          <p:cNvPr id="19" name="TextBox 18">
            <a:extLst>
              <a:ext uri="{FF2B5EF4-FFF2-40B4-BE49-F238E27FC236}">
                <a16:creationId xmlns:a16="http://schemas.microsoft.com/office/drawing/2014/main" id="{EFE89F45-3A37-1616-3F10-459B7921F041}"/>
              </a:ext>
            </a:extLst>
          </p:cNvPr>
          <p:cNvSpPr txBox="1"/>
          <p:nvPr/>
        </p:nvSpPr>
        <p:spPr>
          <a:xfrm>
            <a:off x="7368165" y="4154418"/>
            <a:ext cx="181729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a:t>
            </a:r>
          </a:p>
        </p:txBody>
      </p:sp>
      <p:sp>
        <p:nvSpPr>
          <p:cNvPr id="20" name="Content Placeholder 3">
            <a:extLst>
              <a:ext uri="{FF2B5EF4-FFF2-40B4-BE49-F238E27FC236}">
                <a16:creationId xmlns:a16="http://schemas.microsoft.com/office/drawing/2014/main" id="{5648EF36-24FB-5BA0-1285-757C48B3B9B0}"/>
              </a:ext>
            </a:extLst>
          </p:cNvPr>
          <p:cNvSpPr>
            <a:spLocks noGrp="1"/>
          </p:cNvSpPr>
          <p:nvPr>
            <p:ph sz="half" idx="1"/>
          </p:nvPr>
        </p:nvSpPr>
        <p:spPr>
          <a:xfrm>
            <a:off x="270063" y="5445224"/>
            <a:ext cx="8915400" cy="1499037"/>
          </a:xfrm>
        </p:spPr>
        <p:txBody>
          <a:bodyPr>
            <a:normAutofit fontScale="92500" lnSpcReduction="20000"/>
          </a:bodyPr>
          <a:lstStyle/>
          <a:p>
            <a:r>
              <a:rPr lang="en-US" sz="2000" dirty="0"/>
              <a:t>Each study event blends associated features into a context state that evolves over time, creating a </a:t>
            </a:r>
            <a:r>
              <a:rPr lang="en-US" sz="2000" b="1" dirty="0"/>
              <a:t>recency-weighted record. </a:t>
            </a:r>
          </a:p>
          <a:p>
            <a:r>
              <a:rPr lang="en-US" sz="2000" dirty="0"/>
              <a:t>At study, states of temporal context are associated with items in memory traces</a:t>
            </a:r>
          </a:p>
          <a:p>
            <a:r>
              <a:rPr lang="en-US" sz="2000" dirty="0"/>
              <a:t>At retrieval, </a:t>
            </a:r>
            <a:r>
              <a:rPr lang="en-US" sz="2000" b="1" dirty="0"/>
              <a:t>temporal context</a:t>
            </a:r>
            <a:r>
              <a:rPr lang="en-US" sz="2000" dirty="0"/>
              <a:t> is the primary cue, targeting items studied in similar contexts</a:t>
            </a:r>
          </a:p>
          <a:p>
            <a:endParaRPr lang="en-US" sz="2000" b="1" dirty="0"/>
          </a:p>
        </p:txBody>
      </p:sp>
    </p:spTree>
    <p:extLst>
      <p:ext uri="{BB962C8B-B14F-4D97-AF65-F5344CB8AC3E}">
        <p14:creationId xmlns:p14="http://schemas.microsoft.com/office/powerpoint/2010/main" val="2803140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713B7-22A6-A8F2-B7C1-1A0DC2AD38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A24-DF27-38E3-1B64-1689609906FC}"/>
              </a:ext>
            </a:extLst>
          </p:cNvPr>
          <p:cNvSpPr>
            <a:spLocks noGrp="1"/>
          </p:cNvSpPr>
          <p:nvPr>
            <p:ph type="title"/>
          </p:nvPr>
        </p:nvSpPr>
        <p:spPr>
          <a:xfrm>
            <a:off x="384175" y="260648"/>
            <a:ext cx="8375650" cy="423862"/>
          </a:xfrm>
        </p:spPr>
        <p:txBody>
          <a:bodyPr/>
          <a:lstStyle/>
          <a:p>
            <a:r>
              <a:rPr lang="en-US" dirty="0"/>
              <a:t>CMR perspective: VIT and diary as ambient, context-driven analogue to free recall</a:t>
            </a:r>
          </a:p>
        </p:txBody>
      </p:sp>
      <p:sp>
        <p:nvSpPr>
          <p:cNvPr id="5" name="Content Placeholder 4">
            <a:extLst>
              <a:ext uri="{FF2B5EF4-FFF2-40B4-BE49-F238E27FC236}">
                <a16:creationId xmlns:a16="http://schemas.microsoft.com/office/drawing/2014/main" id="{6870000C-17CA-9353-E217-98F78A463C6C}"/>
              </a:ext>
            </a:extLst>
          </p:cNvPr>
          <p:cNvSpPr>
            <a:spLocks noGrp="1"/>
          </p:cNvSpPr>
          <p:nvPr>
            <p:ph idx="1"/>
          </p:nvPr>
        </p:nvSpPr>
        <p:spPr>
          <a:xfrm>
            <a:off x="107504" y="1395413"/>
            <a:ext cx="6014277" cy="3473748"/>
          </a:xfrm>
        </p:spPr>
        <p:txBody>
          <a:bodyPr/>
          <a:lstStyle/>
          <a:p>
            <a:r>
              <a:rPr lang="en-US" dirty="0"/>
              <a:t>VIT/diary ≈ low-intentionality, context-driven</a:t>
            </a:r>
          </a:p>
          <a:p>
            <a:pPr>
              <a:spcAft>
                <a:spcPts val="0"/>
              </a:spcAft>
            </a:pPr>
            <a:r>
              <a:rPr lang="en-US" dirty="0"/>
              <a:t>Context is shaped by:</a:t>
            </a:r>
          </a:p>
          <a:p>
            <a:pPr lvl="1">
              <a:spcAft>
                <a:spcPts val="0"/>
              </a:spcAft>
            </a:pPr>
            <a:r>
              <a:rPr lang="en-US" dirty="0"/>
              <a:t>The ongoing task (digits, lab environment).</a:t>
            </a:r>
          </a:p>
          <a:p>
            <a:pPr lvl="1"/>
            <a:r>
              <a:rPr lang="en-US" dirty="0"/>
              <a:t>Occasional trauma-film or foil stills in the background.</a:t>
            </a:r>
          </a:p>
          <a:p>
            <a:r>
              <a:rPr lang="en-US" dirty="0"/>
              <a:t>An intrusion is counted only when a trauma-film item wins the competition and is strong enough to be noticed and reported.</a:t>
            </a:r>
          </a:p>
          <a:p>
            <a:pPr>
              <a:spcAft>
                <a:spcPts val="0"/>
              </a:spcAft>
            </a:pPr>
            <a:r>
              <a:rPr lang="en-US" dirty="0"/>
              <a:t>Reminder + Tetris:</a:t>
            </a:r>
          </a:p>
          <a:p>
            <a:pPr lvl="1">
              <a:spcAft>
                <a:spcPts val="0"/>
              </a:spcAft>
            </a:pPr>
            <a:r>
              <a:rPr lang="en-US" dirty="0"/>
              <a:t>Reactivate trauma context.</a:t>
            </a:r>
          </a:p>
          <a:p>
            <a:pPr lvl="1"/>
            <a:r>
              <a:rPr lang="en-US" dirty="0"/>
              <a:t>Then add many new visuospatial items perhaps more </a:t>
            </a:r>
            <a:r>
              <a:rPr lang="en-US" b="1" dirty="0"/>
              <a:t>strongly </a:t>
            </a:r>
            <a:r>
              <a:rPr lang="en-US" dirty="0"/>
              <a:t>bound into that same context region.</a:t>
            </a:r>
          </a:p>
        </p:txBody>
      </p:sp>
      <p:sp>
        <p:nvSpPr>
          <p:cNvPr id="20" name="Oval 19">
            <a:extLst>
              <a:ext uri="{FF2B5EF4-FFF2-40B4-BE49-F238E27FC236}">
                <a16:creationId xmlns:a16="http://schemas.microsoft.com/office/drawing/2014/main" id="{05B15E42-0F94-0729-E106-820265077328}"/>
              </a:ext>
            </a:extLst>
          </p:cNvPr>
          <p:cNvSpPr/>
          <p:nvPr/>
        </p:nvSpPr>
        <p:spPr>
          <a:xfrm>
            <a:off x="8457044" y="2571161"/>
            <a:ext cx="605574" cy="591671"/>
          </a:xfrm>
          <a:prstGeom prst="ellipse">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1" name="Oval 20">
            <a:extLst>
              <a:ext uri="{FF2B5EF4-FFF2-40B4-BE49-F238E27FC236}">
                <a16:creationId xmlns:a16="http://schemas.microsoft.com/office/drawing/2014/main" id="{0F9A55EE-C0CF-AB3C-E640-1EA65EA383D0}"/>
              </a:ext>
            </a:extLst>
          </p:cNvPr>
          <p:cNvSpPr/>
          <p:nvPr/>
        </p:nvSpPr>
        <p:spPr>
          <a:xfrm>
            <a:off x="7699070" y="2571161"/>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2" name="Oval 21">
            <a:extLst>
              <a:ext uri="{FF2B5EF4-FFF2-40B4-BE49-F238E27FC236}">
                <a16:creationId xmlns:a16="http://schemas.microsoft.com/office/drawing/2014/main" id="{A69CE2C4-5A1E-46F9-8889-0CF0AE25F186}"/>
              </a:ext>
            </a:extLst>
          </p:cNvPr>
          <p:cNvSpPr/>
          <p:nvPr/>
        </p:nvSpPr>
        <p:spPr>
          <a:xfrm>
            <a:off x="6986626" y="2598730"/>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3" name="Oval 22">
            <a:extLst>
              <a:ext uri="{FF2B5EF4-FFF2-40B4-BE49-F238E27FC236}">
                <a16:creationId xmlns:a16="http://schemas.microsoft.com/office/drawing/2014/main" id="{77E9929E-1A47-A626-8EC7-26218C2FFF8D}"/>
              </a:ext>
            </a:extLst>
          </p:cNvPr>
          <p:cNvSpPr/>
          <p:nvPr/>
        </p:nvSpPr>
        <p:spPr>
          <a:xfrm>
            <a:off x="6228652" y="2609616"/>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rgbClr val="050808"/>
              </a:solidFill>
            </a:endParaRPr>
          </a:p>
        </p:txBody>
      </p:sp>
      <p:sp>
        <p:nvSpPr>
          <p:cNvPr id="24" name="Oval 23">
            <a:extLst>
              <a:ext uri="{FF2B5EF4-FFF2-40B4-BE49-F238E27FC236}">
                <a16:creationId xmlns:a16="http://schemas.microsoft.com/office/drawing/2014/main" id="{71D4A030-FA8B-1E3B-C3F0-625C2A3929D4}"/>
              </a:ext>
            </a:extLst>
          </p:cNvPr>
          <p:cNvSpPr/>
          <p:nvPr/>
        </p:nvSpPr>
        <p:spPr>
          <a:xfrm>
            <a:off x="8457044" y="1711223"/>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5" name="Oval 24">
            <a:extLst>
              <a:ext uri="{FF2B5EF4-FFF2-40B4-BE49-F238E27FC236}">
                <a16:creationId xmlns:a16="http://schemas.microsoft.com/office/drawing/2014/main" id="{72F481DB-963C-136C-FD13-555C803C4F54}"/>
              </a:ext>
            </a:extLst>
          </p:cNvPr>
          <p:cNvSpPr/>
          <p:nvPr/>
        </p:nvSpPr>
        <p:spPr>
          <a:xfrm>
            <a:off x="7699070" y="1711223"/>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6" name="Oval 25">
            <a:extLst>
              <a:ext uri="{FF2B5EF4-FFF2-40B4-BE49-F238E27FC236}">
                <a16:creationId xmlns:a16="http://schemas.microsoft.com/office/drawing/2014/main" id="{8637E120-1A71-C907-0224-017A2CCC1E38}"/>
              </a:ext>
            </a:extLst>
          </p:cNvPr>
          <p:cNvSpPr/>
          <p:nvPr/>
        </p:nvSpPr>
        <p:spPr>
          <a:xfrm>
            <a:off x="6986626" y="173879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7" name="Oval 26">
            <a:extLst>
              <a:ext uri="{FF2B5EF4-FFF2-40B4-BE49-F238E27FC236}">
                <a16:creationId xmlns:a16="http://schemas.microsoft.com/office/drawing/2014/main" id="{8C5D4D40-0319-AB4D-8138-984156861D93}"/>
              </a:ext>
            </a:extLst>
          </p:cNvPr>
          <p:cNvSpPr/>
          <p:nvPr/>
        </p:nvSpPr>
        <p:spPr>
          <a:xfrm>
            <a:off x="6228652" y="1749678"/>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cxnSp>
        <p:nvCxnSpPr>
          <p:cNvPr id="28" name="Straight Arrow Connector 27">
            <a:extLst>
              <a:ext uri="{FF2B5EF4-FFF2-40B4-BE49-F238E27FC236}">
                <a16:creationId xmlns:a16="http://schemas.microsoft.com/office/drawing/2014/main" id="{4153BED6-F923-EDD5-EC2B-0551333CDB6C}"/>
              </a:ext>
            </a:extLst>
          </p:cNvPr>
          <p:cNvCxnSpPr>
            <a:cxnSpLocks/>
            <a:stCxn id="24" idx="4"/>
            <a:endCxn id="23" idx="0"/>
          </p:cNvCxnSpPr>
          <p:nvPr/>
        </p:nvCxnSpPr>
        <p:spPr>
          <a:xfrm flipH="1">
            <a:off x="6531439" y="2302894"/>
            <a:ext cx="2228392"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6F689FD4-6696-DD30-DAF5-428D6DEBFD24}"/>
              </a:ext>
            </a:extLst>
          </p:cNvPr>
          <p:cNvCxnSpPr>
            <a:cxnSpLocks/>
            <a:stCxn id="24" idx="4"/>
            <a:endCxn id="22" idx="0"/>
          </p:cNvCxnSpPr>
          <p:nvPr/>
        </p:nvCxnSpPr>
        <p:spPr>
          <a:xfrm flipH="1">
            <a:off x="7289413" y="2302894"/>
            <a:ext cx="1470418" cy="295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9C27B47-3C5D-2001-480C-44D3A112D256}"/>
              </a:ext>
            </a:extLst>
          </p:cNvPr>
          <p:cNvCxnSpPr>
            <a:cxnSpLocks/>
            <a:stCxn id="24" idx="4"/>
            <a:endCxn id="21" idx="0"/>
          </p:cNvCxnSpPr>
          <p:nvPr/>
        </p:nvCxnSpPr>
        <p:spPr>
          <a:xfrm flipH="1">
            <a:off x="8001857" y="2302894"/>
            <a:ext cx="757974" cy="268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73DB89E-13AA-E075-CF3B-7C79AB353E45}"/>
              </a:ext>
            </a:extLst>
          </p:cNvPr>
          <p:cNvCxnSpPr>
            <a:cxnSpLocks/>
            <a:stCxn id="24" idx="4"/>
            <a:endCxn id="20" idx="0"/>
          </p:cNvCxnSpPr>
          <p:nvPr/>
        </p:nvCxnSpPr>
        <p:spPr>
          <a:xfrm>
            <a:off x="8759831" y="2302893"/>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5B12DFC-CC74-48B4-2413-AF951484E3F5}"/>
              </a:ext>
            </a:extLst>
          </p:cNvPr>
          <p:cNvSpPr txBox="1"/>
          <p:nvPr/>
        </p:nvSpPr>
        <p:spPr>
          <a:xfrm>
            <a:off x="6228651" y="2716756"/>
            <a:ext cx="3023867" cy="369332"/>
          </a:xfrm>
          <a:prstGeom prst="rect">
            <a:avLst/>
          </a:prstGeom>
          <a:noFill/>
        </p:spPr>
        <p:txBody>
          <a:bodyPr wrap="square">
            <a:spAutoFit/>
          </a:bodyPr>
          <a:lstStyle/>
          <a:p>
            <a:r>
              <a:rPr lang="en-US" dirty="0">
                <a:solidFill>
                  <a:srgbClr val="050808"/>
                </a:solidFill>
              </a:rPr>
              <a:t>Item     Item    Item     </a:t>
            </a:r>
            <a:r>
              <a:rPr lang="en-US" dirty="0" err="1">
                <a:solidFill>
                  <a:srgbClr val="050808"/>
                </a:solidFill>
              </a:rPr>
              <a:t>tetris</a:t>
            </a:r>
            <a:endParaRPr lang="en-US" dirty="0">
              <a:solidFill>
                <a:srgbClr val="050808"/>
              </a:solidFill>
            </a:endParaRPr>
          </a:p>
        </p:txBody>
      </p:sp>
      <p:sp>
        <p:nvSpPr>
          <p:cNvPr id="33" name="TextBox 32">
            <a:extLst>
              <a:ext uri="{FF2B5EF4-FFF2-40B4-BE49-F238E27FC236}">
                <a16:creationId xmlns:a16="http://schemas.microsoft.com/office/drawing/2014/main" id="{6B5CBED3-7F08-C90B-4A0F-4AA68DB415BF}"/>
              </a:ext>
            </a:extLst>
          </p:cNvPr>
          <p:cNvSpPr txBox="1"/>
          <p:nvPr/>
        </p:nvSpPr>
        <p:spPr>
          <a:xfrm>
            <a:off x="6370763" y="1834064"/>
            <a:ext cx="2773237" cy="369332"/>
          </a:xfrm>
          <a:prstGeom prst="rect">
            <a:avLst/>
          </a:prstGeom>
          <a:noFill/>
        </p:spPr>
        <p:txBody>
          <a:bodyPr wrap="square">
            <a:spAutoFit/>
          </a:bodyPr>
          <a:lstStyle/>
          <a:p>
            <a:r>
              <a:rPr lang="en-US" dirty="0">
                <a:solidFill>
                  <a:srgbClr val="050808"/>
                </a:solidFill>
              </a:rPr>
              <a:t>C1       C2      C3        C4</a:t>
            </a:r>
          </a:p>
        </p:txBody>
      </p:sp>
      <p:sp>
        <p:nvSpPr>
          <p:cNvPr id="34" name="TextBox 33">
            <a:extLst>
              <a:ext uri="{FF2B5EF4-FFF2-40B4-BE49-F238E27FC236}">
                <a16:creationId xmlns:a16="http://schemas.microsoft.com/office/drawing/2014/main" id="{4FB5CB32-B89C-7CF3-72DD-48BBBCEC115E}"/>
              </a:ext>
            </a:extLst>
          </p:cNvPr>
          <p:cNvSpPr txBox="1"/>
          <p:nvPr/>
        </p:nvSpPr>
        <p:spPr>
          <a:xfrm>
            <a:off x="6121781" y="3429000"/>
            <a:ext cx="3130737" cy="2308324"/>
          </a:xfrm>
          <a:prstGeom prst="rect">
            <a:avLst/>
          </a:prstGeom>
          <a:noFill/>
        </p:spPr>
        <p:txBody>
          <a:bodyPr wrap="square">
            <a:spAutoFit/>
          </a:bodyPr>
          <a:lstStyle/>
          <a:p>
            <a:pPr algn="ctr"/>
            <a:r>
              <a:rPr lang="en-US" dirty="0"/>
              <a:t>Key idea: </a:t>
            </a:r>
          </a:p>
          <a:p>
            <a:pPr algn="ctr"/>
            <a:r>
              <a:rPr lang="en-US" dirty="0"/>
              <a:t>Strongly associate NEUTRAL experiences with same context units as TRAUMA experiences, so later they </a:t>
            </a:r>
            <a:r>
              <a:rPr lang="en-US" b="1" dirty="0"/>
              <a:t>successfully compete for retrieval when context recurs.</a:t>
            </a:r>
          </a:p>
        </p:txBody>
      </p:sp>
      <p:cxnSp>
        <p:nvCxnSpPr>
          <p:cNvPr id="35" name="Straight Arrow Connector 34">
            <a:extLst>
              <a:ext uri="{FF2B5EF4-FFF2-40B4-BE49-F238E27FC236}">
                <a16:creationId xmlns:a16="http://schemas.microsoft.com/office/drawing/2014/main" id="{3E457889-AFF9-E42A-70AF-67727FEA705E}"/>
              </a:ext>
            </a:extLst>
          </p:cNvPr>
          <p:cNvCxnSpPr>
            <a:cxnSpLocks/>
          </p:cNvCxnSpPr>
          <p:nvPr/>
        </p:nvCxnSpPr>
        <p:spPr>
          <a:xfrm>
            <a:off x="8759825" y="2341349"/>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B445ECC9-05FF-4443-D22B-4C8FA9E6D094}"/>
              </a:ext>
            </a:extLst>
          </p:cNvPr>
          <p:cNvCxnSpPr>
            <a:cxnSpLocks/>
          </p:cNvCxnSpPr>
          <p:nvPr/>
        </p:nvCxnSpPr>
        <p:spPr>
          <a:xfrm>
            <a:off x="8745372" y="2302893"/>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6722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B371C-D93F-ECEE-2FF6-871724BB0705}"/>
              </a:ext>
            </a:extLst>
          </p:cNvPr>
          <p:cNvSpPr>
            <a:spLocks noGrp="1"/>
          </p:cNvSpPr>
          <p:nvPr>
            <p:ph type="title"/>
          </p:nvPr>
        </p:nvSpPr>
        <p:spPr>
          <a:xfrm>
            <a:off x="384175" y="260648"/>
            <a:ext cx="8375650" cy="423862"/>
          </a:xfrm>
        </p:spPr>
        <p:txBody>
          <a:bodyPr/>
          <a:lstStyle/>
          <a:p>
            <a:r>
              <a:rPr lang="en-US" dirty="0"/>
              <a:t>CMR perspective: modified recognition</a:t>
            </a:r>
            <a:br>
              <a:rPr lang="en-US" dirty="0"/>
            </a:br>
            <a:r>
              <a:rPr lang="en-US" dirty="0"/>
              <a:t> </a:t>
            </a:r>
            <a:r>
              <a:rPr lang="en-US" i="1" u="sng" dirty="0"/>
              <a:t>as item-driven</a:t>
            </a:r>
            <a:r>
              <a:rPr lang="en-US" dirty="0"/>
              <a:t> retrieval of contexts</a:t>
            </a:r>
          </a:p>
        </p:txBody>
      </p:sp>
      <p:sp>
        <p:nvSpPr>
          <p:cNvPr id="5" name="Content Placeholder 4">
            <a:extLst>
              <a:ext uri="{FF2B5EF4-FFF2-40B4-BE49-F238E27FC236}">
                <a16:creationId xmlns:a16="http://schemas.microsoft.com/office/drawing/2014/main" id="{F225959F-B335-7019-887C-DFBF715AFCFF}"/>
              </a:ext>
            </a:extLst>
          </p:cNvPr>
          <p:cNvSpPr>
            <a:spLocks noGrp="1"/>
          </p:cNvSpPr>
          <p:nvPr>
            <p:ph idx="1"/>
          </p:nvPr>
        </p:nvSpPr>
        <p:spPr>
          <a:xfrm>
            <a:off x="107504" y="1395413"/>
            <a:ext cx="6014277" cy="3473748"/>
          </a:xfrm>
        </p:spPr>
        <p:txBody>
          <a:bodyPr/>
          <a:lstStyle/>
          <a:p>
            <a:pPr>
              <a:spcAft>
                <a:spcPts val="0"/>
              </a:spcAft>
            </a:pPr>
            <a:r>
              <a:rPr lang="en-US" dirty="0"/>
              <a:t>Each recognition trial:</a:t>
            </a:r>
          </a:p>
          <a:p>
            <a:pPr lvl="1">
              <a:spcAft>
                <a:spcPts val="0"/>
              </a:spcAft>
            </a:pPr>
            <a:r>
              <a:rPr lang="en-US" dirty="0"/>
              <a:t>Cue still nudges context toward trauma or foil episode.</a:t>
            </a:r>
          </a:p>
          <a:p>
            <a:pPr lvl="1"/>
            <a:r>
              <a:rPr lang="en-US" dirty="0"/>
              <a:t>Target still then acts as a strong item probe.</a:t>
            </a:r>
          </a:p>
          <a:p>
            <a:pPr>
              <a:spcAft>
                <a:spcPts val="0"/>
              </a:spcAft>
            </a:pPr>
            <a:r>
              <a:rPr lang="en-US" dirty="0"/>
              <a:t>In a retrieved-context model:</a:t>
            </a:r>
          </a:p>
          <a:p>
            <a:pPr lvl="1">
              <a:spcAft>
                <a:spcPts val="0"/>
              </a:spcAft>
            </a:pPr>
            <a:r>
              <a:rPr lang="en-US" dirty="0"/>
              <a:t>The probe retrieves its associated context.</a:t>
            </a:r>
          </a:p>
          <a:p>
            <a:pPr lvl="1"/>
            <a:r>
              <a:rPr lang="en-US" dirty="0"/>
              <a:t>The decision compares updated context to reference to judge ‘film vs non-film’.</a:t>
            </a:r>
          </a:p>
          <a:p>
            <a:pPr>
              <a:spcAft>
                <a:spcPts val="600"/>
              </a:spcAft>
            </a:pPr>
            <a:r>
              <a:rPr lang="en-US" dirty="0"/>
              <a:t>Tetris traces share films' context features. But since they but don't share films’ item features, there’s no interference!</a:t>
            </a:r>
          </a:p>
          <a:p>
            <a:pPr>
              <a:spcAft>
                <a:spcPts val="600"/>
              </a:spcAft>
            </a:pPr>
            <a:r>
              <a:rPr lang="en-US" dirty="0"/>
              <a:t>Key idea: Interfering events disrupt </a:t>
            </a:r>
            <a:r>
              <a:rPr lang="en-US" b="1" dirty="0"/>
              <a:t>Context-&gt;Item </a:t>
            </a:r>
            <a:r>
              <a:rPr lang="en-US" dirty="0"/>
              <a:t>but </a:t>
            </a:r>
            <a:r>
              <a:rPr lang="en-US" b="1" i="1" u="sng" dirty="0"/>
              <a:t>not</a:t>
            </a:r>
            <a:r>
              <a:rPr lang="en-US" dirty="0"/>
              <a:t> </a:t>
            </a:r>
            <a:r>
              <a:rPr lang="en-US" b="1" dirty="0"/>
              <a:t>Item-&gt;Context a</a:t>
            </a:r>
            <a:r>
              <a:rPr lang="en-US" dirty="0"/>
              <a:t>ssociations!</a:t>
            </a:r>
            <a:endParaRPr lang="en-US" b="1" dirty="0"/>
          </a:p>
        </p:txBody>
      </p:sp>
      <p:sp>
        <p:nvSpPr>
          <p:cNvPr id="6" name="Oval 5">
            <a:extLst>
              <a:ext uri="{FF2B5EF4-FFF2-40B4-BE49-F238E27FC236}">
                <a16:creationId xmlns:a16="http://schemas.microsoft.com/office/drawing/2014/main" id="{4AFF7DCD-9E41-3AEF-A433-B19F8D96C2FD}"/>
              </a:ext>
            </a:extLst>
          </p:cNvPr>
          <p:cNvSpPr/>
          <p:nvPr/>
        </p:nvSpPr>
        <p:spPr>
          <a:xfrm>
            <a:off x="8302549" y="2590197"/>
            <a:ext cx="605574" cy="591671"/>
          </a:xfrm>
          <a:prstGeom prst="ellipse">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7" name="Oval 6">
            <a:extLst>
              <a:ext uri="{FF2B5EF4-FFF2-40B4-BE49-F238E27FC236}">
                <a16:creationId xmlns:a16="http://schemas.microsoft.com/office/drawing/2014/main" id="{DED525A8-4C39-56DC-AB47-02166A395CE4}"/>
              </a:ext>
            </a:extLst>
          </p:cNvPr>
          <p:cNvSpPr/>
          <p:nvPr/>
        </p:nvSpPr>
        <p:spPr>
          <a:xfrm>
            <a:off x="7544575" y="2590197"/>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8" name="Oval 7">
            <a:extLst>
              <a:ext uri="{FF2B5EF4-FFF2-40B4-BE49-F238E27FC236}">
                <a16:creationId xmlns:a16="http://schemas.microsoft.com/office/drawing/2014/main" id="{78D388E1-64C8-D248-0C06-8969ABFA68F9}"/>
              </a:ext>
            </a:extLst>
          </p:cNvPr>
          <p:cNvSpPr/>
          <p:nvPr/>
        </p:nvSpPr>
        <p:spPr>
          <a:xfrm>
            <a:off x="6832131" y="2617766"/>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9" name="Oval 8">
            <a:extLst>
              <a:ext uri="{FF2B5EF4-FFF2-40B4-BE49-F238E27FC236}">
                <a16:creationId xmlns:a16="http://schemas.microsoft.com/office/drawing/2014/main" id="{C68349AF-7605-B22E-5E53-A6E0186C39D2}"/>
              </a:ext>
            </a:extLst>
          </p:cNvPr>
          <p:cNvSpPr/>
          <p:nvPr/>
        </p:nvSpPr>
        <p:spPr>
          <a:xfrm>
            <a:off x="6074157" y="262865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rgbClr val="050808"/>
              </a:solidFill>
            </a:endParaRPr>
          </a:p>
        </p:txBody>
      </p:sp>
      <p:sp>
        <p:nvSpPr>
          <p:cNvPr id="10" name="Oval 9">
            <a:extLst>
              <a:ext uri="{FF2B5EF4-FFF2-40B4-BE49-F238E27FC236}">
                <a16:creationId xmlns:a16="http://schemas.microsoft.com/office/drawing/2014/main" id="{85C9B618-50CD-6B58-916A-F6CE4B1A2CF1}"/>
              </a:ext>
            </a:extLst>
          </p:cNvPr>
          <p:cNvSpPr/>
          <p:nvPr/>
        </p:nvSpPr>
        <p:spPr>
          <a:xfrm>
            <a:off x="8302549" y="17302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11" name="Oval 10">
            <a:extLst>
              <a:ext uri="{FF2B5EF4-FFF2-40B4-BE49-F238E27FC236}">
                <a16:creationId xmlns:a16="http://schemas.microsoft.com/office/drawing/2014/main" id="{42BAB97E-1A26-3151-2FEC-9F1736B57441}"/>
              </a:ext>
            </a:extLst>
          </p:cNvPr>
          <p:cNvSpPr/>
          <p:nvPr/>
        </p:nvSpPr>
        <p:spPr>
          <a:xfrm>
            <a:off x="7544575" y="17302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12" name="Oval 11">
            <a:extLst>
              <a:ext uri="{FF2B5EF4-FFF2-40B4-BE49-F238E27FC236}">
                <a16:creationId xmlns:a16="http://schemas.microsoft.com/office/drawing/2014/main" id="{E8CC8691-BCD8-8EA3-E612-4242CF6AB74D}"/>
              </a:ext>
            </a:extLst>
          </p:cNvPr>
          <p:cNvSpPr/>
          <p:nvPr/>
        </p:nvSpPr>
        <p:spPr>
          <a:xfrm>
            <a:off x="6832131" y="1757828"/>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13" name="Oval 12">
            <a:extLst>
              <a:ext uri="{FF2B5EF4-FFF2-40B4-BE49-F238E27FC236}">
                <a16:creationId xmlns:a16="http://schemas.microsoft.com/office/drawing/2014/main" id="{2258A890-0883-3E07-7CC2-B3E3237D3717}"/>
              </a:ext>
            </a:extLst>
          </p:cNvPr>
          <p:cNvSpPr/>
          <p:nvPr/>
        </p:nvSpPr>
        <p:spPr>
          <a:xfrm>
            <a:off x="6074157" y="1768714"/>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cxnSp>
        <p:nvCxnSpPr>
          <p:cNvPr id="14" name="Straight Arrow Connector 13">
            <a:extLst>
              <a:ext uri="{FF2B5EF4-FFF2-40B4-BE49-F238E27FC236}">
                <a16:creationId xmlns:a16="http://schemas.microsoft.com/office/drawing/2014/main" id="{8FC39BB4-7B47-9B7E-21F4-2D9AA9A75F72}"/>
              </a:ext>
            </a:extLst>
          </p:cNvPr>
          <p:cNvCxnSpPr>
            <a:stCxn id="9" idx="0"/>
            <a:endCxn id="13" idx="4"/>
          </p:cNvCxnSpPr>
          <p:nvPr/>
        </p:nvCxnSpPr>
        <p:spPr>
          <a:xfrm flipV="1">
            <a:off x="6376944" y="2360385"/>
            <a:ext cx="0" cy="268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A85D8B1-DB34-05EA-D538-AEF2728D605C}"/>
              </a:ext>
            </a:extLst>
          </p:cNvPr>
          <p:cNvCxnSpPr>
            <a:stCxn id="9" idx="0"/>
            <a:endCxn id="12" idx="4"/>
          </p:cNvCxnSpPr>
          <p:nvPr/>
        </p:nvCxnSpPr>
        <p:spPr>
          <a:xfrm flipV="1">
            <a:off x="6376944" y="2349499"/>
            <a:ext cx="757974" cy="2791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B51125CC-6AAA-F9F1-B2C2-73A303F4B7D1}"/>
              </a:ext>
            </a:extLst>
          </p:cNvPr>
          <p:cNvCxnSpPr>
            <a:stCxn id="9" idx="0"/>
            <a:endCxn id="11" idx="4"/>
          </p:cNvCxnSpPr>
          <p:nvPr/>
        </p:nvCxnSpPr>
        <p:spPr>
          <a:xfrm flipV="1">
            <a:off x="6376944" y="2321930"/>
            <a:ext cx="1470418"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8E981AB-30A5-AA95-F420-13AFF1E284B9}"/>
              </a:ext>
            </a:extLst>
          </p:cNvPr>
          <p:cNvCxnSpPr>
            <a:stCxn id="9" idx="0"/>
            <a:endCxn id="10" idx="4"/>
          </p:cNvCxnSpPr>
          <p:nvPr/>
        </p:nvCxnSpPr>
        <p:spPr>
          <a:xfrm flipV="1">
            <a:off x="6376944" y="2321930"/>
            <a:ext cx="2228392"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26CEC244-1968-6127-9427-ACCD37B6B4A6}"/>
              </a:ext>
            </a:extLst>
          </p:cNvPr>
          <p:cNvSpPr txBox="1"/>
          <p:nvPr/>
        </p:nvSpPr>
        <p:spPr>
          <a:xfrm>
            <a:off x="6074156" y="2735792"/>
            <a:ext cx="3023867" cy="369332"/>
          </a:xfrm>
          <a:prstGeom prst="rect">
            <a:avLst/>
          </a:prstGeom>
          <a:noFill/>
        </p:spPr>
        <p:txBody>
          <a:bodyPr wrap="square">
            <a:spAutoFit/>
          </a:bodyPr>
          <a:lstStyle/>
          <a:p>
            <a:r>
              <a:rPr lang="en-US" dirty="0">
                <a:solidFill>
                  <a:srgbClr val="050808"/>
                </a:solidFill>
              </a:rPr>
              <a:t>Item     Item    Item     </a:t>
            </a:r>
            <a:r>
              <a:rPr lang="en-US" dirty="0" err="1">
                <a:solidFill>
                  <a:srgbClr val="050808"/>
                </a:solidFill>
              </a:rPr>
              <a:t>tetris</a:t>
            </a:r>
            <a:endParaRPr lang="en-US" dirty="0">
              <a:solidFill>
                <a:srgbClr val="050808"/>
              </a:solidFill>
            </a:endParaRPr>
          </a:p>
        </p:txBody>
      </p:sp>
      <p:sp>
        <p:nvSpPr>
          <p:cNvPr id="19" name="TextBox 18">
            <a:extLst>
              <a:ext uri="{FF2B5EF4-FFF2-40B4-BE49-F238E27FC236}">
                <a16:creationId xmlns:a16="http://schemas.microsoft.com/office/drawing/2014/main" id="{9BE901E8-3CC2-1465-AB95-F4ACC1F6AA48}"/>
              </a:ext>
            </a:extLst>
          </p:cNvPr>
          <p:cNvSpPr txBox="1"/>
          <p:nvPr/>
        </p:nvSpPr>
        <p:spPr>
          <a:xfrm>
            <a:off x="6216268" y="1853100"/>
            <a:ext cx="2773237" cy="369332"/>
          </a:xfrm>
          <a:prstGeom prst="rect">
            <a:avLst/>
          </a:prstGeom>
          <a:noFill/>
        </p:spPr>
        <p:txBody>
          <a:bodyPr wrap="square">
            <a:spAutoFit/>
          </a:bodyPr>
          <a:lstStyle/>
          <a:p>
            <a:r>
              <a:rPr lang="en-US" dirty="0">
                <a:solidFill>
                  <a:srgbClr val="050808"/>
                </a:solidFill>
              </a:rPr>
              <a:t>C1       C2      C3        C4</a:t>
            </a:r>
          </a:p>
        </p:txBody>
      </p:sp>
      <p:sp>
        <p:nvSpPr>
          <p:cNvPr id="45" name="Oval 44">
            <a:extLst>
              <a:ext uri="{FF2B5EF4-FFF2-40B4-BE49-F238E27FC236}">
                <a16:creationId xmlns:a16="http://schemas.microsoft.com/office/drawing/2014/main" id="{23A4980E-B18A-EB32-1C99-1114E325EDD1}"/>
              </a:ext>
            </a:extLst>
          </p:cNvPr>
          <p:cNvSpPr/>
          <p:nvPr/>
        </p:nvSpPr>
        <p:spPr>
          <a:xfrm>
            <a:off x="8350174" y="4897797"/>
            <a:ext cx="605574" cy="591671"/>
          </a:xfrm>
          <a:prstGeom prst="ellipse">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46" name="Oval 45">
            <a:extLst>
              <a:ext uri="{FF2B5EF4-FFF2-40B4-BE49-F238E27FC236}">
                <a16:creationId xmlns:a16="http://schemas.microsoft.com/office/drawing/2014/main" id="{937BBB98-625D-9F6D-D912-CB8C571A4D0C}"/>
              </a:ext>
            </a:extLst>
          </p:cNvPr>
          <p:cNvSpPr/>
          <p:nvPr/>
        </p:nvSpPr>
        <p:spPr>
          <a:xfrm>
            <a:off x="7592200" y="4897797"/>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47" name="Oval 46">
            <a:extLst>
              <a:ext uri="{FF2B5EF4-FFF2-40B4-BE49-F238E27FC236}">
                <a16:creationId xmlns:a16="http://schemas.microsoft.com/office/drawing/2014/main" id="{D72F0291-7E2E-1E6A-AB7C-83156CF95D0E}"/>
              </a:ext>
            </a:extLst>
          </p:cNvPr>
          <p:cNvSpPr/>
          <p:nvPr/>
        </p:nvSpPr>
        <p:spPr>
          <a:xfrm>
            <a:off x="6879756" y="4925366"/>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48" name="Oval 47">
            <a:extLst>
              <a:ext uri="{FF2B5EF4-FFF2-40B4-BE49-F238E27FC236}">
                <a16:creationId xmlns:a16="http://schemas.microsoft.com/office/drawing/2014/main" id="{AAD95081-3241-DD0F-F0C9-751165C68CF4}"/>
              </a:ext>
            </a:extLst>
          </p:cNvPr>
          <p:cNvSpPr/>
          <p:nvPr/>
        </p:nvSpPr>
        <p:spPr>
          <a:xfrm>
            <a:off x="6121782" y="493625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rgbClr val="050808"/>
              </a:solidFill>
            </a:endParaRPr>
          </a:p>
        </p:txBody>
      </p:sp>
      <p:sp>
        <p:nvSpPr>
          <p:cNvPr id="49" name="Oval 48">
            <a:extLst>
              <a:ext uri="{FF2B5EF4-FFF2-40B4-BE49-F238E27FC236}">
                <a16:creationId xmlns:a16="http://schemas.microsoft.com/office/drawing/2014/main" id="{3030EA42-7739-CF1E-AD28-16D71E05A762}"/>
              </a:ext>
            </a:extLst>
          </p:cNvPr>
          <p:cNvSpPr/>
          <p:nvPr/>
        </p:nvSpPr>
        <p:spPr>
          <a:xfrm>
            <a:off x="8350174" y="40378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50" name="Oval 49">
            <a:extLst>
              <a:ext uri="{FF2B5EF4-FFF2-40B4-BE49-F238E27FC236}">
                <a16:creationId xmlns:a16="http://schemas.microsoft.com/office/drawing/2014/main" id="{2294F03B-F843-BF13-ABD5-A8147F919094}"/>
              </a:ext>
            </a:extLst>
          </p:cNvPr>
          <p:cNvSpPr/>
          <p:nvPr/>
        </p:nvSpPr>
        <p:spPr>
          <a:xfrm>
            <a:off x="7592200" y="40378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51" name="Oval 50">
            <a:extLst>
              <a:ext uri="{FF2B5EF4-FFF2-40B4-BE49-F238E27FC236}">
                <a16:creationId xmlns:a16="http://schemas.microsoft.com/office/drawing/2014/main" id="{EC40CF68-9C2E-7F1D-21D1-5FFC60C1F1C6}"/>
              </a:ext>
            </a:extLst>
          </p:cNvPr>
          <p:cNvSpPr/>
          <p:nvPr/>
        </p:nvSpPr>
        <p:spPr>
          <a:xfrm>
            <a:off x="6879756" y="4065428"/>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52" name="Oval 51">
            <a:extLst>
              <a:ext uri="{FF2B5EF4-FFF2-40B4-BE49-F238E27FC236}">
                <a16:creationId xmlns:a16="http://schemas.microsoft.com/office/drawing/2014/main" id="{5477DC98-4074-A71E-1BFC-FBE2BA31545B}"/>
              </a:ext>
            </a:extLst>
          </p:cNvPr>
          <p:cNvSpPr/>
          <p:nvPr/>
        </p:nvSpPr>
        <p:spPr>
          <a:xfrm>
            <a:off x="6121782" y="4076314"/>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cxnSp>
        <p:nvCxnSpPr>
          <p:cNvPr id="53" name="Straight Arrow Connector 52">
            <a:extLst>
              <a:ext uri="{FF2B5EF4-FFF2-40B4-BE49-F238E27FC236}">
                <a16:creationId xmlns:a16="http://schemas.microsoft.com/office/drawing/2014/main" id="{1DA61252-B7D3-2713-25B4-C2AC1BF57B50}"/>
              </a:ext>
            </a:extLst>
          </p:cNvPr>
          <p:cNvCxnSpPr>
            <a:cxnSpLocks/>
            <a:stCxn id="49" idx="4"/>
            <a:endCxn id="48" idx="0"/>
          </p:cNvCxnSpPr>
          <p:nvPr/>
        </p:nvCxnSpPr>
        <p:spPr>
          <a:xfrm flipH="1">
            <a:off x="6424569" y="4629530"/>
            <a:ext cx="2228392"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BDCECB09-C16A-7219-A776-E0A39EF25954}"/>
              </a:ext>
            </a:extLst>
          </p:cNvPr>
          <p:cNvCxnSpPr>
            <a:cxnSpLocks/>
            <a:stCxn id="49" idx="4"/>
            <a:endCxn id="47" idx="0"/>
          </p:cNvCxnSpPr>
          <p:nvPr/>
        </p:nvCxnSpPr>
        <p:spPr>
          <a:xfrm flipH="1">
            <a:off x="7182543" y="4629530"/>
            <a:ext cx="1470418" cy="295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782339F4-115C-3AB9-ECB1-3B346EC66027}"/>
              </a:ext>
            </a:extLst>
          </p:cNvPr>
          <p:cNvCxnSpPr>
            <a:cxnSpLocks/>
            <a:stCxn id="49" idx="4"/>
            <a:endCxn id="46" idx="0"/>
          </p:cNvCxnSpPr>
          <p:nvPr/>
        </p:nvCxnSpPr>
        <p:spPr>
          <a:xfrm flipH="1">
            <a:off x="7894987" y="4629530"/>
            <a:ext cx="757974" cy="268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3AFB8CAE-DD7B-AF03-6955-31002B432174}"/>
              </a:ext>
            </a:extLst>
          </p:cNvPr>
          <p:cNvCxnSpPr>
            <a:cxnSpLocks/>
            <a:stCxn id="49" idx="4"/>
            <a:endCxn id="45" idx="0"/>
          </p:cNvCxnSpPr>
          <p:nvPr/>
        </p:nvCxnSpPr>
        <p:spPr>
          <a:xfrm>
            <a:off x="8652961" y="4629529"/>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8DE7BAAF-082F-108C-2F11-2FDA1BA2A942}"/>
              </a:ext>
            </a:extLst>
          </p:cNvPr>
          <p:cNvSpPr txBox="1"/>
          <p:nvPr/>
        </p:nvSpPr>
        <p:spPr>
          <a:xfrm>
            <a:off x="6121781" y="5043392"/>
            <a:ext cx="3023867" cy="369332"/>
          </a:xfrm>
          <a:prstGeom prst="rect">
            <a:avLst/>
          </a:prstGeom>
          <a:noFill/>
        </p:spPr>
        <p:txBody>
          <a:bodyPr wrap="square">
            <a:spAutoFit/>
          </a:bodyPr>
          <a:lstStyle/>
          <a:p>
            <a:r>
              <a:rPr lang="en-US" dirty="0">
                <a:solidFill>
                  <a:srgbClr val="050808"/>
                </a:solidFill>
              </a:rPr>
              <a:t>Item     Item    Item     </a:t>
            </a:r>
            <a:r>
              <a:rPr lang="en-US" dirty="0" err="1">
                <a:solidFill>
                  <a:srgbClr val="050808"/>
                </a:solidFill>
              </a:rPr>
              <a:t>tetris</a:t>
            </a:r>
            <a:endParaRPr lang="en-US" dirty="0">
              <a:solidFill>
                <a:srgbClr val="050808"/>
              </a:solidFill>
            </a:endParaRPr>
          </a:p>
        </p:txBody>
      </p:sp>
      <p:sp>
        <p:nvSpPr>
          <p:cNvPr id="58" name="TextBox 57">
            <a:extLst>
              <a:ext uri="{FF2B5EF4-FFF2-40B4-BE49-F238E27FC236}">
                <a16:creationId xmlns:a16="http://schemas.microsoft.com/office/drawing/2014/main" id="{37899EED-526C-B9CE-67E8-6627F3BD5530}"/>
              </a:ext>
            </a:extLst>
          </p:cNvPr>
          <p:cNvSpPr txBox="1"/>
          <p:nvPr/>
        </p:nvSpPr>
        <p:spPr>
          <a:xfrm>
            <a:off x="6263893" y="4160700"/>
            <a:ext cx="2773237" cy="369332"/>
          </a:xfrm>
          <a:prstGeom prst="rect">
            <a:avLst/>
          </a:prstGeom>
          <a:noFill/>
        </p:spPr>
        <p:txBody>
          <a:bodyPr wrap="square">
            <a:spAutoFit/>
          </a:bodyPr>
          <a:lstStyle/>
          <a:p>
            <a:r>
              <a:rPr lang="en-US" dirty="0">
                <a:solidFill>
                  <a:srgbClr val="050808"/>
                </a:solidFill>
              </a:rPr>
              <a:t>C1       C2      C3        C4</a:t>
            </a:r>
          </a:p>
        </p:txBody>
      </p:sp>
      <p:cxnSp>
        <p:nvCxnSpPr>
          <p:cNvPr id="59" name="Straight Arrow Connector 58">
            <a:extLst>
              <a:ext uri="{FF2B5EF4-FFF2-40B4-BE49-F238E27FC236}">
                <a16:creationId xmlns:a16="http://schemas.microsoft.com/office/drawing/2014/main" id="{E31CBE35-F215-1ECC-8CBF-3476A2EE3005}"/>
              </a:ext>
            </a:extLst>
          </p:cNvPr>
          <p:cNvCxnSpPr>
            <a:cxnSpLocks/>
          </p:cNvCxnSpPr>
          <p:nvPr/>
        </p:nvCxnSpPr>
        <p:spPr>
          <a:xfrm>
            <a:off x="8652955" y="4667985"/>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71F47889-56F3-D252-013B-F590CD69DFEA}"/>
              </a:ext>
            </a:extLst>
          </p:cNvPr>
          <p:cNvCxnSpPr>
            <a:cxnSpLocks/>
          </p:cNvCxnSpPr>
          <p:nvPr/>
        </p:nvCxnSpPr>
        <p:spPr>
          <a:xfrm>
            <a:off x="8638502" y="4629529"/>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3C2F765C-FF40-0862-F338-1290349DAE65}"/>
              </a:ext>
            </a:extLst>
          </p:cNvPr>
          <p:cNvSpPr txBox="1"/>
          <p:nvPr/>
        </p:nvSpPr>
        <p:spPr>
          <a:xfrm>
            <a:off x="6121781" y="1362901"/>
            <a:ext cx="3479830" cy="369332"/>
          </a:xfrm>
          <a:prstGeom prst="rect">
            <a:avLst/>
          </a:prstGeom>
          <a:noFill/>
        </p:spPr>
        <p:txBody>
          <a:bodyPr wrap="square">
            <a:spAutoFit/>
          </a:bodyPr>
          <a:lstStyle/>
          <a:p>
            <a:r>
              <a:rPr lang="en-US" dirty="0"/>
              <a:t>Item to Context Associations</a:t>
            </a:r>
          </a:p>
        </p:txBody>
      </p:sp>
      <p:sp>
        <p:nvSpPr>
          <p:cNvPr id="64" name="TextBox 63">
            <a:extLst>
              <a:ext uri="{FF2B5EF4-FFF2-40B4-BE49-F238E27FC236}">
                <a16:creationId xmlns:a16="http://schemas.microsoft.com/office/drawing/2014/main" id="{D3900751-7868-1895-3F85-38900CD68C58}"/>
              </a:ext>
            </a:extLst>
          </p:cNvPr>
          <p:cNvSpPr txBox="1"/>
          <p:nvPr/>
        </p:nvSpPr>
        <p:spPr>
          <a:xfrm>
            <a:off x="6091242" y="3632211"/>
            <a:ext cx="4826000" cy="369332"/>
          </a:xfrm>
          <a:prstGeom prst="rect">
            <a:avLst/>
          </a:prstGeom>
          <a:noFill/>
        </p:spPr>
        <p:txBody>
          <a:bodyPr wrap="square">
            <a:spAutoFit/>
          </a:bodyPr>
          <a:lstStyle/>
          <a:p>
            <a:r>
              <a:rPr lang="en-US" dirty="0"/>
              <a:t>Context to Item Associations</a:t>
            </a:r>
          </a:p>
        </p:txBody>
      </p:sp>
    </p:spTree>
    <p:extLst>
      <p:ext uri="{BB962C8B-B14F-4D97-AF65-F5344CB8AC3E}">
        <p14:creationId xmlns:p14="http://schemas.microsoft.com/office/powerpoint/2010/main" val="1244297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9360-71C3-42C1-C900-EFF9581E2AAD}"/>
              </a:ext>
            </a:extLst>
          </p:cNvPr>
          <p:cNvSpPr>
            <a:spLocks noGrp="1"/>
          </p:cNvSpPr>
          <p:nvPr>
            <p:ph type="title"/>
          </p:nvPr>
        </p:nvSpPr>
        <p:spPr/>
        <p:txBody>
          <a:bodyPr/>
          <a:lstStyle/>
          <a:p>
            <a:r>
              <a:rPr lang="en-US" dirty="0"/>
              <a:t>What “Selective Interference” Looks Like Inside CMR</a:t>
            </a:r>
          </a:p>
        </p:txBody>
      </p:sp>
      <p:sp>
        <p:nvSpPr>
          <p:cNvPr id="3" name="Content Placeholder 2">
            <a:extLst>
              <a:ext uri="{FF2B5EF4-FFF2-40B4-BE49-F238E27FC236}">
                <a16:creationId xmlns:a16="http://schemas.microsoft.com/office/drawing/2014/main" id="{D49838E2-DD2A-C43C-9C6A-A7E8415BE621}"/>
              </a:ext>
            </a:extLst>
          </p:cNvPr>
          <p:cNvSpPr>
            <a:spLocks noGrp="1"/>
          </p:cNvSpPr>
          <p:nvPr>
            <p:ph idx="1"/>
          </p:nvPr>
        </p:nvSpPr>
        <p:spPr/>
        <p:txBody>
          <a:bodyPr/>
          <a:lstStyle/>
          <a:p>
            <a:pPr>
              <a:spcAft>
                <a:spcPts val="0"/>
              </a:spcAft>
            </a:pPr>
            <a:r>
              <a:rPr lang="en-US" dirty="0"/>
              <a:t>For VIT/diary (ambient retrieval):</a:t>
            </a:r>
          </a:p>
          <a:p>
            <a:pPr lvl="1">
              <a:spcAft>
                <a:spcPts val="0"/>
              </a:spcAft>
            </a:pPr>
            <a:r>
              <a:rPr lang="en-US" dirty="0"/>
              <a:t>Trauma context region becomes crowded with Tetris traces.</a:t>
            </a:r>
          </a:p>
          <a:p>
            <a:pPr lvl="1">
              <a:spcAft>
                <a:spcPts val="0"/>
              </a:spcAft>
            </a:pPr>
            <a:r>
              <a:rPr lang="en-US" dirty="0"/>
              <a:t>Trauma items win the race less often.</a:t>
            </a:r>
          </a:p>
          <a:p>
            <a:pPr lvl="1"/>
            <a:r>
              <a:rPr lang="en-US" dirty="0"/>
              <a:t>→ Fewer trauma-film intrusions, with and without cues.</a:t>
            </a:r>
          </a:p>
          <a:p>
            <a:pPr>
              <a:spcAft>
                <a:spcPts val="0"/>
              </a:spcAft>
            </a:pPr>
            <a:r>
              <a:rPr lang="en-US" dirty="0"/>
              <a:t>For recognition (probe-driven):</a:t>
            </a:r>
          </a:p>
          <a:p>
            <a:pPr lvl="1">
              <a:spcAft>
                <a:spcPts val="0"/>
              </a:spcAft>
            </a:pPr>
            <a:r>
              <a:rPr lang="en-US" dirty="0"/>
              <a:t>Film probes still directly activate their own traces.</a:t>
            </a:r>
          </a:p>
          <a:p>
            <a:pPr lvl="1">
              <a:spcAft>
                <a:spcPts val="0"/>
              </a:spcAft>
            </a:pPr>
            <a:r>
              <a:rPr lang="en-US" dirty="0"/>
              <a:t>Extra </a:t>
            </a:r>
            <a:r>
              <a:rPr lang="en-US" dirty="0" err="1"/>
              <a:t>neighbours</a:t>
            </a:r>
            <a:r>
              <a:rPr lang="en-US" dirty="0"/>
              <a:t> in the trauma context have modest impact.</a:t>
            </a:r>
          </a:p>
          <a:p>
            <a:pPr lvl="1"/>
            <a:r>
              <a:rPr lang="en-US" dirty="0"/>
              <a:t>→ Recognition accuracy changes little, even with film cues.</a:t>
            </a:r>
          </a:p>
          <a:p>
            <a:pPr marL="271463" lvl="1" indent="0">
              <a:buNone/>
            </a:pPr>
            <a:r>
              <a:rPr lang="en-US" dirty="0"/>
              <a:t>Under this story, the 2021 pattern is close to what a single retrieved-context system would predict!</a:t>
            </a:r>
          </a:p>
          <a:p>
            <a:endParaRPr lang="en-US" dirty="0"/>
          </a:p>
        </p:txBody>
      </p:sp>
    </p:spTree>
    <p:extLst>
      <p:ext uri="{BB962C8B-B14F-4D97-AF65-F5344CB8AC3E}">
        <p14:creationId xmlns:p14="http://schemas.microsoft.com/office/powerpoint/2010/main" val="1717524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08942-1542-22BA-CA3F-4CDFCA15C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0E5546-284D-B6D5-830B-555D38128A76}"/>
              </a:ext>
            </a:extLst>
          </p:cNvPr>
          <p:cNvSpPr>
            <a:spLocks noGrp="1"/>
          </p:cNvSpPr>
          <p:nvPr>
            <p:ph type="title"/>
          </p:nvPr>
        </p:nvSpPr>
        <p:spPr/>
        <p:txBody>
          <a:bodyPr>
            <a:normAutofit/>
          </a:bodyPr>
          <a:lstStyle/>
          <a:p>
            <a:r>
              <a:rPr lang="en-US" dirty="0">
                <a:solidFill>
                  <a:srgbClr val="FF0000"/>
                </a:solidFill>
              </a:rPr>
              <a:t>Recognition</a:t>
            </a:r>
            <a:r>
              <a:rPr lang="en-US" dirty="0"/>
              <a:t> vs </a:t>
            </a:r>
            <a:r>
              <a:rPr lang="en-US" dirty="0">
                <a:solidFill>
                  <a:schemeClr val="accent3"/>
                </a:solidFill>
              </a:rPr>
              <a:t>Free Recall</a:t>
            </a:r>
          </a:p>
        </p:txBody>
      </p:sp>
      <p:grpSp>
        <p:nvGrpSpPr>
          <p:cNvPr id="4" name="Group 3">
            <a:extLst>
              <a:ext uri="{FF2B5EF4-FFF2-40B4-BE49-F238E27FC236}">
                <a16:creationId xmlns:a16="http://schemas.microsoft.com/office/drawing/2014/main" id="{53CE26CD-62B5-6FE9-6703-3121B49CFDFF}"/>
              </a:ext>
            </a:extLst>
          </p:cNvPr>
          <p:cNvGrpSpPr/>
          <p:nvPr/>
        </p:nvGrpSpPr>
        <p:grpSpPr>
          <a:xfrm>
            <a:off x="357655" y="1703169"/>
            <a:ext cx="5646567" cy="3570862"/>
            <a:chOff x="785091" y="1929263"/>
            <a:chExt cx="8382400" cy="3370453"/>
          </a:xfrm>
        </p:grpSpPr>
        <p:sp>
          <p:nvSpPr>
            <p:cNvPr id="5" name="Rectangle: Rounded Corners 6">
              <a:extLst>
                <a:ext uri="{FF2B5EF4-FFF2-40B4-BE49-F238E27FC236}">
                  <a16:creationId xmlns:a16="http://schemas.microsoft.com/office/drawing/2014/main" id="{E17B3A8A-6D93-ECD8-20BC-C1B550D6F195}"/>
                </a:ext>
              </a:extLst>
            </p:cNvPr>
            <p:cNvSpPr/>
            <p:nvPr/>
          </p:nvSpPr>
          <p:spPr>
            <a:xfrm>
              <a:off x="785091" y="2857500"/>
              <a:ext cx="2008910" cy="11430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CONTEXT</a:t>
              </a:r>
              <a:r>
                <a:rPr kumimoji="0" lang="en-US" sz="2000" b="0" i="0" u="none" strike="noStrike" kern="1200" cap="none" spc="0" normalizeH="0" baseline="0" noProof="0" dirty="0">
                  <a:ln>
                    <a:noFill/>
                  </a:ln>
                  <a:solidFill>
                    <a:prstClr val="white"/>
                  </a:solidFill>
                  <a:effectLst/>
                  <a:uLnTx/>
                  <a:uFillTx/>
                  <a:latin typeface="Calibri"/>
                  <a:ea typeface="+mn-ea"/>
                  <a:cs typeface="+mn-cs"/>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C</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p>
          </p:txBody>
        </p:sp>
        <p:sp>
          <p:nvSpPr>
            <p:cNvPr id="6" name="Rectangle: Rounded Corners 7">
              <a:extLst>
                <a:ext uri="{FF2B5EF4-FFF2-40B4-BE49-F238E27FC236}">
                  <a16:creationId xmlns:a16="http://schemas.microsoft.com/office/drawing/2014/main" id="{BCF6CB9B-3373-F2E3-E6E5-FAACA6BE5310}"/>
                </a:ext>
              </a:extLst>
            </p:cNvPr>
            <p:cNvSpPr/>
            <p:nvPr/>
          </p:nvSpPr>
          <p:spPr>
            <a:xfrm>
              <a:off x="6349999" y="2857500"/>
              <a:ext cx="2008910" cy="11430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ITEM FEATURES </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F)</a:t>
              </a:r>
              <a:endParaRPr kumimoji="0" lang="en-US" sz="20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Rounded Corners 8">
              <a:extLst>
                <a:ext uri="{FF2B5EF4-FFF2-40B4-BE49-F238E27FC236}">
                  <a16:creationId xmlns:a16="http://schemas.microsoft.com/office/drawing/2014/main" id="{17C507A0-ACEB-4304-E8CE-6BAA36300700}"/>
                </a:ext>
              </a:extLst>
            </p:cNvPr>
            <p:cNvSpPr/>
            <p:nvPr/>
          </p:nvSpPr>
          <p:spPr>
            <a:xfrm>
              <a:off x="3601982" y="3799979"/>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(Context to Item)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CF</a:t>
              </a:r>
            </a:p>
          </p:txBody>
        </p:sp>
        <p:sp>
          <p:nvSpPr>
            <p:cNvPr id="8" name="Rectangle: Rounded Corners 9">
              <a:extLst>
                <a:ext uri="{FF2B5EF4-FFF2-40B4-BE49-F238E27FC236}">
                  <a16:creationId xmlns:a16="http://schemas.microsoft.com/office/drawing/2014/main" id="{543E37C1-2C6A-042A-6355-6493D9D8FEE9}"/>
                </a:ext>
              </a:extLst>
            </p:cNvPr>
            <p:cNvSpPr/>
            <p:nvPr/>
          </p:nvSpPr>
          <p:spPr>
            <a:xfrm>
              <a:off x="3601982" y="1929263"/>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(Item to Context)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FC</a:t>
              </a:r>
              <a:endParaRPr kumimoji="0" lang="en-US" sz="2000" b="0" i="1" u="none" strike="noStrike" kern="1200" cap="none" spc="0" normalizeH="0" baseline="0" noProof="0" dirty="0">
                <a:ln>
                  <a:noFill/>
                </a:ln>
                <a:solidFill>
                  <a:prstClr val="white"/>
                </a:solidFill>
                <a:effectLst/>
                <a:uLnTx/>
                <a:uFillTx/>
                <a:latin typeface="Calibri"/>
                <a:ea typeface="+mn-ea"/>
                <a:cs typeface="+mn-cs"/>
              </a:endParaRPr>
            </a:p>
          </p:txBody>
        </p:sp>
        <p:sp>
          <p:nvSpPr>
            <p:cNvPr id="9" name="Arrow: Bent 10">
              <a:extLst>
                <a:ext uri="{FF2B5EF4-FFF2-40B4-BE49-F238E27FC236}">
                  <a16:creationId xmlns:a16="http://schemas.microsoft.com/office/drawing/2014/main" id="{074F3B22-BB7E-2BC8-1001-49748D7E61E5}"/>
                </a:ext>
              </a:extLst>
            </p:cNvPr>
            <p:cNvSpPr/>
            <p:nvPr/>
          </p:nvSpPr>
          <p:spPr>
            <a:xfrm flipH="1">
              <a:off x="5800435" y="1988411"/>
              <a:ext cx="1427019" cy="804702"/>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Arrow: Bent 11">
              <a:extLst>
                <a:ext uri="{FF2B5EF4-FFF2-40B4-BE49-F238E27FC236}">
                  <a16:creationId xmlns:a16="http://schemas.microsoft.com/office/drawing/2014/main" id="{30EB5EB6-4C30-4693-C9D0-DEC05936112D}"/>
                </a:ext>
              </a:extLst>
            </p:cNvPr>
            <p:cNvSpPr/>
            <p:nvPr/>
          </p:nvSpPr>
          <p:spPr>
            <a:xfrm flipV="1">
              <a:off x="2145147" y="4058196"/>
              <a:ext cx="1297708" cy="816383"/>
            </a:xfrm>
            <a:prstGeom prst="bentArrow">
              <a:avLst>
                <a:gd name="adj1" fmla="val 25000"/>
                <a:gd name="adj2" fmla="val 41834"/>
                <a:gd name="adj3" fmla="val 2409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CBCDA831-AB33-6594-D330-624A33F27FD1}"/>
                </a:ext>
              </a:extLst>
            </p:cNvPr>
            <p:cNvSpPr txBox="1"/>
            <p:nvPr/>
          </p:nvSpPr>
          <p:spPr>
            <a:xfrm>
              <a:off x="785091" y="4342253"/>
              <a:ext cx="1614056"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Guide Search</a:t>
              </a:r>
            </a:p>
          </p:txBody>
        </p:sp>
        <p:sp>
          <p:nvSpPr>
            <p:cNvPr id="12" name="TextBox 11">
              <a:extLst>
                <a:ext uri="{FF2B5EF4-FFF2-40B4-BE49-F238E27FC236}">
                  <a16:creationId xmlns:a16="http://schemas.microsoft.com/office/drawing/2014/main" id="{1B585C45-F098-538D-2044-B08622B285E0}"/>
                </a:ext>
              </a:extLst>
            </p:cNvPr>
            <p:cNvSpPr txBox="1"/>
            <p:nvPr/>
          </p:nvSpPr>
          <p:spPr>
            <a:xfrm>
              <a:off x="7227454" y="1942574"/>
              <a:ext cx="1940037"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Update Context</a:t>
              </a:r>
            </a:p>
          </p:txBody>
        </p:sp>
        <p:sp>
          <p:nvSpPr>
            <p:cNvPr id="13" name="Arrow: Bent 14">
              <a:extLst>
                <a:ext uri="{FF2B5EF4-FFF2-40B4-BE49-F238E27FC236}">
                  <a16:creationId xmlns:a16="http://schemas.microsoft.com/office/drawing/2014/main" id="{1A078D86-D116-4B8B-FDF6-7979E71F424D}"/>
                </a:ext>
              </a:extLst>
            </p:cNvPr>
            <p:cNvSpPr/>
            <p:nvPr/>
          </p:nvSpPr>
          <p:spPr>
            <a:xfrm rot="16200000" flipH="1">
              <a:off x="2335000" y="1675753"/>
              <a:ext cx="620579" cy="1595134"/>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Arrow: Bent 15">
              <a:extLst>
                <a:ext uri="{FF2B5EF4-FFF2-40B4-BE49-F238E27FC236}">
                  <a16:creationId xmlns:a16="http://schemas.microsoft.com/office/drawing/2014/main" id="{BE78458B-8D81-6288-694A-2A10782ACBFF}"/>
                </a:ext>
              </a:extLst>
            </p:cNvPr>
            <p:cNvSpPr/>
            <p:nvPr/>
          </p:nvSpPr>
          <p:spPr>
            <a:xfrm rot="16200000" flipV="1">
              <a:off x="6221792" y="3579099"/>
              <a:ext cx="485013" cy="1526309"/>
            </a:xfrm>
            <a:prstGeom prst="bentArrow">
              <a:avLst>
                <a:gd name="adj1" fmla="val 42851"/>
                <a:gd name="adj2" fmla="val 50000"/>
                <a:gd name="adj3" fmla="val 1738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5" name="Picture 14">
            <a:extLst>
              <a:ext uri="{FF2B5EF4-FFF2-40B4-BE49-F238E27FC236}">
                <a16:creationId xmlns:a16="http://schemas.microsoft.com/office/drawing/2014/main" id="{685F4D6D-051E-88CB-82AE-15ABEC5D2D24}"/>
              </a:ext>
            </a:extLst>
          </p:cNvPr>
          <p:cNvPicPr>
            <a:picLocks noChangeAspect="1"/>
          </p:cNvPicPr>
          <p:nvPr/>
        </p:nvPicPr>
        <p:blipFill>
          <a:blip r:embed="rId3"/>
          <a:stretch>
            <a:fillRect/>
          </a:stretch>
        </p:blipFill>
        <p:spPr>
          <a:xfrm>
            <a:off x="5791140" y="1479502"/>
            <a:ext cx="3243084" cy="825067"/>
          </a:xfrm>
          <a:prstGeom prst="rect">
            <a:avLst/>
          </a:prstGeom>
        </p:spPr>
      </p:pic>
      <p:pic>
        <p:nvPicPr>
          <p:cNvPr id="16" name="Picture 15">
            <a:extLst>
              <a:ext uri="{FF2B5EF4-FFF2-40B4-BE49-F238E27FC236}">
                <a16:creationId xmlns:a16="http://schemas.microsoft.com/office/drawing/2014/main" id="{080E1CFB-40E9-A680-7495-20D15E7ED815}"/>
              </a:ext>
            </a:extLst>
          </p:cNvPr>
          <p:cNvPicPr>
            <a:picLocks noChangeAspect="1"/>
          </p:cNvPicPr>
          <p:nvPr/>
        </p:nvPicPr>
        <p:blipFill>
          <a:blip r:embed="rId4"/>
          <a:stretch>
            <a:fillRect/>
          </a:stretch>
        </p:blipFill>
        <p:spPr>
          <a:xfrm>
            <a:off x="5823250" y="2431713"/>
            <a:ext cx="3243085" cy="825067"/>
          </a:xfrm>
          <a:prstGeom prst="rect">
            <a:avLst/>
          </a:prstGeom>
        </p:spPr>
      </p:pic>
      <p:pic>
        <p:nvPicPr>
          <p:cNvPr id="17" name="Picture 16">
            <a:extLst>
              <a:ext uri="{FF2B5EF4-FFF2-40B4-BE49-F238E27FC236}">
                <a16:creationId xmlns:a16="http://schemas.microsoft.com/office/drawing/2014/main" id="{59388EF6-00D8-6F68-2DC2-0CC3C9CDA020}"/>
              </a:ext>
            </a:extLst>
          </p:cNvPr>
          <p:cNvPicPr>
            <a:picLocks noChangeAspect="1"/>
          </p:cNvPicPr>
          <p:nvPr/>
        </p:nvPicPr>
        <p:blipFill>
          <a:blip r:embed="rId5"/>
          <a:stretch>
            <a:fillRect/>
          </a:stretch>
        </p:blipFill>
        <p:spPr>
          <a:xfrm>
            <a:off x="5804928" y="3347739"/>
            <a:ext cx="3261407" cy="829728"/>
          </a:xfrm>
          <a:prstGeom prst="rect">
            <a:avLst/>
          </a:prstGeom>
        </p:spPr>
      </p:pic>
      <p:pic>
        <p:nvPicPr>
          <p:cNvPr id="18" name="Picture 17">
            <a:extLst>
              <a:ext uri="{FF2B5EF4-FFF2-40B4-BE49-F238E27FC236}">
                <a16:creationId xmlns:a16="http://schemas.microsoft.com/office/drawing/2014/main" id="{16D3189A-F506-7F07-74DA-9FA557CC531E}"/>
              </a:ext>
            </a:extLst>
          </p:cNvPr>
          <p:cNvPicPr>
            <a:picLocks noChangeAspect="1"/>
          </p:cNvPicPr>
          <p:nvPr/>
        </p:nvPicPr>
        <p:blipFill>
          <a:blip r:embed="rId6"/>
          <a:stretch>
            <a:fillRect/>
          </a:stretch>
        </p:blipFill>
        <p:spPr>
          <a:xfrm>
            <a:off x="5823980" y="4484513"/>
            <a:ext cx="3261405" cy="829728"/>
          </a:xfrm>
          <a:prstGeom prst="rect">
            <a:avLst/>
          </a:prstGeom>
        </p:spPr>
      </p:pic>
      <p:sp>
        <p:nvSpPr>
          <p:cNvPr id="19" name="TextBox 18">
            <a:extLst>
              <a:ext uri="{FF2B5EF4-FFF2-40B4-BE49-F238E27FC236}">
                <a16:creationId xmlns:a16="http://schemas.microsoft.com/office/drawing/2014/main" id="{413F719C-5D92-99CF-AF42-1292E702ED87}"/>
              </a:ext>
            </a:extLst>
          </p:cNvPr>
          <p:cNvSpPr txBox="1"/>
          <p:nvPr/>
        </p:nvSpPr>
        <p:spPr>
          <a:xfrm>
            <a:off x="7368165" y="4154418"/>
            <a:ext cx="181729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a:t>
            </a:r>
          </a:p>
        </p:txBody>
      </p:sp>
      <p:sp>
        <p:nvSpPr>
          <p:cNvPr id="20" name="Content Placeholder 3">
            <a:extLst>
              <a:ext uri="{FF2B5EF4-FFF2-40B4-BE49-F238E27FC236}">
                <a16:creationId xmlns:a16="http://schemas.microsoft.com/office/drawing/2014/main" id="{AAED857A-624E-4D47-D2A2-498D6C1A3234}"/>
              </a:ext>
            </a:extLst>
          </p:cNvPr>
          <p:cNvSpPr>
            <a:spLocks noGrp="1"/>
          </p:cNvSpPr>
          <p:nvPr>
            <p:ph sz="half" idx="1"/>
          </p:nvPr>
        </p:nvSpPr>
        <p:spPr>
          <a:xfrm>
            <a:off x="270063" y="5445224"/>
            <a:ext cx="8915400" cy="1499037"/>
          </a:xfrm>
        </p:spPr>
        <p:txBody>
          <a:bodyPr>
            <a:normAutofit fontScale="92500" lnSpcReduction="20000"/>
          </a:bodyPr>
          <a:lstStyle/>
          <a:p>
            <a:r>
              <a:rPr lang="en-US" sz="2000" dirty="0"/>
              <a:t>Each study event blends associated features into a context state that evolves over time, creating a </a:t>
            </a:r>
            <a:r>
              <a:rPr lang="en-US" sz="2000" b="1" dirty="0"/>
              <a:t>recency-weighted record. </a:t>
            </a:r>
          </a:p>
          <a:p>
            <a:r>
              <a:rPr lang="en-US" sz="2000" dirty="0"/>
              <a:t>At study, states of temporal context are associated with items in memory traces</a:t>
            </a:r>
          </a:p>
          <a:p>
            <a:r>
              <a:rPr lang="en-US" sz="2000" dirty="0"/>
              <a:t>At retrieval, </a:t>
            </a:r>
            <a:r>
              <a:rPr lang="en-US" sz="2000" b="1" dirty="0"/>
              <a:t>temporal context</a:t>
            </a:r>
            <a:r>
              <a:rPr lang="en-US" sz="2000" dirty="0"/>
              <a:t> is the primary cue, targeting items studied in similar contexts</a:t>
            </a:r>
          </a:p>
          <a:p>
            <a:endParaRPr lang="en-US" sz="2000" b="1" dirty="0"/>
          </a:p>
        </p:txBody>
      </p:sp>
      <mc:AlternateContent xmlns:mc="http://schemas.openxmlformats.org/markup-compatibility/2006" xmlns:p14="http://schemas.microsoft.com/office/powerpoint/2010/main">
        <mc:Choice Requires="p14">
          <p:contentPart p14:bwMode="auto" r:id="rId7">
            <p14:nvContentPartPr>
              <p14:cNvPr id="22" name="Ink 21">
                <a:extLst>
                  <a:ext uri="{FF2B5EF4-FFF2-40B4-BE49-F238E27FC236}">
                    <a16:creationId xmlns:a16="http://schemas.microsoft.com/office/drawing/2014/main" id="{1B4ABB1B-6863-CF16-CDFF-4A9543D2BA96}"/>
                  </a:ext>
                </a:extLst>
              </p14:cNvPr>
              <p14:cNvContentPartPr/>
              <p14:nvPr/>
            </p14:nvContentPartPr>
            <p14:xfrm>
              <a:off x="-17040" y="1100227"/>
              <a:ext cx="4115160" cy="2862000"/>
            </p14:xfrm>
          </p:contentPart>
        </mc:Choice>
        <mc:Fallback xmlns="">
          <p:pic>
            <p:nvPicPr>
              <p:cNvPr id="22" name="Ink 21">
                <a:extLst>
                  <a:ext uri="{FF2B5EF4-FFF2-40B4-BE49-F238E27FC236}">
                    <a16:creationId xmlns:a16="http://schemas.microsoft.com/office/drawing/2014/main" id="{1B4ABB1B-6863-CF16-CDFF-4A9543D2BA96}"/>
                  </a:ext>
                </a:extLst>
              </p:cNvPr>
              <p:cNvPicPr/>
              <p:nvPr/>
            </p:nvPicPr>
            <p:blipFill>
              <a:blip r:embed="rId8"/>
              <a:stretch>
                <a:fillRect/>
              </a:stretch>
            </p:blipFill>
            <p:spPr>
              <a:xfrm>
                <a:off x="-23160" y="1094107"/>
                <a:ext cx="4127400" cy="2874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BE4A215F-C851-D409-5994-691A528A9296}"/>
                  </a:ext>
                </a:extLst>
              </p14:cNvPr>
              <p14:cNvContentPartPr/>
              <p14:nvPr/>
            </p14:nvContentPartPr>
            <p14:xfrm>
              <a:off x="4266960" y="4554427"/>
              <a:ext cx="17280" cy="360"/>
            </p14:xfrm>
          </p:contentPart>
        </mc:Choice>
        <mc:Fallback xmlns="">
          <p:pic>
            <p:nvPicPr>
              <p:cNvPr id="23" name="Ink 22">
                <a:extLst>
                  <a:ext uri="{FF2B5EF4-FFF2-40B4-BE49-F238E27FC236}">
                    <a16:creationId xmlns:a16="http://schemas.microsoft.com/office/drawing/2014/main" id="{BE4A215F-C851-D409-5994-691A528A9296}"/>
                  </a:ext>
                </a:extLst>
              </p:cNvPr>
              <p:cNvPicPr/>
              <p:nvPr/>
            </p:nvPicPr>
            <p:blipFill>
              <a:blip r:embed="rId10"/>
              <a:stretch>
                <a:fillRect/>
              </a:stretch>
            </p:blipFill>
            <p:spPr>
              <a:xfrm>
                <a:off x="4260840" y="4548307"/>
                <a:ext cx="29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26D07803-B2CF-F7E5-118C-9F63402AA59E}"/>
                  </a:ext>
                </a:extLst>
              </p14:cNvPr>
              <p14:cNvContentPartPr/>
              <p14:nvPr/>
            </p14:nvContentPartPr>
            <p14:xfrm>
              <a:off x="1439160" y="2387227"/>
              <a:ext cx="4311000" cy="3065400"/>
            </p14:xfrm>
          </p:contentPart>
        </mc:Choice>
        <mc:Fallback xmlns="">
          <p:pic>
            <p:nvPicPr>
              <p:cNvPr id="24" name="Ink 23">
                <a:extLst>
                  <a:ext uri="{FF2B5EF4-FFF2-40B4-BE49-F238E27FC236}">
                    <a16:creationId xmlns:a16="http://schemas.microsoft.com/office/drawing/2014/main" id="{26D07803-B2CF-F7E5-118C-9F63402AA59E}"/>
                  </a:ext>
                </a:extLst>
              </p:cNvPr>
              <p:cNvPicPr/>
              <p:nvPr/>
            </p:nvPicPr>
            <p:blipFill>
              <a:blip r:embed="rId12"/>
              <a:stretch>
                <a:fillRect/>
              </a:stretch>
            </p:blipFill>
            <p:spPr>
              <a:xfrm>
                <a:off x="1433040" y="2381107"/>
                <a:ext cx="4323240" cy="30776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C9BBF06E-F747-DF94-E282-DCA928B4FB05}"/>
                  </a:ext>
                </a:extLst>
              </p14:cNvPr>
              <p14:cNvContentPartPr/>
              <p14:nvPr/>
            </p14:nvContentPartPr>
            <p14:xfrm>
              <a:off x="6028080" y="795307"/>
              <a:ext cx="360" cy="360"/>
            </p14:xfrm>
          </p:contentPart>
        </mc:Choice>
        <mc:Fallback xmlns="">
          <p:pic>
            <p:nvPicPr>
              <p:cNvPr id="25" name="Ink 24">
                <a:extLst>
                  <a:ext uri="{FF2B5EF4-FFF2-40B4-BE49-F238E27FC236}">
                    <a16:creationId xmlns:a16="http://schemas.microsoft.com/office/drawing/2014/main" id="{C9BBF06E-F747-DF94-E282-DCA928B4FB05}"/>
                  </a:ext>
                </a:extLst>
              </p:cNvPr>
              <p:cNvPicPr/>
              <p:nvPr/>
            </p:nvPicPr>
            <p:blipFill>
              <a:blip r:embed="rId14"/>
              <a:stretch>
                <a:fillRect/>
              </a:stretch>
            </p:blipFill>
            <p:spPr>
              <a:xfrm>
                <a:off x="6021960" y="789187"/>
                <a:ext cx="12600" cy="12600"/>
              </a:xfrm>
              <a:prstGeom prst="rect">
                <a:avLst/>
              </a:prstGeom>
            </p:spPr>
          </p:pic>
        </mc:Fallback>
      </mc:AlternateContent>
    </p:spTree>
    <p:extLst>
      <p:ext uri="{BB962C8B-B14F-4D97-AF65-F5344CB8AC3E}">
        <p14:creationId xmlns:p14="http://schemas.microsoft.com/office/powerpoint/2010/main" val="3183510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E0168-2F70-F33C-9778-F3CD43B45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59FB0-4713-75AD-7657-AC7575D15056}"/>
              </a:ext>
            </a:extLst>
          </p:cNvPr>
          <p:cNvSpPr>
            <a:spLocks noGrp="1"/>
          </p:cNvSpPr>
          <p:nvPr>
            <p:ph type="title"/>
          </p:nvPr>
        </p:nvSpPr>
        <p:spPr/>
        <p:txBody>
          <a:bodyPr/>
          <a:lstStyle/>
          <a:p>
            <a:r>
              <a:rPr lang="en-US" dirty="0"/>
              <a:t>Two ways to treat the 2021 experiment in our project</a:t>
            </a:r>
          </a:p>
        </p:txBody>
      </p:sp>
      <p:sp>
        <p:nvSpPr>
          <p:cNvPr id="4" name="Content Placeholder 3">
            <a:extLst>
              <a:ext uri="{FF2B5EF4-FFF2-40B4-BE49-F238E27FC236}">
                <a16:creationId xmlns:a16="http://schemas.microsoft.com/office/drawing/2014/main" id="{5A7C3D9E-D9CC-EF91-DAF8-4FA59CE1000E}"/>
              </a:ext>
            </a:extLst>
          </p:cNvPr>
          <p:cNvSpPr>
            <a:spLocks noGrp="1"/>
          </p:cNvSpPr>
          <p:nvPr>
            <p:ph sz="half" idx="1"/>
          </p:nvPr>
        </p:nvSpPr>
        <p:spPr/>
        <p:txBody>
          <a:bodyPr/>
          <a:lstStyle/>
          <a:p>
            <a:pPr marL="0" indent="0" algn="ctr">
              <a:buNone/>
            </a:pPr>
            <a:r>
              <a:rPr lang="en-US" sz="2000" b="1" dirty="0"/>
              <a:t>Design-Limitation Reading</a:t>
            </a:r>
          </a:p>
          <a:p>
            <a:r>
              <a:rPr lang="en-US" sz="2000" dirty="0"/>
              <a:t>2021 compares two quite different retrieval regimes (ambient vs probe-driven).</a:t>
            </a:r>
          </a:p>
          <a:p>
            <a:r>
              <a:rPr lang="en-US" sz="2000" dirty="0"/>
              <a:t>Given that, CMR’s ability to show selective interference here is not very diagnostic for dual vs single trace.</a:t>
            </a:r>
          </a:p>
          <a:p>
            <a:r>
              <a:rPr lang="en-US" sz="2000" dirty="0"/>
              <a:t>Use 2021 mainly as a consistency check: CMR should not contradict it.</a:t>
            </a:r>
          </a:p>
          <a:p>
            <a:endParaRPr lang="en-US" sz="2000" dirty="0"/>
          </a:p>
        </p:txBody>
      </p:sp>
      <p:sp>
        <p:nvSpPr>
          <p:cNvPr id="5" name="Content Placeholder 4">
            <a:extLst>
              <a:ext uri="{FF2B5EF4-FFF2-40B4-BE49-F238E27FC236}">
                <a16:creationId xmlns:a16="http://schemas.microsoft.com/office/drawing/2014/main" id="{BF1CE939-8BB0-CBDB-94F1-BFD86A197136}"/>
              </a:ext>
            </a:extLst>
          </p:cNvPr>
          <p:cNvSpPr>
            <a:spLocks noGrp="1"/>
          </p:cNvSpPr>
          <p:nvPr>
            <p:ph sz="half" idx="2"/>
          </p:nvPr>
        </p:nvSpPr>
        <p:spPr/>
        <p:txBody>
          <a:bodyPr/>
          <a:lstStyle/>
          <a:p>
            <a:pPr marL="0" indent="0" algn="ctr">
              <a:buNone/>
            </a:pPr>
            <a:r>
              <a:rPr lang="en-US" sz="2000" b="1" dirty="0"/>
              <a:t>Modified Recognition Task</a:t>
            </a:r>
          </a:p>
          <a:p>
            <a:r>
              <a:rPr lang="en-US" sz="2000" dirty="0"/>
              <a:t>Treat 2021 as a clear case where retrieval regime matters for interference.</a:t>
            </a:r>
          </a:p>
          <a:p>
            <a:r>
              <a:rPr lang="en-US" sz="2000" dirty="0"/>
              <a:t>Use CMR to spell out a single-system explanation of the pattern.</a:t>
            </a:r>
          </a:p>
          <a:p>
            <a:r>
              <a:rPr lang="en-US" sz="2000" dirty="0"/>
              <a:t>Explicitly contrast that explanation with the dual-representation interpretation.</a:t>
            </a:r>
          </a:p>
        </p:txBody>
      </p:sp>
    </p:spTree>
    <p:extLst>
      <p:ext uri="{BB962C8B-B14F-4D97-AF65-F5344CB8AC3E}">
        <p14:creationId xmlns:p14="http://schemas.microsoft.com/office/powerpoint/2010/main" val="852169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892CF2-097A-0F3B-9336-B3141490E07B}"/>
              </a:ext>
            </a:extLst>
          </p:cNvPr>
          <p:cNvSpPr>
            <a:spLocks noGrp="1"/>
          </p:cNvSpPr>
          <p:nvPr>
            <p:ph type="title"/>
          </p:nvPr>
        </p:nvSpPr>
        <p:spPr/>
        <p:txBody>
          <a:bodyPr/>
          <a:lstStyle/>
          <a:p>
            <a:r>
              <a:rPr lang="en-US" dirty="0"/>
              <a:t>Implications for what we ask CMR to do</a:t>
            </a:r>
          </a:p>
        </p:txBody>
      </p:sp>
      <p:sp>
        <p:nvSpPr>
          <p:cNvPr id="6" name="Content Placeholder 5">
            <a:extLst>
              <a:ext uri="{FF2B5EF4-FFF2-40B4-BE49-F238E27FC236}">
                <a16:creationId xmlns:a16="http://schemas.microsoft.com/office/drawing/2014/main" id="{34866EA1-86FB-7BE3-3517-CD61B4BA27BF}"/>
              </a:ext>
            </a:extLst>
          </p:cNvPr>
          <p:cNvSpPr>
            <a:spLocks noGrp="1"/>
          </p:cNvSpPr>
          <p:nvPr>
            <p:ph idx="1"/>
          </p:nvPr>
        </p:nvSpPr>
        <p:spPr>
          <a:xfrm>
            <a:off x="361810" y="1395412"/>
            <a:ext cx="8374063" cy="4067175"/>
          </a:xfrm>
        </p:spPr>
        <p:txBody>
          <a:bodyPr/>
          <a:lstStyle/>
          <a:p>
            <a:r>
              <a:rPr lang="en-US" dirty="0"/>
              <a:t>At minimum, CMR should:</a:t>
            </a:r>
          </a:p>
          <a:p>
            <a:pPr lvl="1"/>
            <a:r>
              <a:rPr lang="en-US" dirty="0"/>
              <a:t>Reproduce the qualitative pattern: intrusions reduced, recognition largely spared, with trauma-film cues helping both tasks.</a:t>
            </a:r>
          </a:p>
          <a:p>
            <a:pPr lvl="1"/>
            <a:r>
              <a:rPr lang="en-US" dirty="0"/>
              <a:t>Do so via a principled interference mechanism (e.g., extra learning in trauma context), not ad hoc task-specific tweaks.</a:t>
            </a:r>
          </a:p>
          <a:p>
            <a:r>
              <a:rPr lang="en-US" dirty="0"/>
              <a:t>“Beyond that, we can choose how strong a claim we make:</a:t>
            </a:r>
          </a:p>
          <a:p>
            <a:pPr lvl="1"/>
            <a:r>
              <a:rPr lang="en-US" dirty="0"/>
              <a:t>Conservative: 2021 is a confirmation test; more discriminative tests come from other paradigms.</a:t>
            </a:r>
          </a:p>
          <a:p>
            <a:pPr lvl="1"/>
            <a:r>
              <a:rPr lang="en-US" dirty="0"/>
              <a:t>Stronger: 2021 is a showcase of how a single retrieved-context system handles selective interference effect in an influential measurement scheme</a:t>
            </a:r>
          </a:p>
          <a:p>
            <a:endParaRPr lang="en-US" dirty="0"/>
          </a:p>
        </p:txBody>
      </p:sp>
    </p:spTree>
    <p:extLst>
      <p:ext uri="{BB962C8B-B14F-4D97-AF65-F5344CB8AC3E}">
        <p14:creationId xmlns:p14="http://schemas.microsoft.com/office/powerpoint/2010/main" val="2463085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BA538-C3E6-BBC5-84BD-FC1C1CB700C7}"/>
              </a:ext>
            </a:extLst>
          </p:cNvPr>
          <p:cNvSpPr>
            <a:spLocks noGrp="1"/>
          </p:cNvSpPr>
          <p:nvPr>
            <p:ph type="title"/>
          </p:nvPr>
        </p:nvSpPr>
        <p:spPr/>
        <p:txBody>
          <a:bodyPr/>
          <a:lstStyle/>
          <a:p>
            <a:r>
              <a:rPr lang="en-US" dirty="0"/>
              <a:t>Implications for selecting experiments to model</a:t>
            </a:r>
          </a:p>
        </p:txBody>
      </p:sp>
      <p:sp>
        <p:nvSpPr>
          <p:cNvPr id="3" name="Content Placeholder 2">
            <a:extLst>
              <a:ext uri="{FF2B5EF4-FFF2-40B4-BE49-F238E27FC236}">
                <a16:creationId xmlns:a16="http://schemas.microsoft.com/office/drawing/2014/main" id="{05055ECD-DF46-84A2-423E-86DF6D306EE4}"/>
              </a:ext>
            </a:extLst>
          </p:cNvPr>
          <p:cNvSpPr>
            <a:spLocks noGrp="1"/>
          </p:cNvSpPr>
          <p:nvPr>
            <p:ph idx="1"/>
          </p:nvPr>
        </p:nvSpPr>
        <p:spPr>
          <a:xfrm>
            <a:off x="0" y="1395412"/>
            <a:ext cx="9143999" cy="4067175"/>
          </a:xfrm>
        </p:spPr>
        <p:txBody>
          <a:bodyPr/>
          <a:lstStyle/>
          <a:p>
            <a:r>
              <a:rPr lang="en-US" dirty="0"/>
              <a:t>2021 is one lens on selective interference; there are others.</a:t>
            </a:r>
          </a:p>
          <a:p>
            <a:pPr>
              <a:spcAft>
                <a:spcPts val="0"/>
              </a:spcAft>
            </a:pPr>
            <a:r>
              <a:rPr lang="en-US" dirty="0"/>
              <a:t>2021 VIT + recognition</a:t>
            </a:r>
          </a:p>
          <a:p>
            <a:pPr lvl="1">
              <a:spcAft>
                <a:spcPts val="0"/>
              </a:spcAft>
            </a:pPr>
            <a:r>
              <a:rPr lang="en-US" dirty="0"/>
              <a:t>Tightly controlled, explicitly manipulates film vs foil cues in both tasks.</a:t>
            </a:r>
          </a:p>
          <a:p>
            <a:pPr lvl="1"/>
            <a:r>
              <a:rPr lang="en-US" dirty="0"/>
              <a:t>Limitation: contrasts contextual vs item-driven retrieval, so less diagnostic for dual vs single trace in CMR.</a:t>
            </a:r>
          </a:p>
          <a:p>
            <a:pPr>
              <a:spcAft>
                <a:spcPts val="0"/>
              </a:spcAft>
            </a:pPr>
            <a:r>
              <a:rPr lang="en-US" dirty="0"/>
              <a:t>Other selective-interference paradigms</a:t>
            </a:r>
          </a:p>
          <a:p>
            <a:pPr lvl="1">
              <a:spcAft>
                <a:spcPts val="0"/>
              </a:spcAft>
            </a:pPr>
            <a:r>
              <a:rPr lang="en-US" dirty="0"/>
              <a:t>Free recall + intrusion diary (e.g., earlier trauma-film work, 2019).</a:t>
            </a:r>
          </a:p>
          <a:p>
            <a:pPr lvl="1">
              <a:spcAft>
                <a:spcPts val="0"/>
              </a:spcAft>
            </a:pPr>
            <a:r>
              <a:rPr lang="en-US" dirty="0"/>
              <a:t>Ongoing lab work with more closely matched cueing across tasks.</a:t>
            </a:r>
          </a:p>
          <a:p>
            <a:pPr lvl="1">
              <a:spcAft>
                <a:spcPts val="0"/>
              </a:spcAft>
            </a:pPr>
            <a:r>
              <a:rPr lang="en-US" dirty="0"/>
              <a:t>External data?</a:t>
            </a:r>
          </a:p>
          <a:p>
            <a:pPr lvl="1"/>
            <a:r>
              <a:rPr lang="en-US" dirty="0"/>
              <a:t>Goal: something closer to CMR’s ‘home turf’ of context-driven recall, or matched focus on item-driven context reinstatement</a:t>
            </a:r>
          </a:p>
          <a:p>
            <a:pPr marL="0" indent="0" algn="ctr">
              <a:buNone/>
            </a:pPr>
            <a:r>
              <a:rPr lang="en-US" dirty="0"/>
              <a:t>Key idea: 2021 is a useful </a:t>
            </a:r>
            <a:r>
              <a:rPr lang="en-US" b="1" dirty="0"/>
              <a:t>consistency target</a:t>
            </a:r>
            <a:r>
              <a:rPr lang="en-US" dirty="0"/>
              <a:t>, but we may want a different paradigm as the </a:t>
            </a:r>
            <a:r>
              <a:rPr lang="en-US" b="1" dirty="0"/>
              <a:t>flagship test</a:t>
            </a:r>
            <a:r>
              <a:rPr lang="en-US" dirty="0"/>
              <a:t> for more discriminative modelling.</a:t>
            </a:r>
          </a:p>
          <a:p>
            <a:endParaRPr lang="en-US" dirty="0"/>
          </a:p>
        </p:txBody>
      </p:sp>
    </p:spTree>
    <p:extLst>
      <p:ext uri="{BB962C8B-B14F-4D97-AF65-F5344CB8AC3E}">
        <p14:creationId xmlns:p14="http://schemas.microsoft.com/office/powerpoint/2010/main" val="1844698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D3B26-9316-614A-7925-2448FA7CA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96244-F8DA-9326-1D87-B446399668CE}"/>
              </a:ext>
            </a:extLst>
          </p:cNvPr>
          <p:cNvSpPr>
            <a:spLocks noGrp="1"/>
          </p:cNvSpPr>
          <p:nvPr>
            <p:ph type="title"/>
          </p:nvPr>
        </p:nvSpPr>
        <p:spPr>
          <a:xfrm>
            <a:off x="397110" y="332656"/>
            <a:ext cx="8375650" cy="423862"/>
          </a:xfrm>
        </p:spPr>
        <p:txBody>
          <a:bodyPr/>
          <a:lstStyle/>
          <a:p>
            <a:r>
              <a:rPr lang="en-US" dirty="0"/>
              <a:t>Circling Back: Key Questions for Today</a:t>
            </a:r>
          </a:p>
        </p:txBody>
      </p:sp>
      <p:sp>
        <p:nvSpPr>
          <p:cNvPr id="3" name="Content Placeholder 2">
            <a:extLst>
              <a:ext uri="{FF2B5EF4-FFF2-40B4-BE49-F238E27FC236}">
                <a16:creationId xmlns:a16="http://schemas.microsoft.com/office/drawing/2014/main" id="{2A414D86-BBF0-EE34-9804-D382108E1287}"/>
              </a:ext>
            </a:extLst>
          </p:cNvPr>
          <p:cNvSpPr>
            <a:spLocks noGrp="1"/>
          </p:cNvSpPr>
          <p:nvPr>
            <p:ph idx="1"/>
          </p:nvPr>
        </p:nvSpPr>
        <p:spPr>
          <a:xfrm>
            <a:off x="397110" y="1340768"/>
            <a:ext cx="8374063" cy="4896544"/>
          </a:xfrm>
        </p:spPr>
        <p:txBody>
          <a:bodyPr/>
          <a:lstStyle/>
          <a:p>
            <a:pPr marL="0" indent="0">
              <a:spcAft>
                <a:spcPts val="0"/>
              </a:spcAft>
              <a:buNone/>
            </a:pPr>
            <a:r>
              <a:rPr lang="en-US" sz="1600" b="1" dirty="0"/>
              <a:t>1. How does retrieved-context fit this domain?</a:t>
            </a:r>
          </a:p>
          <a:p>
            <a:pPr lvl="1">
              <a:spcAft>
                <a:spcPts val="0"/>
              </a:spcAft>
            </a:pPr>
            <a:r>
              <a:rPr lang="en-US" sz="1600" i="1" dirty="0"/>
              <a:t>Question</a:t>
            </a:r>
            <a:r>
              <a:rPr lang="en-US" sz="1600" dirty="0"/>
              <a:t>: Does a single CMR-like system give us the 2021 selective interference pattern in a natural way?</a:t>
            </a:r>
          </a:p>
          <a:p>
            <a:pPr lvl="1">
              <a:spcAft>
                <a:spcPts val="600"/>
              </a:spcAft>
            </a:pPr>
            <a:r>
              <a:rPr lang="en-US" sz="1600" i="1" dirty="0"/>
              <a:t>My take</a:t>
            </a:r>
            <a:r>
              <a:rPr lang="en-US" sz="1600" dirty="0"/>
              <a:t>: Yes: if interference is extra learning in the trauma context, CMR predicts big effects on ambient, context-driven intrusions and much smaller effects on probe-driven recognition, even with film cues.</a:t>
            </a:r>
          </a:p>
          <a:p>
            <a:pPr marL="0" indent="0">
              <a:spcAft>
                <a:spcPts val="0"/>
              </a:spcAft>
              <a:buNone/>
            </a:pPr>
            <a:r>
              <a:rPr lang="en-US" sz="1600" b="1" dirty="0"/>
              <a:t>2. What does that mean for our research goals?</a:t>
            </a:r>
          </a:p>
          <a:p>
            <a:pPr lvl="1">
              <a:spcAft>
                <a:spcPts val="0"/>
              </a:spcAft>
            </a:pPr>
            <a:r>
              <a:rPr lang="en-US" sz="1600" i="1" dirty="0"/>
              <a:t>Question</a:t>
            </a:r>
            <a:r>
              <a:rPr lang="en-US" sz="1600" dirty="0"/>
              <a:t>: Is 2021 mismatched to our objectives, or a case where we sharpen a single-system story?</a:t>
            </a:r>
          </a:p>
          <a:p>
            <a:pPr lvl="1">
              <a:spcAft>
                <a:spcPts val="600"/>
              </a:spcAft>
            </a:pPr>
            <a:r>
              <a:rPr lang="en-US" sz="1600" i="1" dirty="0"/>
              <a:t>My take coming in</a:t>
            </a:r>
            <a:r>
              <a:rPr lang="en-US" sz="1600" dirty="0"/>
              <a:t>: Treat 2021 as a useful case study for how retrieval regime shapes interference in a single system, and look to other paradigms (e.g. free recall + diary, matched-cue studies) for stronger dual vs unitary tests.</a:t>
            </a:r>
          </a:p>
          <a:p>
            <a:pPr marL="0" indent="0">
              <a:spcAft>
                <a:spcPts val="0"/>
              </a:spcAft>
              <a:buNone/>
            </a:pPr>
            <a:r>
              <a:rPr lang="en-US" sz="1600" b="1" dirty="0"/>
              <a:t>3. How should we sharpen our simulations?</a:t>
            </a:r>
          </a:p>
          <a:p>
            <a:pPr lvl="1">
              <a:spcAft>
                <a:spcPts val="0"/>
              </a:spcAft>
            </a:pPr>
            <a:r>
              <a:rPr lang="en-US" sz="1600" i="1" dirty="0"/>
              <a:t>Question</a:t>
            </a:r>
            <a:r>
              <a:rPr lang="en-US" sz="1600" dirty="0"/>
              <a:t>: What do we want the first CMR/</a:t>
            </a:r>
            <a:r>
              <a:rPr lang="en-US" sz="1600" dirty="0" err="1"/>
              <a:t>eCMR</a:t>
            </a:r>
            <a:r>
              <a:rPr lang="en-US" sz="1600" dirty="0"/>
              <a:t> simulations to actually demonstrate?</a:t>
            </a:r>
          </a:p>
          <a:p>
            <a:pPr lvl="1">
              <a:spcAft>
                <a:spcPts val="0"/>
              </a:spcAft>
            </a:pPr>
            <a:r>
              <a:rPr lang="en-US" sz="1600" i="1" dirty="0"/>
              <a:t>My take </a:t>
            </a:r>
            <a:r>
              <a:rPr lang="en-US" sz="1600" dirty="0"/>
              <a:t>coming in:</a:t>
            </a:r>
          </a:p>
          <a:p>
            <a:pPr lvl="2">
              <a:spcAft>
                <a:spcPts val="0"/>
              </a:spcAft>
            </a:pPr>
            <a:r>
              <a:rPr lang="en-US" sz="1600" dirty="0"/>
              <a:t>At minimum: qualitatively reproduce the 2021 pattern via a principled trauma-context interference mechanism.</a:t>
            </a:r>
          </a:p>
          <a:p>
            <a:pPr lvl="2">
              <a:spcAft>
                <a:spcPts val="0"/>
              </a:spcAft>
            </a:pPr>
            <a:r>
              <a:rPr lang="en-US" sz="1600" dirty="0"/>
              <a:t>Next: target a more context-matched paradigm as the flagship test for discriminating predictions.</a:t>
            </a:r>
          </a:p>
        </p:txBody>
      </p:sp>
    </p:spTree>
    <p:extLst>
      <p:ext uri="{BB962C8B-B14F-4D97-AF65-F5344CB8AC3E}">
        <p14:creationId xmlns:p14="http://schemas.microsoft.com/office/powerpoint/2010/main" val="927012374"/>
      </p:ext>
    </p:extLst>
  </p:cSld>
  <p:clrMapOvr>
    <a:masterClrMapping/>
  </p:clrMapOvr>
</p:sld>
</file>

<file path=ppt/theme/theme1.xml><?xml version="1.0" encoding="utf-8"?>
<a:theme xmlns:a="http://schemas.openxmlformats.org/drawingml/2006/main" name="blank">
  <a:themeElements>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fontScheme name="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clrMap bg1="lt1" tx1="dk1" bg2="lt2" tx2="dk2" accent1="accent1" accent2="accent2" accent3="accent3" accent4="accent4" accent5="accent5" accent6="accent6" hlink="hlink" folHlink="folHlink"/>
    </a:extraClrScheme>
    <a:extraClrScheme>
      <a:clrScheme name="blank 2">
        <a:dk1>
          <a:srgbClr val="003E72"/>
        </a:dk1>
        <a:lt1>
          <a:srgbClr val="FFFFFF"/>
        </a:lt1>
        <a:dk2>
          <a:srgbClr val="FFFFFF"/>
        </a:dk2>
        <a:lt2>
          <a:srgbClr val="83AFB4"/>
        </a:lt2>
        <a:accent1>
          <a:srgbClr val="6AADE4"/>
        </a:accent1>
        <a:accent2>
          <a:srgbClr val="EFBD47"/>
        </a:accent2>
        <a:accent3>
          <a:srgbClr val="FFFFFF"/>
        </a:accent3>
        <a:accent4>
          <a:srgbClr val="003460"/>
        </a:accent4>
        <a:accent5>
          <a:srgbClr val="B9D3EF"/>
        </a:accent5>
        <a:accent6>
          <a:srgbClr val="D9AB3F"/>
        </a:accent6>
        <a:hlink>
          <a:srgbClr val="A8B400"/>
        </a:hlink>
        <a:folHlink>
          <a:srgbClr val="6A4061"/>
        </a:folHlink>
      </a:clrScheme>
      <a:clrMap bg1="lt1" tx1="dk1" bg2="lt2" tx2="dk2" accent1="accent1" accent2="accent2" accent3="accent3" accent4="accent4" accent5="accent5" accent6="accent6" hlink="hlink" folHlink="folHlink"/>
    </a:extraClrScheme>
    <a:extraClrScheme>
      <a:clrScheme name="blank 3">
        <a:dk1>
          <a:srgbClr val="003E72"/>
        </a:dk1>
        <a:lt1>
          <a:srgbClr val="FFFFFF"/>
        </a:lt1>
        <a:dk2>
          <a:srgbClr val="FFFFFF"/>
        </a:dk2>
        <a:lt2>
          <a:srgbClr val="156570"/>
        </a:lt2>
        <a:accent1>
          <a:srgbClr val="003E72"/>
        </a:accent1>
        <a:accent2>
          <a:srgbClr val="C84E00"/>
        </a:accent2>
        <a:accent3>
          <a:srgbClr val="FFFFFF"/>
        </a:accent3>
        <a:accent4>
          <a:srgbClr val="003460"/>
        </a:accent4>
        <a:accent5>
          <a:srgbClr val="AAAFBC"/>
        </a:accent5>
        <a:accent6>
          <a:srgbClr val="B54600"/>
        </a:accent6>
        <a:hlink>
          <a:srgbClr val="435125"/>
        </a:hlink>
        <a:folHlink>
          <a:srgbClr val="412D5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30061</TotalTime>
  <Words>3238</Words>
  <Application>Microsoft Macintosh PowerPoint</Application>
  <PresentationFormat>On-screen Show (4:3)</PresentationFormat>
  <Paragraphs>237</Paragraphs>
  <Slides>16</Slides>
  <Notes>15</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16</vt:i4>
      </vt:variant>
    </vt:vector>
  </HeadingPairs>
  <TitlesOfParts>
    <vt:vector size="20" baseType="lpstr">
      <vt:lpstr>Arial</vt:lpstr>
      <vt:lpstr>Calibri</vt:lpstr>
      <vt:lpstr>blank</vt:lpstr>
      <vt:lpstr>Office Theme</vt:lpstr>
      <vt:lpstr>Modeling Meeting 3 15 January 2026</vt:lpstr>
      <vt:lpstr>Today’s Focus</vt:lpstr>
      <vt:lpstr>Key Questions for Today</vt:lpstr>
      <vt:lpstr>2021 Study: Task Features That Matter for CMR</vt:lpstr>
      <vt:lpstr>Lau-Zhu 2021: what they were trying to fix</vt:lpstr>
      <vt:lpstr>Lau-Zhu 2021: what they were trying to fix</vt:lpstr>
      <vt:lpstr>CMR’s Perspective on its Home Turf</vt:lpstr>
      <vt:lpstr>CMR’s Perspective on its Home Turf</vt:lpstr>
      <vt:lpstr>CMR perspective: VIT and diary as ambient, context-driven analogue to free recall</vt:lpstr>
      <vt:lpstr>CMR perspective: modified recognition  as item-driven retrieval of contexts</vt:lpstr>
      <vt:lpstr>What “Selective Interference” Looks Like Inside CMR</vt:lpstr>
      <vt:lpstr>Recognition vs Free Recall</vt:lpstr>
      <vt:lpstr>Two ways to treat the 2021 experiment in our project</vt:lpstr>
      <vt:lpstr>Implications for what we ask CMR to do</vt:lpstr>
      <vt:lpstr>Implications for selecting experiments to model</vt:lpstr>
      <vt:lpstr>Circling Back: Key Questions for Today</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c:creator>
  <cp:lastModifiedBy>Jordan Gunn</cp:lastModifiedBy>
  <cp:revision>60</cp:revision>
  <cp:lastPrinted>1601-01-01T00:00:00Z</cp:lastPrinted>
  <dcterms:created xsi:type="dcterms:W3CDTF">2008-03-27T10:29:55Z</dcterms:created>
  <dcterms:modified xsi:type="dcterms:W3CDTF">2026-02-11T08:34:09Z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