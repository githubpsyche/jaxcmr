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30175200" cy="4206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248" userDrawn="1">
          <p15:clr>
            <a:srgbClr val="A4A3A4"/>
          </p15:clr>
        </p15:guide>
        <p15:guide id="2" pos="95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18"/>
    <p:restoredTop sz="96621"/>
  </p:normalViewPr>
  <p:slideViewPr>
    <p:cSldViewPr snapToGrid="0">
      <p:cViewPr>
        <p:scale>
          <a:sx n="44" d="100"/>
          <a:sy n="44" d="100"/>
        </p:scale>
        <p:origin x="1048" y="-5688"/>
      </p:cViewPr>
      <p:guideLst>
        <p:guide orient="horz" pos="13248"/>
        <p:guide pos="95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5916DC-4114-8046-8117-7128A4471AEC}" type="datetimeFigureOut">
              <a:rPr lang="en-US" smtClean="0"/>
              <a:t>1/1/26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22513" y="1143000"/>
            <a:ext cx="22129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FB4BF9-A558-E241-B193-2028862C2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575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1pPr>
    <a:lvl2pPr marL="184343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2pPr>
    <a:lvl3pPr marL="368686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3pPr>
    <a:lvl4pPr marL="553029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4pPr>
    <a:lvl5pPr marL="737372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5pPr>
    <a:lvl6pPr marL="9217152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6pPr>
    <a:lvl7pPr marL="11060583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7pPr>
    <a:lvl8pPr marL="12904013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8pPr>
    <a:lvl9pPr marL="14747443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22513" y="1143000"/>
            <a:ext cx="22129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FB4BF9-A558-E241-B193-2028862C2A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630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3140" y="6883826"/>
            <a:ext cx="25648920" cy="14643947"/>
          </a:xfrm>
        </p:spPr>
        <p:txBody>
          <a:bodyPr anchor="b"/>
          <a:lstStyle>
            <a:lvl1pPr algn="ctr">
              <a:defRPr sz="19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1900" y="22092500"/>
            <a:ext cx="22631400" cy="10155340"/>
          </a:xfrm>
        </p:spPr>
        <p:txBody>
          <a:bodyPr/>
          <a:lstStyle>
            <a:lvl1pPr marL="0" indent="0" algn="ctr">
              <a:buNone/>
              <a:defRPr sz="7920"/>
            </a:lvl1pPr>
            <a:lvl2pPr marL="1508760" indent="0" algn="ctr">
              <a:buNone/>
              <a:defRPr sz="6600"/>
            </a:lvl2pPr>
            <a:lvl3pPr marL="3017520" indent="0" algn="ctr">
              <a:buNone/>
              <a:defRPr sz="5940"/>
            </a:lvl3pPr>
            <a:lvl4pPr marL="4526280" indent="0" algn="ctr">
              <a:buNone/>
              <a:defRPr sz="5280"/>
            </a:lvl4pPr>
            <a:lvl5pPr marL="6035040" indent="0" algn="ctr">
              <a:buNone/>
              <a:defRPr sz="5280"/>
            </a:lvl5pPr>
            <a:lvl6pPr marL="7543800" indent="0" algn="ctr">
              <a:buNone/>
              <a:defRPr sz="5280"/>
            </a:lvl6pPr>
            <a:lvl7pPr marL="9052560" indent="0" algn="ctr">
              <a:buNone/>
              <a:defRPr sz="5280"/>
            </a:lvl7pPr>
            <a:lvl8pPr marL="10561320" indent="0" algn="ctr">
              <a:buNone/>
              <a:defRPr sz="5280"/>
            </a:lvl8pPr>
            <a:lvl9pPr marL="12070080" indent="0" algn="ctr">
              <a:buNone/>
              <a:defRPr sz="52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733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64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8830" y="10486402"/>
            <a:ext cx="26026110" cy="17496787"/>
          </a:xfrm>
        </p:spPr>
        <p:txBody>
          <a:bodyPr anchor="b"/>
          <a:lstStyle>
            <a:lvl1pPr>
              <a:defRPr sz="19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58830" y="28148716"/>
            <a:ext cx="26026110" cy="9201147"/>
          </a:xfrm>
        </p:spPr>
        <p:txBody>
          <a:bodyPr/>
          <a:lstStyle>
            <a:lvl1pPr marL="0" indent="0">
              <a:buNone/>
              <a:defRPr sz="7920">
                <a:solidFill>
                  <a:schemeClr val="tx1">
                    <a:tint val="82000"/>
                  </a:schemeClr>
                </a:solidFill>
              </a:defRPr>
            </a:lvl1pPr>
            <a:lvl2pPr marL="1508760" indent="0">
              <a:buNone/>
              <a:defRPr sz="6600">
                <a:solidFill>
                  <a:schemeClr val="tx1">
                    <a:tint val="82000"/>
                  </a:schemeClr>
                </a:solidFill>
              </a:defRPr>
            </a:lvl2pPr>
            <a:lvl3pPr marL="3017520" indent="0">
              <a:buNone/>
              <a:defRPr sz="5940">
                <a:solidFill>
                  <a:schemeClr val="tx1">
                    <a:tint val="82000"/>
                  </a:schemeClr>
                </a:solidFill>
              </a:defRPr>
            </a:lvl3pPr>
            <a:lvl4pPr marL="452628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4pPr>
            <a:lvl5pPr marL="603504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5pPr>
            <a:lvl6pPr marL="754380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6pPr>
            <a:lvl7pPr marL="905256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7pPr>
            <a:lvl8pPr marL="1056132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8pPr>
            <a:lvl9pPr marL="1207008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316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4545" y="11197167"/>
            <a:ext cx="12824460" cy="26688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6195" y="11197167"/>
            <a:ext cx="12824460" cy="26688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023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475" y="2239442"/>
            <a:ext cx="26026110" cy="81301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8479" y="10311133"/>
            <a:ext cx="12765522" cy="5053327"/>
          </a:xfrm>
        </p:spPr>
        <p:txBody>
          <a:bodyPr anchor="b"/>
          <a:lstStyle>
            <a:lvl1pPr marL="0" indent="0">
              <a:buNone/>
              <a:defRPr sz="7920" b="1"/>
            </a:lvl1pPr>
            <a:lvl2pPr marL="1508760" indent="0">
              <a:buNone/>
              <a:defRPr sz="6600" b="1"/>
            </a:lvl2pPr>
            <a:lvl3pPr marL="3017520" indent="0">
              <a:buNone/>
              <a:defRPr sz="5940" b="1"/>
            </a:lvl3pPr>
            <a:lvl4pPr marL="4526280" indent="0">
              <a:buNone/>
              <a:defRPr sz="5280" b="1"/>
            </a:lvl4pPr>
            <a:lvl5pPr marL="6035040" indent="0">
              <a:buNone/>
              <a:defRPr sz="5280" b="1"/>
            </a:lvl5pPr>
            <a:lvl6pPr marL="7543800" indent="0">
              <a:buNone/>
              <a:defRPr sz="5280" b="1"/>
            </a:lvl6pPr>
            <a:lvl7pPr marL="9052560" indent="0">
              <a:buNone/>
              <a:defRPr sz="5280" b="1"/>
            </a:lvl7pPr>
            <a:lvl8pPr marL="10561320" indent="0">
              <a:buNone/>
              <a:defRPr sz="5280" b="1"/>
            </a:lvl8pPr>
            <a:lvl9pPr marL="12070080" indent="0">
              <a:buNone/>
              <a:defRPr sz="5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8479" y="15364460"/>
            <a:ext cx="12765522" cy="22598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76197" y="10311133"/>
            <a:ext cx="12828390" cy="5053327"/>
          </a:xfrm>
        </p:spPr>
        <p:txBody>
          <a:bodyPr anchor="b"/>
          <a:lstStyle>
            <a:lvl1pPr marL="0" indent="0">
              <a:buNone/>
              <a:defRPr sz="7920" b="1"/>
            </a:lvl1pPr>
            <a:lvl2pPr marL="1508760" indent="0">
              <a:buNone/>
              <a:defRPr sz="6600" b="1"/>
            </a:lvl2pPr>
            <a:lvl3pPr marL="3017520" indent="0">
              <a:buNone/>
              <a:defRPr sz="5940" b="1"/>
            </a:lvl3pPr>
            <a:lvl4pPr marL="4526280" indent="0">
              <a:buNone/>
              <a:defRPr sz="5280" b="1"/>
            </a:lvl4pPr>
            <a:lvl5pPr marL="6035040" indent="0">
              <a:buNone/>
              <a:defRPr sz="5280" b="1"/>
            </a:lvl5pPr>
            <a:lvl6pPr marL="7543800" indent="0">
              <a:buNone/>
              <a:defRPr sz="5280" b="1"/>
            </a:lvl6pPr>
            <a:lvl7pPr marL="9052560" indent="0">
              <a:buNone/>
              <a:defRPr sz="5280" b="1"/>
            </a:lvl7pPr>
            <a:lvl8pPr marL="10561320" indent="0">
              <a:buNone/>
              <a:defRPr sz="5280" b="1"/>
            </a:lvl8pPr>
            <a:lvl9pPr marL="12070080" indent="0">
              <a:buNone/>
              <a:defRPr sz="5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76197" y="15364460"/>
            <a:ext cx="12828390" cy="22598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9855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48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263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476" y="2804160"/>
            <a:ext cx="9732287" cy="9814560"/>
          </a:xfrm>
        </p:spPr>
        <p:txBody>
          <a:bodyPr anchor="b"/>
          <a:lstStyle>
            <a:lvl1pPr>
              <a:defRPr sz="10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28390" y="6056216"/>
            <a:ext cx="15276195" cy="29891567"/>
          </a:xfrm>
        </p:spPr>
        <p:txBody>
          <a:bodyPr/>
          <a:lstStyle>
            <a:lvl1pPr>
              <a:defRPr sz="10560"/>
            </a:lvl1pPr>
            <a:lvl2pPr>
              <a:defRPr sz="9240"/>
            </a:lvl2pPr>
            <a:lvl3pPr>
              <a:defRPr sz="7920"/>
            </a:lvl3pPr>
            <a:lvl4pPr>
              <a:defRPr sz="6600"/>
            </a:lvl4pPr>
            <a:lvl5pPr>
              <a:defRPr sz="6600"/>
            </a:lvl5pPr>
            <a:lvl6pPr>
              <a:defRPr sz="6600"/>
            </a:lvl6pPr>
            <a:lvl7pPr>
              <a:defRPr sz="6600"/>
            </a:lvl7pPr>
            <a:lvl8pPr>
              <a:defRPr sz="6600"/>
            </a:lvl8pPr>
            <a:lvl9pPr>
              <a:defRPr sz="6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8476" y="12618720"/>
            <a:ext cx="9732287" cy="23377740"/>
          </a:xfrm>
        </p:spPr>
        <p:txBody>
          <a:bodyPr/>
          <a:lstStyle>
            <a:lvl1pPr marL="0" indent="0">
              <a:buNone/>
              <a:defRPr sz="5280"/>
            </a:lvl1pPr>
            <a:lvl2pPr marL="1508760" indent="0">
              <a:buNone/>
              <a:defRPr sz="4620"/>
            </a:lvl2pPr>
            <a:lvl3pPr marL="3017520" indent="0">
              <a:buNone/>
              <a:defRPr sz="3960"/>
            </a:lvl3pPr>
            <a:lvl4pPr marL="4526280" indent="0">
              <a:buNone/>
              <a:defRPr sz="3300"/>
            </a:lvl4pPr>
            <a:lvl5pPr marL="6035040" indent="0">
              <a:buNone/>
              <a:defRPr sz="3300"/>
            </a:lvl5pPr>
            <a:lvl6pPr marL="7543800" indent="0">
              <a:buNone/>
              <a:defRPr sz="3300"/>
            </a:lvl6pPr>
            <a:lvl7pPr marL="9052560" indent="0">
              <a:buNone/>
              <a:defRPr sz="3300"/>
            </a:lvl7pPr>
            <a:lvl8pPr marL="10561320" indent="0">
              <a:buNone/>
              <a:defRPr sz="3300"/>
            </a:lvl8pPr>
            <a:lvl9pPr marL="12070080" indent="0">
              <a:buNone/>
              <a:defRPr sz="3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459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476" y="2804160"/>
            <a:ext cx="9732287" cy="9814560"/>
          </a:xfrm>
        </p:spPr>
        <p:txBody>
          <a:bodyPr anchor="b"/>
          <a:lstStyle>
            <a:lvl1pPr>
              <a:defRPr sz="10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28390" y="6056216"/>
            <a:ext cx="15276195" cy="29891567"/>
          </a:xfrm>
        </p:spPr>
        <p:txBody>
          <a:bodyPr anchor="t"/>
          <a:lstStyle>
            <a:lvl1pPr marL="0" indent="0">
              <a:buNone/>
              <a:defRPr sz="10560"/>
            </a:lvl1pPr>
            <a:lvl2pPr marL="1508760" indent="0">
              <a:buNone/>
              <a:defRPr sz="9240"/>
            </a:lvl2pPr>
            <a:lvl3pPr marL="3017520" indent="0">
              <a:buNone/>
              <a:defRPr sz="7920"/>
            </a:lvl3pPr>
            <a:lvl4pPr marL="4526280" indent="0">
              <a:buNone/>
              <a:defRPr sz="6600"/>
            </a:lvl4pPr>
            <a:lvl5pPr marL="6035040" indent="0">
              <a:buNone/>
              <a:defRPr sz="6600"/>
            </a:lvl5pPr>
            <a:lvl6pPr marL="7543800" indent="0">
              <a:buNone/>
              <a:defRPr sz="6600"/>
            </a:lvl6pPr>
            <a:lvl7pPr marL="9052560" indent="0">
              <a:buNone/>
              <a:defRPr sz="6600"/>
            </a:lvl7pPr>
            <a:lvl8pPr marL="10561320" indent="0">
              <a:buNone/>
              <a:defRPr sz="6600"/>
            </a:lvl8pPr>
            <a:lvl9pPr marL="12070080" indent="0">
              <a:buNone/>
              <a:defRPr sz="6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8476" y="12618720"/>
            <a:ext cx="9732287" cy="23377740"/>
          </a:xfrm>
        </p:spPr>
        <p:txBody>
          <a:bodyPr/>
          <a:lstStyle>
            <a:lvl1pPr marL="0" indent="0">
              <a:buNone/>
              <a:defRPr sz="5280"/>
            </a:lvl1pPr>
            <a:lvl2pPr marL="1508760" indent="0">
              <a:buNone/>
              <a:defRPr sz="4620"/>
            </a:lvl2pPr>
            <a:lvl3pPr marL="3017520" indent="0">
              <a:buNone/>
              <a:defRPr sz="3960"/>
            </a:lvl3pPr>
            <a:lvl4pPr marL="4526280" indent="0">
              <a:buNone/>
              <a:defRPr sz="3300"/>
            </a:lvl4pPr>
            <a:lvl5pPr marL="6035040" indent="0">
              <a:buNone/>
              <a:defRPr sz="3300"/>
            </a:lvl5pPr>
            <a:lvl6pPr marL="7543800" indent="0">
              <a:buNone/>
              <a:defRPr sz="3300"/>
            </a:lvl6pPr>
            <a:lvl7pPr marL="9052560" indent="0">
              <a:buNone/>
              <a:defRPr sz="3300"/>
            </a:lvl7pPr>
            <a:lvl8pPr marL="10561320" indent="0">
              <a:buNone/>
              <a:defRPr sz="3300"/>
            </a:lvl8pPr>
            <a:lvl9pPr marL="12070080" indent="0">
              <a:buNone/>
              <a:defRPr sz="3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66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637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594129" y="2239433"/>
            <a:ext cx="6506528" cy="3564594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4546" y="2239433"/>
            <a:ext cx="19142393" cy="3564594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871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4545" y="2239442"/>
            <a:ext cx="26026110" cy="813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4545" y="11197167"/>
            <a:ext cx="26026110" cy="26688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4545" y="38985623"/>
            <a:ext cx="6789420" cy="22394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1B30B0-99F5-B94E-85D9-12C5A38C7F15}" type="datetimeFigureOut">
              <a:rPr lang="en-US" smtClean="0"/>
              <a:t>1/1/26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995535" y="38985623"/>
            <a:ext cx="10184130" cy="22394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11235" y="38985623"/>
            <a:ext cx="6789420" cy="22394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81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3017520" rtl="0" eaLnBrk="1" latinLnBrk="0" hangingPunct="1">
        <a:lnSpc>
          <a:spcPct val="90000"/>
        </a:lnSpc>
        <a:spcBef>
          <a:spcPct val="0"/>
        </a:spcBef>
        <a:buNone/>
        <a:defRPr sz="145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4380" indent="-754380" algn="l" defTabSz="3017520" rtl="0" eaLnBrk="1" latinLnBrk="0" hangingPunct="1">
        <a:lnSpc>
          <a:spcPct val="90000"/>
        </a:lnSpc>
        <a:spcBef>
          <a:spcPts val="3300"/>
        </a:spcBef>
        <a:buFont typeface="Arial" panose="020B0604020202020204" pitchFamily="34" charset="0"/>
        <a:buChar char="•"/>
        <a:defRPr sz="9240" kern="1200">
          <a:solidFill>
            <a:schemeClr val="tx1"/>
          </a:solidFill>
          <a:latin typeface="+mn-lt"/>
          <a:ea typeface="+mn-ea"/>
          <a:cs typeface="+mn-cs"/>
        </a:defRPr>
      </a:lvl1pPr>
      <a:lvl2pPr marL="226314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7920" kern="1200">
          <a:solidFill>
            <a:schemeClr val="tx1"/>
          </a:solidFill>
          <a:latin typeface="+mn-lt"/>
          <a:ea typeface="+mn-ea"/>
          <a:cs typeface="+mn-cs"/>
        </a:defRPr>
      </a:lvl2pPr>
      <a:lvl3pPr marL="377190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6600" kern="1200">
          <a:solidFill>
            <a:schemeClr val="tx1"/>
          </a:solidFill>
          <a:latin typeface="+mn-lt"/>
          <a:ea typeface="+mn-ea"/>
          <a:cs typeface="+mn-cs"/>
        </a:defRPr>
      </a:lvl3pPr>
      <a:lvl4pPr marL="528066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4pPr>
      <a:lvl5pPr marL="678942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5pPr>
      <a:lvl6pPr marL="829818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6pPr>
      <a:lvl7pPr marL="980694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7pPr>
      <a:lvl8pPr marL="1131570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8pPr>
      <a:lvl9pPr marL="1282446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1pPr>
      <a:lvl2pPr marL="150876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2pPr>
      <a:lvl3pPr marL="301752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3pPr>
      <a:lvl4pPr marL="452628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4pPr>
      <a:lvl5pPr marL="603504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0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6pPr>
      <a:lvl7pPr marL="905256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7pPr>
      <a:lvl8pPr marL="1056132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8pPr>
      <a:lvl9pPr marL="1207008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Picture 438">
            <a:extLst>
              <a:ext uri="{FF2B5EF4-FFF2-40B4-BE49-F238E27FC236}">
                <a16:creationId xmlns:a16="http://schemas.microsoft.com/office/drawing/2014/main" id="{6C9E9DE8-6023-E36C-F7D2-8F2E4A46B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07012" y="29976275"/>
            <a:ext cx="5067238" cy="3780320"/>
          </a:xfrm>
          <a:prstGeom prst="rect">
            <a:avLst/>
          </a:prstGeom>
        </p:spPr>
      </p:pic>
      <p:pic>
        <p:nvPicPr>
          <p:cNvPr id="437" name="Picture 436">
            <a:extLst>
              <a:ext uri="{FF2B5EF4-FFF2-40B4-BE49-F238E27FC236}">
                <a16:creationId xmlns:a16="http://schemas.microsoft.com/office/drawing/2014/main" id="{B018F63F-3C6A-5FEF-2D53-3CFFE25525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47552" y="29976275"/>
            <a:ext cx="5067238" cy="3780320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CA022E23-A6E9-E5AE-185B-5A218CE4D3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53343" y="29976275"/>
            <a:ext cx="5067238" cy="3780320"/>
          </a:xfrm>
          <a:prstGeom prst="rect">
            <a:avLst/>
          </a:prstGeom>
        </p:spPr>
      </p:pic>
      <p:pic>
        <p:nvPicPr>
          <p:cNvPr id="434" name="Picture 433">
            <a:extLst>
              <a:ext uri="{FF2B5EF4-FFF2-40B4-BE49-F238E27FC236}">
                <a16:creationId xmlns:a16="http://schemas.microsoft.com/office/drawing/2014/main" id="{4430A26F-D6FA-B797-E3C0-4F7089BB8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4228" y="29963574"/>
            <a:ext cx="5067238" cy="3780320"/>
          </a:xfrm>
          <a:prstGeom prst="rect">
            <a:avLst/>
          </a:prstGeom>
        </p:spPr>
      </p:pic>
      <p:pic>
        <p:nvPicPr>
          <p:cNvPr id="389" name="Picture 388">
            <a:extLst>
              <a:ext uri="{FF2B5EF4-FFF2-40B4-BE49-F238E27FC236}">
                <a16:creationId xmlns:a16="http://schemas.microsoft.com/office/drawing/2014/main" id="{E7A7069D-9F00-0AED-F2A4-97674BBC7D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76765" y="20408389"/>
            <a:ext cx="5058451" cy="376573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445436D-9950-4C96-D12D-E2FEE6436DE6}"/>
              </a:ext>
            </a:extLst>
          </p:cNvPr>
          <p:cNvSpPr txBox="1"/>
          <p:nvPr/>
        </p:nvSpPr>
        <p:spPr>
          <a:xfrm>
            <a:off x="0" y="52251"/>
            <a:ext cx="30175200" cy="3794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8229" b="1" dirty="0">
                <a:latin typeface="Helvetica" pitchFamily="2" charset="0"/>
                <a:cs typeface="Futura Medium" panose="020B0602020204020303" pitchFamily="34" charset="-79"/>
              </a:rPr>
              <a:t>Same item, Distinct Contexts: </a:t>
            </a:r>
          </a:p>
          <a:p>
            <a:pPr algn="ctr">
              <a:spcAft>
                <a:spcPts val="1200"/>
              </a:spcAft>
            </a:pPr>
            <a:r>
              <a:rPr lang="en-US" sz="8229" b="1" dirty="0">
                <a:latin typeface="Helvetica" pitchFamily="2" charset="0"/>
                <a:cs typeface="Futura Medium" panose="020B0602020204020303" pitchFamily="34" charset="-79"/>
              </a:rPr>
              <a:t>Episode-Specific Reinstatement in Free and Serial Recall</a:t>
            </a:r>
          </a:p>
          <a:p>
            <a:pPr algn="ctr"/>
            <a:r>
              <a:rPr lang="en-US" sz="5600" b="1" dirty="0">
                <a:latin typeface="Helvetica" pitchFamily="2" charset="0"/>
                <a:cs typeface="Futura Medium" panose="020B0602020204020303" pitchFamily="34" charset="-79"/>
              </a:rPr>
              <a:t>Jordan Gunn, Sean Polyn, Department of Psychology, Vanderbilt University</a:t>
            </a:r>
          </a:p>
        </p:txBody>
      </p:sp>
      <p:sp>
        <p:nvSpPr>
          <p:cNvPr id="65" name="Arrow: Right 12">
            <a:extLst>
              <a:ext uri="{FF2B5EF4-FFF2-40B4-BE49-F238E27FC236}">
                <a16:creationId xmlns:a16="http://schemas.microsoft.com/office/drawing/2014/main" id="{24EE9A9F-6BC9-F770-D2FB-FDE627CC2835}"/>
              </a:ext>
            </a:extLst>
          </p:cNvPr>
          <p:cNvSpPr/>
          <p:nvPr/>
        </p:nvSpPr>
        <p:spPr>
          <a:xfrm rot="10800000">
            <a:off x="2923947" y="7533888"/>
            <a:ext cx="5464882" cy="60217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6ED2D07-0415-D1DE-EBD1-E519E203D18C}"/>
              </a:ext>
            </a:extLst>
          </p:cNvPr>
          <p:cNvSpPr txBox="1"/>
          <p:nvPr/>
        </p:nvSpPr>
        <p:spPr>
          <a:xfrm>
            <a:off x="3238520" y="7646522"/>
            <a:ext cx="3367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Mental Time Travel To Item A</a:t>
            </a:r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BE42EB15-3CA7-D450-B111-C7190F84348B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2809" y="9389397"/>
            <a:ext cx="9370139" cy="964573"/>
          </a:xfrm>
          <a:prstGeom prst="rect">
            <a:avLst/>
          </a:prstGeom>
        </p:spPr>
      </p:pic>
      <p:grpSp>
        <p:nvGrpSpPr>
          <p:cNvPr id="94" name="Group 93">
            <a:extLst>
              <a:ext uri="{FF2B5EF4-FFF2-40B4-BE49-F238E27FC236}">
                <a16:creationId xmlns:a16="http://schemas.microsoft.com/office/drawing/2014/main" id="{B2E31C42-7D66-10D3-F29F-104BE13C6B7C}"/>
              </a:ext>
            </a:extLst>
          </p:cNvPr>
          <p:cNvGrpSpPr/>
          <p:nvPr/>
        </p:nvGrpSpPr>
        <p:grpSpPr>
          <a:xfrm>
            <a:off x="1256847" y="8047711"/>
            <a:ext cx="8854328" cy="2685212"/>
            <a:chOff x="221738" y="2459421"/>
            <a:chExt cx="8854328" cy="2685212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65CA13B-6E2C-59CB-DDF4-42315712E79D}"/>
                </a:ext>
              </a:extLst>
            </p:cNvPr>
            <p:cNvSpPr txBox="1"/>
            <p:nvPr/>
          </p:nvSpPr>
          <p:spPr>
            <a:xfrm>
              <a:off x="221738" y="3033083"/>
              <a:ext cx="69207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dirty="0">
                  <a:solidFill>
                    <a:srgbClr val="FF0000"/>
                  </a:solidFill>
                </a:rPr>
                <a:t>A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FFC000"/>
                  </a:solidFill>
                </a:rPr>
                <a:t>B</a:t>
              </a:r>
              <a:r>
                <a:rPr lang="en-US" sz="6000" dirty="0"/>
                <a:t> </a:t>
              </a:r>
              <a:r>
                <a:rPr lang="en-US" sz="7200" b="1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200" dirty="0">
                  <a:solidFill>
                    <a:srgbClr val="92D050"/>
                  </a:solidFill>
                </a:rPr>
                <a:t>D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00B0F0"/>
                  </a:solidFill>
                </a:rPr>
                <a:t>E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7030A0"/>
                  </a:solidFill>
                </a:rPr>
                <a:t>F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5">
                      <a:lumMod val="75000"/>
                    </a:schemeClr>
                  </a:solidFill>
                </a:rPr>
                <a:t>G</a:t>
              </a:r>
              <a:r>
                <a:rPr lang="en-US" sz="6000" dirty="0"/>
                <a:t> </a:t>
              </a:r>
              <a:r>
                <a:rPr lang="en-US" sz="7200" b="1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6">
                      <a:lumMod val="75000"/>
                    </a:schemeClr>
                  </a:solidFill>
                </a:rPr>
                <a:t>H</a:t>
              </a:r>
              <a:r>
                <a:rPr lang="en-US" sz="6000" dirty="0"/>
                <a:t> I </a:t>
              </a:r>
              <a:endParaRPr lang="en-US" sz="6000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96" name="Thought Bubble: Cloud 9">
              <a:extLst>
                <a:ext uri="{FF2B5EF4-FFF2-40B4-BE49-F238E27FC236}">
                  <a16:creationId xmlns:a16="http://schemas.microsoft.com/office/drawing/2014/main" id="{ACCEB6C8-4BD2-2ACB-FB5C-0C018CCF1EA8}"/>
                </a:ext>
              </a:extLst>
            </p:cNvPr>
            <p:cNvSpPr/>
            <p:nvPr/>
          </p:nvSpPr>
          <p:spPr>
            <a:xfrm>
              <a:off x="7039147" y="2897753"/>
              <a:ext cx="1517783" cy="1062494"/>
            </a:xfrm>
            <a:prstGeom prst="cloudCallout">
              <a:avLst>
                <a:gd name="adj1" fmla="val -51715"/>
                <a:gd name="adj2" fmla="val -4583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257AB7-87A5-E3E9-D4D3-B7B89C22AB71}"/>
                </a:ext>
              </a:extLst>
            </p:cNvPr>
            <p:cNvSpPr txBox="1"/>
            <p:nvPr/>
          </p:nvSpPr>
          <p:spPr>
            <a:xfrm>
              <a:off x="7183885" y="3025445"/>
              <a:ext cx="189218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>
                  <a:solidFill>
                    <a:srgbClr val="FF66FF"/>
                  </a:solidFill>
                </a:rPr>
                <a:t>C</a:t>
              </a:r>
              <a:r>
                <a:rPr lang="en-US" sz="4400" b="1" dirty="0"/>
                <a:t>…?</a:t>
              </a:r>
              <a:endParaRPr lang="en-US" sz="4400" dirty="0"/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449D5C58-7264-AA42-19FF-03A318A8F0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9172" y="2459421"/>
              <a:ext cx="0" cy="26852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6A14D46E-B0D5-802C-7236-7FD4F1581C2C}"/>
                </a:ext>
              </a:extLst>
            </p:cNvPr>
            <p:cNvSpPr txBox="1"/>
            <p:nvPr/>
          </p:nvSpPr>
          <p:spPr>
            <a:xfrm>
              <a:off x="977463" y="4775301"/>
              <a:ext cx="15607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Study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23A3B63-646F-46B2-1A03-08A70B28F50D}"/>
                </a:ext>
              </a:extLst>
            </p:cNvPr>
            <p:cNvSpPr txBox="1"/>
            <p:nvPr/>
          </p:nvSpPr>
          <p:spPr>
            <a:xfrm>
              <a:off x="6996145" y="4775301"/>
              <a:ext cx="15607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Free Recall</a:t>
              </a:r>
            </a:p>
          </p:txBody>
        </p:sp>
      </p:grpSp>
      <p:sp>
        <p:nvSpPr>
          <p:cNvPr id="103" name="Arrow: Curved Up 3">
            <a:extLst>
              <a:ext uri="{FF2B5EF4-FFF2-40B4-BE49-F238E27FC236}">
                <a16:creationId xmlns:a16="http://schemas.microsoft.com/office/drawing/2014/main" id="{5A7A3D0C-CEC5-B3A7-34D2-BD0431EBBF04}"/>
              </a:ext>
            </a:extLst>
          </p:cNvPr>
          <p:cNvSpPr/>
          <p:nvPr/>
        </p:nvSpPr>
        <p:spPr>
          <a:xfrm rot="10800000">
            <a:off x="3281525" y="8168625"/>
            <a:ext cx="4749727" cy="553466"/>
          </a:xfrm>
          <a:prstGeom prst="curved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0" name="Arrow: Curved Up 4">
            <a:extLst>
              <a:ext uri="{FF2B5EF4-FFF2-40B4-BE49-F238E27FC236}">
                <a16:creationId xmlns:a16="http://schemas.microsoft.com/office/drawing/2014/main" id="{72856B68-EB34-C26A-64BB-9917B7682476}"/>
              </a:ext>
            </a:extLst>
          </p:cNvPr>
          <p:cNvSpPr/>
          <p:nvPr/>
        </p:nvSpPr>
        <p:spPr>
          <a:xfrm rot="10800000">
            <a:off x="6384344" y="8160231"/>
            <a:ext cx="1637267" cy="569503"/>
          </a:xfrm>
          <a:prstGeom prst="curved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AF3E20C-CC04-9405-7E85-A0A9B5399F40}"/>
              </a:ext>
            </a:extLst>
          </p:cNvPr>
          <p:cNvSpPr txBox="1"/>
          <p:nvPr/>
        </p:nvSpPr>
        <p:spPr>
          <a:xfrm>
            <a:off x="6124253" y="8364429"/>
            <a:ext cx="472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?</a:t>
            </a:r>
          </a:p>
        </p:txBody>
      </p:sp>
      <p:sp>
        <p:nvSpPr>
          <p:cNvPr id="112" name="Arrow: Right 11">
            <a:extLst>
              <a:ext uri="{FF2B5EF4-FFF2-40B4-BE49-F238E27FC236}">
                <a16:creationId xmlns:a16="http://schemas.microsoft.com/office/drawing/2014/main" id="{714CBD2B-1F93-4DE8-AA6D-CADE5C5574DA}"/>
              </a:ext>
            </a:extLst>
          </p:cNvPr>
          <p:cNvSpPr/>
          <p:nvPr/>
        </p:nvSpPr>
        <p:spPr>
          <a:xfrm>
            <a:off x="2950166" y="9578793"/>
            <a:ext cx="770081" cy="59120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Arrow: Right 13">
            <a:extLst>
              <a:ext uri="{FF2B5EF4-FFF2-40B4-BE49-F238E27FC236}">
                <a16:creationId xmlns:a16="http://schemas.microsoft.com/office/drawing/2014/main" id="{BDEECA17-47AE-0F18-F6D6-296D6E9572A3}"/>
              </a:ext>
            </a:extLst>
          </p:cNvPr>
          <p:cNvSpPr/>
          <p:nvPr/>
        </p:nvSpPr>
        <p:spPr>
          <a:xfrm>
            <a:off x="6342950" y="9568540"/>
            <a:ext cx="704229" cy="577862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70EAA4CD-8B46-99D4-6B82-6D19DA66C2DB}"/>
              </a:ext>
            </a:extLst>
          </p:cNvPr>
          <p:cNvSpPr txBox="1"/>
          <p:nvPr/>
        </p:nvSpPr>
        <p:spPr>
          <a:xfrm>
            <a:off x="3114865" y="9677378"/>
            <a:ext cx="472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?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1E91C3-2B2E-D42C-FF1C-E0CFF9413E5D}"/>
              </a:ext>
            </a:extLst>
          </p:cNvPr>
          <p:cNvSpPr txBox="1"/>
          <p:nvPr/>
        </p:nvSpPr>
        <p:spPr>
          <a:xfrm>
            <a:off x="3037428" y="8323773"/>
            <a:ext cx="472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?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F193325-831F-AE98-A6EA-C12A45E71DFF}"/>
              </a:ext>
            </a:extLst>
          </p:cNvPr>
          <p:cNvSpPr txBox="1"/>
          <p:nvPr/>
        </p:nvSpPr>
        <p:spPr>
          <a:xfrm>
            <a:off x="6605918" y="9670432"/>
            <a:ext cx="472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?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56AB4CD-F594-6390-FF05-1F2CE7A16E4B}"/>
              </a:ext>
            </a:extLst>
          </p:cNvPr>
          <p:cNvSpPr txBox="1"/>
          <p:nvPr/>
        </p:nvSpPr>
        <p:spPr>
          <a:xfrm>
            <a:off x="476352" y="5217286"/>
            <a:ext cx="969351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Retrieved context theory (</a:t>
            </a:r>
            <a:r>
              <a:rPr lang="en-US" sz="2400" b="1" dirty="0">
                <a:latin typeface="Helvetica" pitchFamily="2" charset="0"/>
              </a:rPr>
              <a:t>RCT</a:t>
            </a:r>
            <a:r>
              <a:rPr lang="en-US" sz="2400" dirty="0">
                <a:latin typeface="Helvetica" pitchFamily="2" charset="0"/>
              </a:rPr>
              <a:t>) explains memory search as </a:t>
            </a:r>
            <a:r>
              <a:rPr lang="en-US" sz="2400" b="1" dirty="0">
                <a:latin typeface="Helvetica" pitchFamily="2" charset="0"/>
              </a:rPr>
              <a:t>mental time travel</a:t>
            </a:r>
            <a:r>
              <a:rPr lang="en-US" sz="2400" dirty="0">
                <a:latin typeface="Helvetica" pitchFamily="2" charset="0"/>
              </a:rPr>
              <a:t>, where people revisit past contexts to retrieve associated items. Recalling an item reinstates its associated </a:t>
            </a:r>
            <a:r>
              <a:rPr lang="en-US" sz="2400" b="1" dirty="0">
                <a:latin typeface="Helvetica" pitchFamily="2" charset="0"/>
              </a:rPr>
              <a:t>temporal context</a:t>
            </a:r>
            <a:r>
              <a:rPr lang="en-US" sz="2400" dirty="0">
                <a:latin typeface="Helvetica" pitchFamily="2" charset="0"/>
              </a:rPr>
              <a:t>, biasing subsequent retrievals to items studied nearby in time. (Tulving, 1972; Howard &amp; Kahana, 2002).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FD1419F-C703-3F43-816E-9DF7ECC16679}"/>
              </a:ext>
            </a:extLst>
          </p:cNvPr>
          <p:cNvSpPr txBox="1"/>
          <p:nvPr/>
        </p:nvSpPr>
        <p:spPr>
          <a:xfrm>
            <a:off x="4581691" y="41434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D922855-0BD5-0D80-68ED-B564AA22A2F9}"/>
              </a:ext>
            </a:extLst>
          </p:cNvPr>
          <p:cNvSpPr/>
          <p:nvPr/>
        </p:nvSpPr>
        <p:spPr>
          <a:xfrm>
            <a:off x="11965990" y="3999141"/>
            <a:ext cx="71251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Item-Based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(Standard CMR)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07AFA5-7662-DC32-AF2D-408782AF3F50}"/>
              </a:ext>
            </a:extLst>
          </p:cNvPr>
          <p:cNvSpPr/>
          <p:nvPr/>
        </p:nvSpPr>
        <p:spPr>
          <a:xfrm>
            <a:off x="597708" y="4021706"/>
            <a:ext cx="9450802" cy="90846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Introduction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407F7B7-FEB6-2BF8-5EC4-6DBEC22137BD}"/>
              </a:ext>
            </a:extLst>
          </p:cNvPr>
          <p:cNvSpPr txBox="1"/>
          <p:nvPr/>
        </p:nvSpPr>
        <p:spPr>
          <a:xfrm>
            <a:off x="10705478" y="5016977"/>
            <a:ext cx="96935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 CMR, item identity drives context evolution. Each time an item appears, it reinstates a blend of contexts associated with the item. At encoding, restudying C reinstates context that overlaps with its first presentation. At recall, retrieving C reinstates a composite of occurrence contexts that targets both presentations’ neighbors for successive retrieval. Both processes </a:t>
            </a:r>
            <a:r>
              <a:rPr lang="en-US" sz="2400" b="1" dirty="0">
                <a:latin typeface="Helvetica" pitchFamily="2" charset="0"/>
              </a:rPr>
              <a:t>knit the two contexts together</a:t>
            </a:r>
            <a:r>
              <a:rPr lang="en-US" sz="2400" dirty="0">
                <a:latin typeface="Helvetica" pitchFamily="2" charset="0"/>
              </a:rPr>
              <a:t>.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9C079CD5-2102-BC0C-ADFD-9733863E75E1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650532" y="7964266"/>
            <a:ext cx="8198984" cy="964573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50028514-58E3-9CB2-CAD4-1E5314B9131B}"/>
              </a:ext>
            </a:extLst>
          </p:cNvPr>
          <p:cNvSpPr txBox="1"/>
          <p:nvPr/>
        </p:nvSpPr>
        <p:spPr>
          <a:xfrm>
            <a:off x="12425887" y="7196242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r>
              <a:rPr lang="en-US" sz="6000" dirty="0"/>
              <a:t> I </a:t>
            </a:r>
            <a:endParaRPr lang="en-US" sz="60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DA91A36-37DF-8FED-4853-1E9A333F8A7F}"/>
              </a:ext>
            </a:extLst>
          </p:cNvPr>
          <p:cNvSpPr txBox="1"/>
          <p:nvPr/>
        </p:nvSpPr>
        <p:spPr>
          <a:xfrm>
            <a:off x="13148020" y="9418273"/>
            <a:ext cx="5763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Restudy Produces Overlapping Context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2DEADE-D7F9-6475-AD05-625150E2C353}"/>
              </a:ext>
            </a:extLst>
          </p:cNvPr>
          <p:cNvSpPr txBox="1"/>
          <p:nvPr/>
        </p:nvSpPr>
        <p:spPr>
          <a:xfrm>
            <a:off x="10545342" y="7589355"/>
            <a:ext cx="35870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800" b="1" dirty="0">
                <a:latin typeface="Helvetica" pitchFamily="2" charset="0"/>
              </a:rPr>
              <a:t>ENCODING: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3123A2D5-D73A-3142-C1CA-1C168E8E6AD6}"/>
              </a:ext>
            </a:extLst>
          </p:cNvPr>
          <p:cNvSpPr txBox="1"/>
          <p:nvPr/>
        </p:nvSpPr>
        <p:spPr>
          <a:xfrm>
            <a:off x="10443742" y="10018201"/>
            <a:ext cx="4212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800" b="1" dirty="0">
                <a:latin typeface="Helvetica" pitchFamily="2" charset="0"/>
              </a:rPr>
              <a:t>RETRIEVAL:</a:t>
            </a:r>
          </a:p>
        </p:txBody>
      </p: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5E8E86CA-C3A6-DD9C-E292-BE3A9DC12CD2}"/>
              </a:ext>
            </a:extLst>
          </p:cNvPr>
          <p:cNvGrpSpPr/>
          <p:nvPr/>
        </p:nvGrpSpPr>
        <p:grpSpPr>
          <a:xfrm>
            <a:off x="15252729" y="11265594"/>
            <a:ext cx="2353605" cy="1062494"/>
            <a:chOff x="14650087" y="10185791"/>
            <a:chExt cx="2353605" cy="1062494"/>
          </a:xfrm>
        </p:grpSpPr>
        <p:sp>
          <p:nvSpPr>
            <p:cNvPr id="281" name="Thought Bubble: Cloud 9">
              <a:extLst>
                <a:ext uri="{FF2B5EF4-FFF2-40B4-BE49-F238E27FC236}">
                  <a16:creationId xmlns:a16="http://schemas.microsoft.com/office/drawing/2014/main" id="{098EB426-251C-C158-610F-AD07F95E3B81}"/>
                </a:ext>
              </a:extLst>
            </p:cNvPr>
            <p:cNvSpPr/>
            <p:nvPr/>
          </p:nvSpPr>
          <p:spPr>
            <a:xfrm>
              <a:off x="14650087" y="10185791"/>
              <a:ext cx="1771808" cy="1062494"/>
            </a:xfrm>
            <a:prstGeom prst="cloudCallout">
              <a:avLst>
                <a:gd name="adj1" fmla="val -51715"/>
                <a:gd name="adj2" fmla="val -4583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305AF83-FEB5-5CC7-562A-45F2A344CBE7}"/>
                </a:ext>
              </a:extLst>
            </p:cNvPr>
            <p:cNvSpPr txBox="1"/>
            <p:nvPr/>
          </p:nvSpPr>
          <p:spPr>
            <a:xfrm>
              <a:off x="14794825" y="10288083"/>
              <a:ext cx="220886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>
                  <a:solidFill>
                    <a:srgbClr val="FF66FF"/>
                  </a:solidFill>
                </a:rPr>
                <a:t>C</a:t>
              </a:r>
              <a:r>
                <a:rPr lang="en-US" sz="4400" b="1" dirty="0"/>
                <a:t>…?</a:t>
              </a:r>
              <a:endParaRPr lang="en-US" sz="4400" dirty="0"/>
            </a:p>
          </p:txBody>
        </p:sp>
      </p:grpSp>
      <p:pic>
        <p:nvPicPr>
          <p:cNvPr id="294" name="Picture 293">
            <a:extLst>
              <a:ext uri="{FF2B5EF4-FFF2-40B4-BE49-F238E27FC236}">
                <a16:creationId xmlns:a16="http://schemas.microsoft.com/office/drawing/2014/main" id="{2A8EABE3-E937-B80F-2F02-AC7929797B6C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692416" y="10508900"/>
            <a:ext cx="8198984" cy="964573"/>
          </a:xfrm>
          <a:prstGeom prst="rect">
            <a:avLst/>
          </a:prstGeom>
        </p:spPr>
      </p:pic>
      <p:sp>
        <p:nvSpPr>
          <p:cNvPr id="295" name="TextBox 294">
            <a:extLst>
              <a:ext uri="{FF2B5EF4-FFF2-40B4-BE49-F238E27FC236}">
                <a16:creationId xmlns:a16="http://schemas.microsoft.com/office/drawing/2014/main" id="{6711ABAD-D5BD-B56D-5EDA-9E27D6A2FC84}"/>
              </a:ext>
            </a:extLst>
          </p:cNvPr>
          <p:cNvSpPr txBox="1"/>
          <p:nvPr/>
        </p:nvSpPr>
        <p:spPr>
          <a:xfrm>
            <a:off x="12467771" y="9740876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r>
              <a:rPr lang="en-US" sz="6000" dirty="0"/>
              <a:t> I </a:t>
            </a:r>
            <a:endParaRPr lang="en-US" sz="60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00" name="Arrow: Right 11">
            <a:extLst>
              <a:ext uri="{FF2B5EF4-FFF2-40B4-BE49-F238E27FC236}">
                <a16:creationId xmlns:a16="http://schemas.microsoft.com/office/drawing/2014/main" id="{04B68AB7-344E-8118-A569-BDC5A56F4094}"/>
              </a:ext>
            </a:extLst>
          </p:cNvPr>
          <p:cNvSpPr/>
          <p:nvPr/>
        </p:nvSpPr>
        <p:spPr>
          <a:xfrm>
            <a:off x="14285160" y="10704117"/>
            <a:ext cx="770081" cy="59120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2" name="Arrow: Right 13">
            <a:extLst>
              <a:ext uri="{FF2B5EF4-FFF2-40B4-BE49-F238E27FC236}">
                <a16:creationId xmlns:a16="http://schemas.microsoft.com/office/drawing/2014/main" id="{FB2F273E-E1C6-0A61-008C-0F6F68517A99}"/>
              </a:ext>
            </a:extLst>
          </p:cNvPr>
          <p:cNvSpPr/>
          <p:nvPr/>
        </p:nvSpPr>
        <p:spPr>
          <a:xfrm>
            <a:off x="17470221" y="10681186"/>
            <a:ext cx="704229" cy="577862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" name="Arrow: Curved Up 3">
            <a:extLst>
              <a:ext uri="{FF2B5EF4-FFF2-40B4-BE49-F238E27FC236}">
                <a16:creationId xmlns:a16="http://schemas.microsoft.com/office/drawing/2014/main" id="{AADE8BAA-6116-8AC6-54CB-7A115D6EEF46}"/>
              </a:ext>
            </a:extLst>
          </p:cNvPr>
          <p:cNvSpPr/>
          <p:nvPr/>
        </p:nvSpPr>
        <p:spPr>
          <a:xfrm flipH="1">
            <a:off x="14221084" y="9014565"/>
            <a:ext cx="3563791" cy="477396"/>
          </a:xfrm>
          <a:prstGeom prst="curvedUpArrow">
            <a:avLst>
              <a:gd name="adj1" fmla="val 25000"/>
              <a:gd name="adj2" fmla="val 50000"/>
              <a:gd name="adj3" fmla="val 31795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8" name="Bent-Up Arrow 307">
            <a:extLst>
              <a:ext uri="{FF2B5EF4-FFF2-40B4-BE49-F238E27FC236}">
                <a16:creationId xmlns:a16="http://schemas.microsoft.com/office/drawing/2014/main" id="{41D542A5-0A20-DA44-73B2-1DE8D3ACB9A8}"/>
              </a:ext>
            </a:extLst>
          </p:cNvPr>
          <p:cNvSpPr/>
          <p:nvPr/>
        </p:nvSpPr>
        <p:spPr>
          <a:xfrm>
            <a:off x="17225156" y="11473473"/>
            <a:ext cx="597179" cy="537812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1" name="Bent-Up Arrow 310">
            <a:extLst>
              <a:ext uri="{FF2B5EF4-FFF2-40B4-BE49-F238E27FC236}">
                <a16:creationId xmlns:a16="http://schemas.microsoft.com/office/drawing/2014/main" id="{3F8AF31E-68CD-F1AA-3CB9-E2CA3F67DAB3}"/>
              </a:ext>
            </a:extLst>
          </p:cNvPr>
          <p:cNvSpPr/>
          <p:nvPr/>
        </p:nvSpPr>
        <p:spPr>
          <a:xfrm flipH="1">
            <a:off x="14514618" y="11506164"/>
            <a:ext cx="597179" cy="537812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5D7D1E37-0650-E3AC-76E4-82F54FCFE6BE}"/>
              </a:ext>
            </a:extLst>
          </p:cNvPr>
          <p:cNvSpPr txBox="1"/>
          <p:nvPr/>
        </p:nvSpPr>
        <p:spPr>
          <a:xfrm>
            <a:off x="13075824" y="12326900"/>
            <a:ext cx="6015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Retrieval Reinstates a Composite Context</a:t>
            </a: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1ADB18D6-F041-CECC-7A8D-643918E95AAC}"/>
              </a:ext>
            </a:extLst>
          </p:cNvPr>
          <p:cNvSpPr txBox="1"/>
          <p:nvPr/>
        </p:nvSpPr>
        <p:spPr>
          <a:xfrm>
            <a:off x="21359488" y="5015669"/>
            <a:ext cx="837417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 Instance-CMR, context evolves independently of items. Each occurrence encodes to a fresh, non-overlapping context. At recall, occurrence traces compete; the winner’s context is selectively</a:t>
            </a:r>
            <a:r>
              <a:rPr lang="en-US" sz="2400" b="1" dirty="0">
                <a:latin typeface="Helvetica" pitchFamily="2" charset="0"/>
              </a:rPr>
              <a:t> </a:t>
            </a:r>
            <a:r>
              <a:rPr lang="en-US" sz="2400" dirty="0">
                <a:latin typeface="Helvetica" pitchFamily="2" charset="0"/>
              </a:rPr>
              <a:t>reinstated. Context traces are kept </a:t>
            </a:r>
            <a:r>
              <a:rPr lang="en-US" sz="2400" b="1" dirty="0">
                <a:latin typeface="Helvetica" pitchFamily="2" charset="0"/>
              </a:rPr>
              <a:t>distinct</a:t>
            </a:r>
            <a:r>
              <a:rPr lang="en-US" sz="2400" dirty="0">
                <a:latin typeface="Helvetica" pitchFamily="2" charset="0"/>
              </a:rPr>
              <a:t> and </a:t>
            </a:r>
            <a:r>
              <a:rPr lang="en-US" sz="2400" b="1" dirty="0">
                <a:latin typeface="Helvetica" pitchFamily="2" charset="0"/>
              </a:rPr>
              <a:t>separate</a:t>
            </a:r>
            <a:r>
              <a:rPr lang="en-US" sz="2400" dirty="0">
                <a:latin typeface="Helvetica" pitchFamily="2" charset="0"/>
              </a:rPr>
              <a:t>.</a:t>
            </a:r>
          </a:p>
        </p:txBody>
      </p:sp>
      <p:pic>
        <p:nvPicPr>
          <p:cNvPr id="315" name="Picture 314">
            <a:extLst>
              <a:ext uri="{FF2B5EF4-FFF2-40B4-BE49-F238E27FC236}">
                <a16:creationId xmlns:a16="http://schemas.microsoft.com/office/drawing/2014/main" id="{253C5553-B7A3-EA78-9744-19F533B4EACF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666905" y="7706002"/>
            <a:ext cx="8198984" cy="964573"/>
          </a:xfrm>
          <a:prstGeom prst="rect">
            <a:avLst/>
          </a:prstGeom>
        </p:spPr>
      </p:pic>
      <p:sp>
        <p:nvSpPr>
          <p:cNvPr id="316" name="TextBox 315">
            <a:extLst>
              <a:ext uri="{FF2B5EF4-FFF2-40B4-BE49-F238E27FC236}">
                <a16:creationId xmlns:a16="http://schemas.microsoft.com/office/drawing/2014/main" id="{56124FB0-A2E2-F5EB-9DEB-9F4DD5CE82B2}"/>
              </a:ext>
            </a:extLst>
          </p:cNvPr>
          <p:cNvSpPr txBox="1"/>
          <p:nvPr/>
        </p:nvSpPr>
        <p:spPr>
          <a:xfrm>
            <a:off x="22442260" y="6937978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r>
              <a:rPr lang="en-US" sz="6000" dirty="0"/>
              <a:t> I </a:t>
            </a:r>
            <a:endParaRPr lang="en-US" sz="60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C82A5683-6359-1A24-CC6A-99BA54ED77E5}"/>
              </a:ext>
            </a:extLst>
          </p:cNvPr>
          <p:cNvSpPr txBox="1"/>
          <p:nvPr/>
        </p:nvSpPr>
        <p:spPr>
          <a:xfrm>
            <a:off x="23748593" y="8956809"/>
            <a:ext cx="5763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No Study-Phase Reinstatement</a:t>
            </a: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6316A1A8-FA5D-25A8-83A5-D83CC1E01EA1}"/>
              </a:ext>
            </a:extLst>
          </p:cNvPr>
          <p:cNvSpPr txBox="1"/>
          <p:nvPr/>
        </p:nvSpPr>
        <p:spPr>
          <a:xfrm>
            <a:off x="20561715" y="7331091"/>
            <a:ext cx="35870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800" b="1" dirty="0">
                <a:latin typeface="Helvetica" pitchFamily="2" charset="0"/>
              </a:rPr>
              <a:t>ENCODING: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A5ED9156-F45F-460D-45E3-E1ACF9BB3086}"/>
              </a:ext>
            </a:extLst>
          </p:cNvPr>
          <p:cNvSpPr txBox="1"/>
          <p:nvPr/>
        </p:nvSpPr>
        <p:spPr>
          <a:xfrm>
            <a:off x="20460115" y="9759937"/>
            <a:ext cx="4212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800" b="1" dirty="0">
                <a:latin typeface="Helvetica" pitchFamily="2" charset="0"/>
              </a:rPr>
              <a:t>RETRIEVAL:</a:t>
            </a:r>
          </a:p>
        </p:txBody>
      </p: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929534EC-3729-613E-C4E1-CDA1053D02EB}"/>
              </a:ext>
            </a:extLst>
          </p:cNvPr>
          <p:cNvGrpSpPr/>
          <p:nvPr/>
        </p:nvGrpSpPr>
        <p:grpSpPr>
          <a:xfrm>
            <a:off x="23821302" y="11286730"/>
            <a:ext cx="2353605" cy="1062494"/>
            <a:chOff x="14650087" y="10363591"/>
            <a:chExt cx="2353605" cy="1062494"/>
          </a:xfrm>
        </p:grpSpPr>
        <p:sp>
          <p:nvSpPr>
            <p:cNvPr id="321" name="Thought Bubble: Cloud 9">
              <a:extLst>
                <a:ext uri="{FF2B5EF4-FFF2-40B4-BE49-F238E27FC236}">
                  <a16:creationId xmlns:a16="http://schemas.microsoft.com/office/drawing/2014/main" id="{4105E442-AC36-7E52-4BD0-B024D1D6910F}"/>
                </a:ext>
              </a:extLst>
            </p:cNvPr>
            <p:cNvSpPr/>
            <p:nvPr/>
          </p:nvSpPr>
          <p:spPr>
            <a:xfrm>
              <a:off x="14650087" y="10363591"/>
              <a:ext cx="1771808" cy="1062494"/>
            </a:xfrm>
            <a:prstGeom prst="cloudCallout">
              <a:avLst>
                <a:gd name="adj1" fmla="val -51715"/>
                <a:gd name="adj2" fmla="val -4583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CE2C0B56-2D16-4AF5-CDCE-B05FB1E4A4A4}"/>
                </a:ext>
              </a:extLst>
            </p:cNvPr>
            <p:cNvSpPr txBox="1"/>
            <p:nvPr/>
          </p:nvSpPr>
          <p:spPr>
            <a:xfrm>
              <a:off x="14794825" y="10491283"/>
              <a:ext cx="220886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>
                  <a:solidFill>
                    <a:srgbClr val="FF66FF"/>
                  </a:solidFill>
                </a:rPr>
                <a:t>C</a:t>
              </a:r>
              <a:r>
                <a:rPr lang="en-US" sz="4400" b="1" dirty="0"/>
                <a:t>…?</a:t>
              </a:r>
              <a:endParaRPr lang="en-US" sz="4400" dirty="0"/>
            </a:p>
          </p:txBody>
        </p:sp>
      </p:grpSp>
      <p:pic>
        <p:nvPicPr>
          <p:cNvPr id="323" name="Picture 322">
            <a:extLst>
              <a:ext uri="{FF2B5EF4-FFF2-40B4-BE49-F238E27FC236}">
                <a16:creationId xmlns:a16="http://schemas.microsoft.com/office/drawing/2014/main" id="{3BA7A62A-1668-6EC1-7021-5AF353B675D9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708789" y="10250636"/>
            <a:ext cx="8198984" cy="964573"/>
          </a:xfrm>
          <a:prstGeom prst="rect">
            <a:avLst/>
          </a:prstGeom>
        </p:spPr>
      </p:pic>
      <p:sp>
        <p:nvSpPr>
          <p:cNvPr id="324" name="TextBox 323">
            <a:extLst>
              <a:ext uri="{FF2B5EF4-FFF2-40B4-BE49-F238E27FC236}">
                <a16:creationId xmlns:a16="http://schemas.microsoft.com/office/drawing/2014/main" id="{573BFC4A-C963-9203-3E3F-68D92B8932E8}"/>
              </a:ext>
            </a:extLst>
          </p:cNvPr>
          <p:cNvSpPr txBox="1"/>
          <p:nvPr/>
        </p:nvSpPr>
        <p:spPr>
          <a:xfrm>
            <a:off x="22484144" y="9482612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r>
              <a:rPr lang="en-US" sz="6000" dirty="0"/>
              <a:t> I </a:t>
            </a:r>
            <a:endParaRPr lang="en-US" sz="60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25" name="Arrow: Right 11">
            <a:extLst>
              <a:ext uri="{FF2B5EF4-FFF2-40B4-BE49-F238E27FC236}">
                <a16:creationId xmlns:a16="http://schemas.microsoft.com/office/drawing/2014/main" id="{70077556-24B6-7550-5680-925F82646CC9}"/>
              </a:ext>
            </a:extLst>
          </p:cNvPr>
          <p:cNvSpPr/>
          <p:nvPr/>
        </p:nvSpPr>
        <p:spPr>
          <a:xfrm>
            <a:off x="24301533" y="10445853"/>
            <a:ext cx="770081" cy="59120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6" name="Arrow: Right 13">
            <a:extLst>
              <a:ext uri="{FF2B5EF4-FFF2-40B4-BE49-F238E27FC236}">
                <a16:creationId xmlns:a16="http://schemas.microsoft.com/office/drawing/2014/main" id="{1DDD9E47-CEBC-5CC0-E0EB-F4CCF3EDE11A}"/>
              </a:ext>
            </a:extLst>
          </p:cNvPr>
          <p:cNvSpPr/>
          <p:nvPr/>
        </p:nvSpPr>
        <p:spPr>
          <a:xfrm>
            <a:off x="27486594" y="10422922"/>
            <a:ext cx="704229" cy="577862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3A875E57-9528-29BA-DC9D-8AA0DB7BD0C0}"/>
              </a:ext>
            </a:extLst>
          </p:cNvPr>
          <p:cNvSpPr txBox="1"/>
          <p:nvPr/>
        </p:nvSpPr>
        <p:spPr>
          <a:xfrm>
            <a:off x="22856806" y="12332574"/>
            <a:ext cx="6680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Retrieval Reinstates a Single Winner Context</a:t>
            </a:r>
          </a:p>
        </p:txBody>
      </p: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0BFDAF9A-4895-E895-7546-E29C09640E0C}"/>
              </a:ext>
            </a:extLst>
          </p:cNvPr>
          <p:cNvSpPr/>
          <p:nvPr/>
        </p:nvSpPr>
        <p:spPr>
          <a:xfrm>
            <a:off x="23559263" y="8435515"/>
            <a:ext cx="1484540" cy="4616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(Fresh)</a:t>
            </a:r>
          </a:p>
        </p:txBody>
      </p:sp>
      <p:sp>
        <p:nvSpPr>
          <p:cNvPr id="348" name="Rounded Rectangle 347">
            <a:extLst>
              <a:ext uri="{FF2B5EF4-FFF2-40B4-BE49-F238E27FC236}">
                <a16:creationId xmlns:a16="http://schemas.microsoft.com/office/drawing/2014/main" id="{07507936-AD00-592E-F1A5-82BE636D7339}"/>
              </a:ext>
            </a:extLst>
          </p:cNvPr>
          <p:cNvSpPr/>
          <p:nvPr/>
        </p:nvSpPr>
        <p:spPr>
          <a:xfrm>
            <a:off x="26981603" y="8460910"/>
            <a:ext cx="1484540" cy="4616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(Fresh)</a:t>
            </a:r>
          </a:p>
        </p:txBody>
      </p:sp>
      <p:sp>
        <p:nvSpPr>
          <p:cNvPr id="349" name="Up Arrow 348">
            <a:extLst>
              <a:ext uri="{FF2B5EF4-FFF2-40B4-BE49-F238E27FC236}">
                <a16:creationId xmlns:a16="http://schemas.microsoft.com/office/drawing/2014/main" id="{8B3E49B9-B5BE-77DE-37D7-EC5DBDBAB932}"/>
              </a:ext>
            </a:extLst>
          </p:cNvPr>
          <p:cNvSpPr/>
          <p:nvPr/>
        </p:nvSpPr>
        <p:spPr>
          <a:xfrm>
            <a:off x="24148811" y="11037060"/>
            <a:ext cx="523357" cy="39207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120E296C-741A-B0F5-D496-1B2BDAB5437D}"/>
              </a:ext>
            </a:extLst>
          </p:cNvPr>
          <p:cNvGrpSpPr/>
          <p:nvPr/>
        </p:nvGrpSpPr>
        <p:grpSpPr>
          <a:xfrm>
            <a:off x="27066602" y="11313382"/>
            <a:ext cx="2353605" cy="1062494"/>
            <a:chOff x="14650087" y="10363591"/>
            <a:chExt cx="2353605" cy="1062494"/>
          </a:xfrm>
        </p:grpSpPr>
        <p:sp>
          <p:nvSpPr>
            <p:cNvPr id="352" name="Thought Bubble: Cloud 9">
              <a:extLst>
                <a:ext uri="{FF2B5EF4-FFF2-40B4-BE49-F238E27FC236}">
                  <a16:creationId xmlns:a16="http://schemas.microsoft.com/office/drawing/2014/main" id="{86333430-A601-BEDD-4AD3-33F4C982CE49}"/>
                </a:ext>
              </a:extLst>
            </p:cNvPr>
            <p:cNvSpPr/>
            <p:nvPr/>
          </p:nvSpPr>
          <p:spPr>
            <a:xfrm>
              <a:off x="14650087" y="10363591"/>
              <a:ext cx="1771808" cy="1062494"/>
            </a:xfrm>
            <a:prstGeom prst="cloudCallout">
              <a:avLst>
                <a:gd name="adj1" fmla="val -51715"/>
                <a:gd name="adj2" fmla="val -4583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19631BB5-182D-8DF4-381F-30739FC6201A}"/>
                </a:ext>
              </a:extLst>
            </p:cNvPr>
            <p:cNvSpPr txBox="1"/>
            <p:nvPr/>
          </p:nvSpPr>
          <p:spPr>
            <a:xfrm>
              <a:off x="14794825" y="10491283"/>
              <a:ext cx="220886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>
                  <a:solidFill>
                    <a:srgbClr val="FF66FF"/>
                  </a:solidFill>
                </a:rPr>
                <a:t>C</a:t>
              </a:r>
              <a:r>
                <a:rPr lang="en-US" sz="4400" b="1" dirty="0"/>
                <a:t>…?</a:t>
              </a:r>
              <a:endParaRPr lang="en-US" sz="4400" dirty="0"/>
            </a:p>
          </p:txBody>
        </p:sp>
      </p:grpSp>
      <p:sp>
        <p:nvSpPr>
          <p:cNvPr id="354" name="Up Arrow 353">
            <a:extLst>
              <a:ext uri="{FF2B5EF4-FFF2-40B4-BE49-F238E27FC236}">
                <a16:creationId xmlns:a16="http://schemas.microsoft.com/office/drawing/2014/main" id="{A3204BC8-6049-8AAC-BCFA-C1AC30B2DA98}"/>
              </a:ext>
            </a:extLst>
          </p:cNvPr>
          <p:cNvSpPr/>
          <p:nvPr/>
        </p:nvSpPr>
        <p:spPr>
          <a:xfrm>
            <a:off x="27394111" y="11063712"/>
            <a:ext cx="523357" cy="39207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3B59DFE1-58C6-DAC2-12FF-09872E7017B9}"/>
              </a:ext>
            </a:extLst>
          </p:cNvPr>
          <p:cNvSpPr txBox="1"/>
          <p:nvPr/>
        </p:nvSpPr>
        <p:spPr>
          <a:xfrm>
            <a:off x="25852425" y="11520813"/>
            <a:ext cx="1858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3600" b="1" dirty="0">
                <a:latin typeface="Helvetica" pitchFamily="2" charset="0"/>
              </a:rPr>
              <a:t>OR</a:t>
            </a: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B9A2F1A8-E735-BA35-4829-0001712E7A3A}"/>
              </a:ext>
            </a:extLst>
          </p:cNvPr>
          <p:cNvSpPr/>
          <p:nvPr/>
        </p:nvSpPr>
        <p:spPr>
          <a:xfrm>
            <a:off x="1098734" y="11029311"/>
            <a:ext cx="8158206" cy="164737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But How Does Mental Time Travel Work for Items </a:t>
            </a:r>
          </a:p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With Multiple Study Contexts?</a:t>
            </a: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29C263C2-26BE-BBBC-DEE1-88D097293AEA}"/>
              </a:ext>
            </a:extLst>
          </p:cNvPr>
          <p:cNvSpPr/>
          <p:nvPr/>
        </p:nvSpPr>
        <p:spPr>
          <a:xfrm>
            <a:off x="22203799" y="4016757"/>
            <a:ext cx="71251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Episode-Specific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(Instance CMR)</a:t>
            </a: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794AED18-9BD6-41DC-D1C0-0B1960FACB2C}"/>
              </a:ext>
            </a:extLst>
          </p:cNvPr>
          <p:cNvSpPr/>
          <p:nvPr/>
        </p:nvSpPr>
        <p:spPr>
          <a:xfrm>
            <a:off x="694972" y="13054527"/>
            <a:ext cx="9450802" cy="90846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Datasets</a:t>
            </a: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6B214C82-4AC9-F09A-1287-BC7CEBF518A2}"/>
              </a:ext>
            </a:extLst>
          </p:cNvPr>
          <p:cNvSpPr txBox="1"/>
          <p:nvPr/>
        </p:nvSpPr>
        <p:spPr>
          <a:xfrm>
            <a:off x="447582" y="14029742"/>
            <a:ext cx="10062479" cy="5955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main free recall analyses, used data from </a:t>
            </a:r>
            <a:r>
              <a:rPr lang="en-US" sz="2400" b="1" dirty="0">
                <a:latin typeface="Helvetica" pitchFamily="2" charset="0"/>
              </a:rPr>
              <a:t>Lohnas &amp; Kahana (2014).</a:t>
            </a:r>
            <a:r>
              <a:rPr lang="en-US" sz="2400" dirty="0">
                <a:latin typeface="Helvetica" pitchFamily="2" charset="0"/>
              </a:rPr>
              <a:t> 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35 participants performed delayed free recall of 48 lists presenting 40 words each, with four conditions: </a:t>
            </a:r>
            <a:r>
              <a:rPr lang="en-US" sz="2400" b="1" dirty="0">
                <a:latin typeface="Helvetica" pitchFamily="2" charset="0"/>
              </a:rPr>
              <a:t>control </a:t>
            </a:r>
            <a:r>
              <a:rPr lang="en-US" sz="2400" dirty="0">
                <a:latin typeface="Helvetica" pitchFamily="2" charset="0"/>
              </a:rPr>
              <a:t>lists with no item repetitions, </a:t>
            </a:r>
            <a:r>
              <a:rPr lang="en-US" sz="2400" b="1" dirty="0">
                <a:latin typeface="Helvetica" pitchFamily="2" charset="0"/>
              </a:rPr>
              <a:t>massed</a:t>
            </a:r>
            <a:r>
              <a:rPr lang="en-US" sz="2400" dirty="0">
                <a:latin typeface="Helvetica" pitchFamily="2" charset="0"/>
              </a:rPr>
              <a:t> repetition lists with 20 items repeated with no intervening items; </a:t>
            </a:r>
            <a:r>
              <a:rPr lang="en-US" sz="2400" b="1" dirty="0">
                <a:latin typeface="Helvetica" pitchFamily="2" charset="0"/>
              </a:rPr>
              <a:t>spaced </a:t>
            </a:r>
            <a:r>
              <a:rPr lang="en-US" sz="2400" dirty="0">
                <a:latin typeface="Helvetica" pitchFamily="2" charset="0"/>
              </a:rPr>
              <a:t>repetition lists feature 20 Items repeated with 1-8 intervening items; and </a:t>
            </a:r>
            <a:r>
              <a:rPr lang="en-US" sz="2400" b="1" dirty="0">
                <a:latin typeface="Helvetica" pitchFamily="2" charset="0"/>
              </a:rPr>
              <a:t>mixed </a:t>
            </a:r>
            <a:r>
              <a:rPr lang="en-US" sz="2400" dirty="0">
                <a:latin typeface="Helvetica" pitchFamily="2" charset="0"/>
              </a:rPr>
              <a:t>lists featuring 28 items resented once and 6 items presented </a:t>
            </a:r>
            <a:r>
              <a:rPr lang="en-US" sz="2400" u="sng" dirty="0">
                <a:latin typeface="Helvetica" pitchFamily="2" charset="0"/>
              </a:rPr>
              <a:t>twice</a:t>
            </a:r>
            <a:r>
              <a:rPr lang="en-US" sz="2400" dirty="0">
                <a:latin typeface="Helvetica" pitchFamily="2" charset="0"/>
              </a:rPr>
              <a:t> with 0-8 intervening items.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main serial recall analyses, used data from </a:t>
            </a:r>
            <a:r>
              <a:rPr lang="en-US" sz="2400" b="1" dirty="0">
                <a:latin typeface="Helvetica" pitchFamily="2" charset="0"/>
              </a:rPr>
              <a:t>Kahana &amp; Jacobs (2000).</a:t>
            </a:r>
            <a:r>
              <a:rPr lang="en-US" sz="2400" dirty="0">
                <a:latin typeface="Helvetica" pitchFamily="2" charset="0"/>
              </a:rPr>
              <a:t> Twenty participants recalled 36 x 12 lists of lengths 11, 12, or 13 with two repetition conditions (no repeats vs one repeated consonant). Analyses focused on the first trial of each unique list.</a:t>
            </a:r>
          </a:p>
          <a:p>
            <a:r>
              <a:rPr lang="en-US" sz="2400" dirty="0">
                <a:latin typeface="Helvetica" pitchFamily="2" charset="0"/>
              </a:rPr>
              <a:t>Additional datasets (</a:t>
            </a:r>
            <a:r>
              <a:rPr lang="en-US" sz="2400" b="1" dirty="0">
                <a:latin typeface="Helvetica" pitchFamily="2" charset="0"/>
              </a:rPr>
              <a:t>Lohnas 2025</a:t>
            </a:r>
            <a:r>
              <a:rPr lang="en-US" sz="2400" dirty="0">
                <a:latin typeface="Helvetica" pitchFamily="2" charset="0"/>
              </a:rPr>
              <a:t>; </a:t>
            </a:r>
            <a:r>
              <a:rPr lang="en-US" sz="2400" b="1" dirty="0">
                <a:latin typeface="Helvetica" pitchFamily="2" charset="0"/>
              </a:rPr>
              <a:t>Kahana &amp; Jacobs 2000</a:t>
            </a:r>
            <a:r>
              <a:rPr lang="en-US" sz="2400" dirty="0">
                <a:latin typeface="Helvetica" pitchFamily="2" charset="0"/>
              </a:rPr>
              <a:t>; </a:t>
            </a:r>
            <a:r>
              <a:rPr lang="en-US" sz="2400" b="1" dirty="0">
                <a:latin typeface="Helvetica" pitchFamily="2" charset="0"/>
              </a:rPr>
              <a:t>Broitman &amp; Kahana, 2024</a:t>
            </a:r>
            <a:r>
              <a:rPr lang="en-US" sz="2400" dirty="0">
                <a:latin typeface="Helvetica" pitchFamily="2" charset="0"/>
              </a:rPr>
              <a:t>; </a:t>
            </a:r>
            <a:r>
              <a:rPr lang="en-US" sz="2400" b="1" dirty="0">
                <a:latin typeface="Helvetica" pitchFamily="2" charset="0"/>
              </a:rPr>
              <a:t>Howard &amp; Kahana, 2005</a:t>
            </a:r>
            <a:r>
              <a:rPr lang="en-US" sz="2400" dirty="0">
                <a:latin typeface="Helvetica" pitchFamily="2" charset="0"/>
              </a:rPr>
              <a:t>) analyzed for generalization but no room here – ask if interested!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5FE47B5E-C6AD-89BF-E6DB-B1AABA95BA7D}"/>
              </a:ext>
            </a:extLst>
          </p:cNvPr>
          <p:cNvSpPr/>
          <p:nvPr/>
        </p:nvSpPr>
        <p:spPr>
          <a:xfrm>
            <a:off x="10886146" y="13019994"/>
            <a:ext cx="18442848" cy="90308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Identifying “True” Repetition Effects With a Position-Matched Symmetric Baseline</a:t>
            </a: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C1FA336-5ED6-B508-D376-44C1B2CC9397}"/>
              </a:ext>
            </a:extLst>
          </p:cNvPr>
          <p:cNvSpPr txBox="1"/>
          <p:nvPr/>
        </p:nvSpPr>
        <p:spPr>
          <a:xfrm>
            <a:off x="10769591" y="16307267"/>
            <a:ext cx="18999728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A </a:t>
            </a:r>
            <a:r>
              <a:rPr lang="en-US" sz="2400" b="1" dirty="0">
                <a:latin typeface="Helvetica" pitchFamily="2" charset="0"/>
              </a:rPr>
              <a:t>good</a:t>
            </a:r>
            <a:r>
              <a:rPr lang="en-US" sz="2400" dirty="0">
                <a:latin typeface="Helvetica" pitchFamily="2" charset="0"/>
              </a:rPr>
              <a:t> </a:t>
            </a:r>
            <a:r>
              <a:rPr lang="en-US" sz="2400" b="1" dirty="0">
                <a:latin typeface="Helvetica" pitchFamily="2" charset="0"/>
              </a:rPr>
              <a:t>definition</a:t>
            </a:r>
            <a:r>
              <a:rPr lang="en-US" sz="2400" dirty="0">
                <a:latin typeface="Helvetica" pitchFamily="2" charset="0"/>
              </a:rPr>
              <a:t> of repetition effects must distinguish between </a:t>
            </a:r>
            <a:r>
              <a:rPr lang="en-US" sz="2400" b="1" dirty="0">
                <a:latin typeface="Helvetica" pitchFamily="2" charset="0"/>
              </a:rPr>
              <a:t>(a)</a:t>
            </a:r>
            <a:r>
              <a:rPr lang="en-US" sz="2400" dirty="0">
                <a:latin typeface="Helvetica" pitchFamily="2" charset="0"/>
              </a:rPr>
              <a:t> the ordinary consequences of exposing participants to additional study material and (</a:t>
            </a:r>
            <a:r>
              <a:rPr lang="en-US" sz="2400" b="1" dirty="0">
                <a:latin typeface="Helvetica" pitchFamily="2" charset="0"/>
              </a:rPr>
              <a:t>b) </a:t>
            </a:r>
            <a:r>
              <a:rPr lang="en-US" sz="2400" dirty="0">
                <a:latin typeface="Helvetica" pitchFamily="2" charset="0"/>
              </a:rPr>
              <a:t>the special consequences of encountering the same material twice </a:t>
            </a:r>
            <a:r>
              <a:rPr lang="en-US" sz="2400" u="sng" dirty="0">
                <a:latin typeface="Helvetica" pitchFamily="2" charset="0"/>
              </a:rPr>
              <a:t>instead of</a:t>
            </a:r>
            <a:r>
              <a:rPr lang="en-US" sz="2400" dirty="0">
                <a:latin typeface="Helvetica" pitchFamily="2" charset="0"/>
              </a:rPr>
              <a:t> distinct material.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our baseline, we focus on </a:t>
            </a:r>
            <a:r>
              <a:rPr lang="en-US" sz="2400" b="1" dirty="0">
                <a:latin typeface="Helvetica" pitchFamily="2" charset="0"/>
              </a:rPr>
              <a:t>(b) </a:t>
            </a:r>
            <a:r>
              <a:rPr lang="en-US" sz="2400" dirty="0">
                <a:latin typeface="Helvetica" pitchFamily="2" charset="0"/>
              </a:rPr>
              <a:t>and ask what would performance look like if the memory system processed the repetition in exactly the same way it would have processed a novel token, differing only in the arbitrary fact that the stimulus label is repeated? The difference between baseline and observed performance constitutes a </a:t>
            </a:r>
            <a:r>
              <a:rPr lang="en-US" sz="2400" b="1" dirty="0">
                <a:latin typeface="Helvetica" pitchFamily="2" charset="0"/>
              </a:rPr>
              <a:t> b</a:t>
            </a:r>
            <a:r>
              <a:rPr lang="en-US" sz="2400" dirty="0">
                <a:latin typeface="Helvetica" pitchFamily="2" charset="0"/>
              </a:rPr>
              <a:t>under our methodology.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every mixed-list trial, we pair many control-list trials performed by the same participant. In each control list, we designate the items occupying the repeater's two positions as a pseudo-repeater pair. We then recompute the target statistic after relabeling those two positions as a single pseudo-item. Repeating this resampling many times yields </a:t>
            </a:r>
            <a:r>
              <a:rPr lang="en-US" sz="2400" b="1" dirty="0">
                <a:latin typeface="Helvetica" pitchFamily="2" charset="0"/>
              </a:rPr>
              <a:t>a null distribution </a:t>
            </a:r>
            <a:r>
              <a:rPr lang="en-US" sz="2400" dirty="0">
                <a:latin typeface="Helvetica" pitchFamily="2" charset="0"/>
              </a:rPr>
              <a:t>under the no-special-status hypothesis: </a:t>
            </a:r>
            <a:r>
              <a:rPr lang="en-US" sz="2400" b="1" dirty="0">
                <a:latin typeface="Helvetica" pitchFamily="2" charset="0"/>
              </a:rPr>
              <a:t>the memory system treats the two positions as independent study events that differ only in label.</a:t>
            </a:r>
          </a:p>
          <a:p>
            <a:pPr>
              <a:spcAft>
                <a:spcPts val="1800"/>
              </a:spcAft>
            </a:pPr>
            <a:br>
              <a:rPr lang="en-US" sz="2400" dirty="0">
                <a:latin typeface="Helvetica" pitchFamily="2" charset="0"/>
              </a:rPr>
            </a:br>
            <a:endParaRPr lang="en-US" sz="2400" dirty="0">
              <a:latin typeface="Helvetica" pitchFamily="2" charset="0"/>
            </a:endParaRPr>
          </a:p>
          <a:p>
            <a:pPr>
              <a:spcAft>
                <a:spcPts val="1800"/>
              </a:spcAft>
            </a:pPr>
            <a:endParaRPr lang="en-US" sz="2400" dirty="0">
              <a:latin typeface="Helvetica" pitchFamily="2" charset="0"/>
            </a:endParaRPr>
          </a:p>
        </p:txBody>
      </p:sp>
      <p:pic>
        <p:nvPicPr>
          <p:cNvPr id="370" name="Picture 369">
            <a:extLst>
              <a:ext uri="{FF2B5EF4-FFF2-40B4-BE49-F238E27FC236}">
                <a16:creationId xmlns:a16="http://schemas.microsoft.com/office/drawing/2014/main" id="{2742879C-EE2D-9F16-EE93-BDF1F08B0D83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221223" y="15291614"/>
            <a:ext cx="8198984" cy="964573"/>
          </a:xfrm>
          <a:prstGeom prst="rect">
            <a:avLst/>
          </a:prstGeom>
        </p:spPr>
      </p:pic>
      <p:sp>
        <p:nvSpPr>
          <p:cNvPr id="371" name="TextBox 370">
            <a:extLst>
              <a:ext uri="{FF2B5EF4-FFF2-40B4-BE49-F238E27FC236}">
                <a16:creationId xmlns:a16="http://schemas.microsoft.com/office/drawing/2014/main" id="{F3FD5DE2-DE65-F789-1E5D-6375E250025D}"/>
              </a:ext>
            </a:extLst>
          </p:cNvPr>
          <p:cNvSpPr txBox="1"/>
          <p:nvPr/>
        </p:nvSpPr>
        <p:spPr>
          <a:xfrm>
            <a:off x="21996578" y="14523590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  <a:highlight>
                  <a:srgbClr val="00FFFF"/>
                </a:highlight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  <a:highlight>
                  <a:srgbClr val="00FFFF"/>
                </a:highlight>
              </a:rPr>
              <a:t>C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r>
              <a:rPr lang="en-US" sz="6000" dirty="0"/>
              <a:t> I </a:t>
            </a:r>
            <a:endParaRPr lang="en-US" sz="60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72" name="Picture 371">
            <a:extLst>
              <a:ext uri="{FF2B5EF4-FFF2-40B4-BE49-F238E27FC236}">
                <a16:creationId xmlns:a16="http://schemas.microsoft.com/office/drawing/2014/main" id="{E5497FEA-45BB-FBAD-8022-C7D10BB142AF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012305" y="15310664"/>
            <a:ext cx="8198984" cy="964573"/>
          </a:xfrm>
          <a:prstGeom prst="rect">
            <a:avLst/>
          </a:prstGeom>
        </p:spPr>
      </p:pic>
      <p:sp>
        <p:nvSpPr>
          <p:cNvPr id="373" name="TextBox 372">
            <a:extLst>
              <a:ext uri="{FF2B5EF4-FFF2-40B4-BE49-F238E27FC236}">
                <a16:creationId xmlns:a16="http://schemas.microsoft.com/office/drawing/2014/main" id="{A7E9DC92-ECE6-F81F-E153-9F5B931DE625}"/>
              </a:ext>
            </a:extLst>
          </p:cNvPr>
          <p:cNvSpPr txBox="1"/>
          <p:nvPr/>
        </p:nvSpPr>
        <p:spPr>
          <a:xfrm>
            <a:off x="11787660" y="14542640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  <a:highlight>
                  <a:srgbClr val="00FFFF"/>
                </a:highlight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chemeClr val="accent6">
                    <a:lumMod val="75000"/>
                  </a:schemeClr>
                </a:solidFill>
                <a:highlight>
                  <a:srgbClr val="00FFFF"/>
                </a:highlight>
              </a:rPr>
              <a:t>H</a:t>
            </a:r>
            <a:r>
              <a:rPr lang="en-US" sz="6000" dirty="0"/>
              <a:t> I </a:t>
            </a:r>
            <a:r>
              <a:rPr lang="en-US" sz="6000" dirty="0">
                <a:solidFill>
                  <a:srgbClr val="0070C0"/>
                </a:solidFill>
              </a:rPr>
              <a:t>J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6760F6F1-BA5B-EA69-8245-32FE49399110}"/>
              </a:ext>
            </a:extLst>
          </p:cNvPr>
          <p:cNvSpPr txBox="1"/>
          <p:nvPr/>
        </p:nvSpPr>
        <p:spPr>
          <a:xfrm>
            <a:off x="11456456" y="14057606"/>
            <a:ext cx="69207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b="1" dirty="0">
                <a:latin typeface="Helvetica" pitchFamily="2" charset="0"/>
              </a:rPr>
              <a:t>Perform analyses to recall of control lists... </a:t>
            </a: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5D05A99F-131A-D33A-D237-D12E786BB023}"/>
              </a:ext>
            </a:extLst>
          </p:cNvPr>
          <p:cNvSpPr txBox="1"/>
          <p:nvPr/>
        </p:nvSpPr>
        <p:spPr>
          <a:xfrm>
            <a:off x="18377209" y="14057606"/>
            <a:ext cx="114198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1800"/>
              </a:spcAft>
            </a:pPr>
            <a:r>
              <a:rPr lang="en-US" sz="2400" b="1" dirty="0">
                <a:latin typeface="Helvetica" pitchFamily="2" charset="0"/>
              </a:rPr>
              <a:t>…But re-label items at same study positions as repetitions from mixed lists.</a:t>
            </a:r>
          </a:p>
        </p:txBody>
      </p: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D319C2FE-8175-D918-5B10-16BEF0D71FCE}"/>
              </a:ext>
            </a:extLst>
          </p:cNvPr>
          <p:cNvGrpSpPr/>
          <p:nvPr/>
        </p:nvGrpSpPr>
        <p:grpSpPr>
          <a:xfrm>
            <a:off x="10918946" y="20338905"/>
            <a:ext cx="6920753" cy="1513086"/>
            <a:chOff x="9883527" y="20285117"/>
            <a:chExt cx="6920753" cy="1513086"/>
          </a:xfrm>
        </p:grpSpPr>
        <p:sp>
          <p:nvSpPr>
            <p:cNvPr id="382" name="Arrow: Curved Down 3">
              <a:extLst>
                <a:ext uri="{FF2B5EF4-FFF2-40B4-BE49-F238E27FC236}">
                  <a16:creationId xmlns:a16="http://schemas.microsoft.com/office/drawing/2014/main" id="{61242990-4157-952F-519D-AAA8CF290916}"/>
                </a:ext>
              </a:extLst>
            </p:cNvPr>
            <p:cNvSpPr/>
            <p:nvPr/>
          </p:nvSpPr>
          <p:spPr>
            <a:xfrm>
              <a:off x="11569906" y="20285117"/>
              <a:ext cx="1652020" cy="527467"/>
            </a:xfrm>
            <a:prstGeom prst="curvedDownArrow">
              <a:avLst>
                <a:gd name="adj1" fmla="val 25000"/>
                <a:gd name="adj2" fmla="val 50000"/>
                <a:gd name="adj3" fmla="val 29902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83" name="Arrow: Curved Up 4">
              <a:extLst>
                <a:ext uri="{FF2B5EF4-FFF2-40B4-BE49-F238E27FC236}">
                  <a16:creationId xmlns:a16="http://schemas.microsoft.com/office/drawing/2014/main" id="{CF8C1A76-60CA-E08C-47AF-EED087485044}"/>
                </a:ext>
              </a:extLst>
            </p:cNvPr>
            <p:cNvSpPr/>
            <p:nvPr/>
          </p:nvSpPr>
          <p:spPr>
            <a:xfrm rot="10800000">
              <a:off x="13221926" y="20285118"/>
              <a:ext cx="1755576" cy="523221"/>
            </a:xfrm>
            <a:prstGeom prst="curvedUpArrow">
              <a:avLst>
                <a:gd name="adj1" fmla="val 25000"/>
                <a:gd name="adj2" fmla="val 40308"/>
                <a:gd name="adj3" fmla="val 25000"/>
              </a:avLst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BD11C17E-8641-7E70-B9FC-AC2C960E1434}"/>
                </a:ext>
              </a:extLst>
            </p:cNvPr>
            <p:cNvSpPr txBox="1"/>
            <p:nvPr/>
          </p:nvSpPr>
          <p:spPr>
            <a:xfrm>
              <a:off x="11945180" y="20483636"/>
              <a:ext cx="7082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Helvetica" pitchFamily="2" charset="0"/>
                </a:rPr>
                <a:t>+2</a:t>
              </a: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213F26DC-0689-B557-7F88-EC540C169CEB}"/>
                </a:ext>
              </a:extLst>
            </p:cNvPr>
            <p:cNvSpPr txBox="1"/>
            <p:nvPr/>
          </p:nvSpPr>
          <p:spPr>
            <a:xfrm>
              <a:off x="13798062" y="20483636"/>
              <a:ext cx="7082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-3</a:t>
              </a:r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65E169B2-70D1-3860-710D-A15A78D29E34}"/>
                </a:ext>
              </a:extLst>
            </p:cNvPr>
            <p:cNvSpPr txBox="1"/>
            <p:nvPr/>
          </p:nvSpPr>
          <p:spPr>
            <a:xfrm>
              <a:off x="9883527" y="20597874"/>
              <a:ext cx="69207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dirty="0">
                  <a:solidFill>
                    <a:srgbClr val="FF0000"/>
                  </a:solidFill>
                </a:rPr>
                <a:t>A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FFC000"/>
                  </a:solidFill>
                </a:rPr>
                <a:t>B</a:t>
              </a:r>
              <a:r>
                <a:rPr lang="en-US" sz="6000" dirty="0"/>
                <a:t> </a:t>
              </a:r>
              <a:r>
                <a:rPr lang="en-US" sz="7200" b="1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200" dirty="0">
                  <a:solidFill>
                    <a:srgbClr val="92D050"/>
                  </a:solidFill>
                </a:rPr>
                <a:t>D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00B0F0"/>
                  </a:solidFill>
                </a:rPr>
                <a:t>E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7030A0"/>
                  </a:solidFill>
                </a:rPr>
                <a:t>F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5">
                      <a:lumMod val="75000"/>
                    </a:schemeClr>
                  </a:solidFill>
                </a:rPr>
                <a:t>G</a:t>
              </a:r>
              <a:r>
                <a:rPr lang="en-US" sz="6000" dirty="0"/>
                <a:t> </a:t>
              </a:r>
              <a:r>
                <a:rPr lang="en-US" sz="7200" b="1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6">
                      <a:lumMod val="75000"/>
                    </a:schemeClr>
                  </a:solidFill>
                </a:rPr>
                <a:t>H</a:t>
              </a:r>
              <a:r>
                <a:rPr lang="en-US" sz="6000" dirty="0"/>
                <a:t> I </a:t>
              </a:r>
              <a:endParaRPr lang="en-US" sz="6000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</p:grpSp>
      <p:sp>
        <p:nvSpPr>
          <p:cNvPr id="388" name="Rectangle 387">
            <a:extLst>
              <a:ext uri="{FF2B5EF4-FFF2-40B4-BE49-F238E27FC236}">
                <a16:creationId xmlns:a16="http://schemas.microsoft.com/office/drawing/2014/main" id="{C834CE6B-05AE-CAE9-BA62-84DC1A6B94D0}"/>
              </a:ext>
            </a:extLst>
          </p:cNvPr>
          <p:cNvSpPr/>
          <p:nvPr/>
        </p:nvSpPr>
        <p:spPr>
          <a:xfrm>
            <a:off x="406446" y="20010268"/>
            <a:ext cx="8609608" cy="65508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en-US" sz="3600" b="1" i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Free</a:t>
            </a:r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 Repetition Lag-CRP</a:t>
            </a:r>
          </a:p>
        </p:txBody>
      </p:sp>
      <p:pic>
        <p:nvPicPr>
          <p:cNvPr id="390" name="Picture 389">
            <a:extLst>
              <a:ext uri="{FF2B5EF4-FFF2-40B4-BE49-F238E27FC236}">
                <a16:creationId xmlns:a16="http://schemas.microsoft.com/office/drawing/2014/main" id="{D23E7F77-E0E7-ABE7-C5C8-B0B6BB1F74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961953" y="20489279"/>
            <a:ext cx="5196372" cy="3876658"/>
          </a:xfrm>
          <a:prstGeom prst="rect">
            <a:avLst/>
          </a:prstGeom>
        </p:spPr>
      </p:pic>
      <p:sp>
        <p:nvSpPr>
          <p:cNvPr id="391" name="TextBox 390">
            <a:extLst>
              <a:ext uri="{FF2B5EF4-FFF2-40B4-BE49-F238E27FC236}">
                <a16:creationId xmlns:a16="http://schemas.microsoft.com/office/drawing/2014/main" id="{8D113F17-18D6-B4C6-A5DB-4EAAF80BDD89}"/>
              </a:ext>
            </a:extLst>
          </p:cNvPr>
          <p:cNvSpPr txBox="1"/>
          <p:nvPr/>
        </p:nvSpPr>
        <p:spPr>
          <a:xfrm>
            <a:off x="20292740" y="20223636"/>
            <a:ext cx="2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Mixed List Data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4B61AEB2-C304-3247-C0CB-325309648E7F}"/>
              </a:ext>
            </a:extLst>
          </p:cNvPr>
          <p:cNvSpPr txBox="1"/>
          <p:nvPr/>
        </p:nvSpPr>
        <p:spPr>
          <a:xfrm>
            <a:off x="25513755" y="20223637"/>
            <a:ext cx="2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Control List Data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1248C540-A4AA-A433-D9EE-09761DB8F9CE}"/>
              </a:ext>
            </a:extLst>
          </p:cNvPr>
          <p:cNvSpPr txBox="1"/>
          <p:nvPr/>
        </p:nvSpPr>
        <p:spPr>
          <a:xfrm>
            <a:off x="10145774" y="21547722"/>
            <a:ext cx="82430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recalls for repeated items with spacing &gt;= 4, track </a:t>
            </a:r>
            <a:r>
              <a:rPr lang="en-US" sz="2400" b="1" dirty="0">
                <a:latin typeface="Helvetica" pitchFamily="2" charset="0"/>
              </a:rPr>
              <a:t>relative</a:t>
            </a:r>
            <a:r>
              <a:rPr lang="en-US" sz="2400" dirty="0">
                <a:latin typeface="Helvetica" pitchFamily="2" charset="0"/>
              </a:rPr>
              <a:t> to their </a:t>
            </a:r>
            <a:r>
              <a:rPr lang="en-US" sz="2400" b="1" dirty="0">
                <a:latin typeface="Helvetica" pitchFamily="2" charset="0"/>
              </a:rPr>
              <a:t>first</a:t>
            </a:r>
            <a:r>
              <a:rPr lang="en-US" sz="2400" dirty="0">
                <a:latin typeface="Helvetica" pitchFamily="2" charset="0"/>
              </a:rPr>
              <a:t> and </a:t>
            </a:r>
            <a:r>
              <a:rPr lang="en-US" sz="2400" b="1" dirty="0">
                <a:latin typeface="Helvetica" pitchFamily="2" charset="0"/>
              </a:rPr>
              <a:t>second</a:t>
            </a:r>
            <a:r>
              <a:rPr lang="en-US" sz="2400" dirty="0">
                <a:latin typeface="Helvetica" pitchFamily="2" charset="0"/>
              </a:rPr>
              <a:t> study positions:</a:t>
            </a:r>
          </a:p>
          <a:p>
            <a:pPr algn="ctr"/>
            <a:r>
              <a:rPr lang="en-US" sz="2400" dirty="0">
                <a:latin typeface="Helvetica" pitchFamily="2" charset="0"/>
              </a:rPr>
              <a:t>1. For lags [-3, -2, -1, 1, 2, 3] if transition with lag is </a:t>
            </a:r>
            <a:r>
              <a:rPr lang="en-US" sz="2400" u="sng" dirty="0">
                <a:latin typeface="Helvetica" pitchFamily="2" charset="0"/>
              </a:rPr>
              <a:t>possible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2. For lags [-3, -2, -1, 1, 2, 3] if transition with lag </a:t>
            </a:r>
            <a:r>
              <a:rPr lang="en-US" sz="2400" u="sng" dirty="0">
                <a:latin typeface="Helvetica" pitchFamily="2" charset="0"/>
              </a:rPr>
              <a:t>happened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Actual Count / Possible Count = Recall Probability by Lag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CEE01188-F080-72D5-6791-A38B40EEDF14}"/>
              </a:ext>
            </a:extLst>
          </p:cNvPr>
          <p:cNvSpPr/>
          <p:nvPr/>
        </p:nvSpPr>
        <p:spPr>
          <a:xfrm>
            <a:off x="1263634" y="24318945"/>
            <a:ext cx="71251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Item-Based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(Standard CMR)</a:t>
            </a: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DA216008-E604-A749-A86E-ACA0955A04BB}"/>
              </a:ext>
            </a:extLst>
          </p:cNvPr>
          <p:cNvSpPr/>
          <p:nvPr/>
        </p:nvSpPr>
        <p:spPr>
          <a:xfrm>
            <a:off x="11601197" y="24303394"/>
            <a:ext cx="71251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Episode-Specific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(Instance CMR)</a:t>
            </a: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3C69A490-8457-E875-4A66-1BE50513DC0B}"/>
              </a:ext>
            </a:extLst>
          </p:cNvPr>
          <p:cNvSpPr/>
          <p:nvPr/>
        </p:nvSpPr>
        <p:spPr>
          <a:xfrm>
            <a:off x="21682199" y="24318945"/>
            <a:ext cx="71251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Instance-CMR </a:t>
            </a:r>
          </a:p>
          <a:p>
            <a:pPr algn="ctr"/>
            <a:r>
              <a:rPr lang="en-US" sz="2800" b="1" u="sng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Plus a First Trace Boost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5622C7EC-D865-C74D-A686-9D1B8C001D35}"/>
              </a:ext>
            </a:extLst>
          </p:cNvPr>
          <p:cNvSpPr txBox="1"/>
          <p:nvPr/>
        </p:nvSpPr>
        <p:spPr>
          <a:xfrm>
            <a:off x="271121" y="20826400"/>
            <a:ext cx="987465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 free recall datasets, transitions from repeaters are biased to +1 neighbor of their 1st study over 2nd vs baseline </a:t>
            </a:r>
            <a:r>
              <a:rPr lang="en-US" sz="2400" b="1" dirty="0">
                <a:latin typeface="Helvetica" pitchFamily="2" charset="0"/>
              </a:rPr>
              <a:t>(t= +3.009, p=.0049)</a:t>
            </a:r>
            <a:r>
              <a:rPr lang="en-US" sz="2400" dirty="0">
                <a:latin typeface="Helvetica" pitchFamily="2" charset="0"/>
              </a:rPr>
              <a:t>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Standard CMR predicts the </a:t>
            </a:r>
            <a:r>
              <a:rPr lang="en-US" sz="2400" u="sng" dirty="0">
                <a:latin typeface="Helvetica" pitchFamily="2" charset="0"/>
              </a:rPr>
              <a:t>opposite</a:t>
            </a:r>
            <a:r>
              <a:rPr lang="en-US" sz="2400" dirty="0">
                <a:latin typeface="Helvetica" pitchFamily="2" charset="0"/>
              </a:rPr>
              <a:t> pattern</a:t>
            </a:r>
            <a:r>
              <a:rPr lang="en-US" sz="2400" u="sng" dirty="0">
                <a:latin typeface="Helvetica" pitchFamily="2" charset="0"/>
              </a:rPr>
              <a:t>:</a:t>
            </a:r>
            <a:r>
              <a:rPr lang="en-US" sz="2400" dirty="0">
                <a:latin typeface="Helvetica" pitchFamily="2" charset="0"/>
              </a:rPr>
              <a:t> more balanced transition rates to each presentation’s neighbor vs baseline </a:t>
            </a:r>
            <a:r>
              <a:rPr lang="en-US" sz="2400" b="1" dirty="0">
                <a:latin typeface="Helvetica" pitchFamily="2" charset="0"/>
              </a:rPr>
              <a:t>(t= -2.286, p=.0286)</a:t>
            </a:r>
            <a:r>
              <a:rPr lang="en-US" sz="2400" dirty="0">
                <a:latin typeface="Helvetica" pitchFamily="2" charset="0"/>
              </a:rPr>
              <a:t>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Instance-CMR predicts slim difference from baseline, while an extension that boosts first presentation traces upon repetition </a:t>
            </a:r>
            <a:r>
              <a:rPr lang="en-US" sz="2400" u="sng" dirty="0">
                <a:latin typeface="Helvetica" pitchFamily="2" charset="0"/>
              </a:rPr>
              <a:t>without</a:t>
            </a:r>
            <a:r>
              <a:rPr lang="en-US" sz="2400" dirty="0">
                <a:latin typeface="Helvetica" pitchFamily="2" charset="0"/>
              </a:rPr>
              <a:t> knitting contexts fully captures the first presentation bias </a:t>
            </a:r>
            <a:r>
              <a:rPr lang="en-US" sz="2400" b="1" dirty="0">
                <a:latin typeface="Helvetica" pitchFamily="2" charset="0"/>
              </a:rPr>
              <a:t>(t=5.562, p&lt;.0001)</a:t>
            </a:r>
            <a:r>
              <a:rPr lang="en-US" sz="2400" dirty="0">
                <a:latin typeface="Helvetica" pitchFamily="2" charset="0"/>
              </a:rPr>
              <a:t>.</a:t>
            </a:r>
          </a:p>
        </p:txBody>
      </p:sp>
      <p:pic>
        <p:nvPicPr>
          <p:cNvPr id="401" name="Picture 400">
            <a:extLst>
              <a:ext uri="{FF2B5EF4-FFF2-40B4-BE49-F238E27FC236}">
                <a16:creationId xmlns:a16="http://schemas.microsoft.com/office/drawing/2014/main" id="{39B4120E-7945-2DFA-74A0-0CF38C7BFC0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979" y="25225033"/>
            <a:ext cx="4971523" cy="3708914"/>
          </a:xfrm>
          <a:prstGeom prst="rect">
            <a:avLst/>
          </a:prstGeom>
        </p:spPr>
      </p:pic>
      <p:sp>
        <p:nvSpPr>
          <p:cNvPr id="402" name="TextBox 401">
            <a:extLst>
              <a:ext uri="{FF2B5EF4-FFF2-40B4-BE49-F238E27FC236}">
                <a16:creationId xmlns:a16="http://schemas.microsoft.com/office/drawing/2014/main" id="{F6D873A7-0EFA-98BE-797C-E0D50D0959AE}"/>
              </a:ext>
            </a:extLst>
          </p:cNvPr>
          <p:cNvSpPr txBox="1"/>
          <p:nvPr/>
        </p:nvSpPr>
        <p:spPr>
          <a:xfrm>
            <a:off x="1617015" y="28800321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Mixed List Sims</a:t>
            </a:r>
          </a:p>
        </p:txBody>
      </p:sp>
      <p:pic>
        <p:nvPicPr>
          <p:cNvPr id="403" name="Picture 402">
            <a:extLst>
              <a:ext uri="{FF2B5EF4-FFF2-40B4-BE49-F238E27FC236}">
                <a16:creationId xmlns:a16="http://schemas.microsoft.com/office/drawing/2014/main" id="{68C6DEA4-B29C-567C-7280-43B89100FDD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7128" y="25266753"/>
            <a:ext cx="4736482" cy="3533566"/>
          </a:xfrm>
          <a:prstGeom prst="rect">
            <a:avLst/>
          </a:prstGeom>
        </p:spPr>
      </p:pic>
      <p:sp>
        <p:nvSpPr>
          <p:cNvPr id="404" name="TextBox 403">
            <a:extLst>
              <a:ext uri="{FF2B5EF4-FFF2-40B4-BE49-F238E27FC236}">
                <a16:creationId xmlns:a16="http://schemas.microsoft.com/office/drawing/2014/main" id="{A00B8E8C-7513-CA81-154D-DA4898D8D51D}"/>
              </a:ext>
            </a:extLst>
          </p:cNvPr>
          <p:cNvSpPr txBox="1"/>
          <p:nvPr/>
        </p:nvSpPr>
        <p:spPr>
          <a:xfrm>
            <a:off x="6269838" y="28723015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Control List Sims</a:t>
            </a:r>
          </a:p>
        </p:txBody>
      </p:sp>
      <p:pic>
        <p:nvPicPr>
          <p:cNvPr id="405" name="Picture 404">
            <a:extLst>
              <a:ext uri="{FF2B5EF4-FFF2-40B4-BE49-F238E27FC236}">
                <a16:creationId xmlns:a16="http://schemas.microsoft.com/office/drawing/2014/main" id="{B86778B5-7023-7609-AC76-9610FFA1AA6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70119" y="25266752"/>
            <a:ext cx="4736484" cy="3533567"/>
          </a:xfrm>
          <a:prstGeom prst="rect">
            <a:avLst/>
          </a:prstGeom>
        </p:spPr>
      </p:pic>
      <p:pic>
        <p:nvPicPr>
          <p:cNvPr id="406" name="Picture 405">
            <a:extLst>
              <a:ext uri="{FF2B5EF4-FFF2-40B4-BE49-F238E27FC236}">
                <a16:creationId xmlns:a16="http://schemas.microsoft.com/office/drawing/2014/main" id="{21D05A39-7423-7131-D700-576D9B7D266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946531" y="25266752"/>
            <a:ext cx="4736484" cy="3533567"/>
          </a:xfrm>
          <a:prstGeom prst="rect">
            <a:avLst/>
          </a:prstGeom>
        </p:spPr>
      </p:pic>
      <p:sp>
        <p:nvSpPr>
          <p:cNvPr id="408" name="TextBox 407">
            <a:extLst>
              <a:ext uri="{FF2B5EF4-FFF2-40B4-BE49-F238E27FC236}">
                <a16:creationId xmlns:a16="http://schemas.microsoft.com/office/drawing/2014/main" id="{082D8957-511A-90E5-B9ED-3A8952EADC1A}"/>
              </a:ext>
            </a:extLst>
          </p:cNvPr>
          <p:cNvSpPr txBox="1"/>
          <p:nvPr/>
        </p:nvSpPr>
        <p:spPr>
          <a:xfrm>
            <a:off x="11650532" y="28698349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Mixed List Sims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1DF6E15-F68C-2F81-D2AC-80BF2BA34C75}"/>
              </a:ext>
            </a:extLst>
          </p:cNvPr>
          <p:cNvSpPr txBox="1"/>
          <p:nvPr/>
        </p:nvSpPr>
        <p:spPr>
          <a:xfrm>
            <a:off x="16303355" y="28621043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Control List Sims</a:t>
            </a:r>
          </a:p>
        </p:txBody>
      </p:sp>
      <p:pic>
        <p:nvPicPr>
          <p:cNvPr id="411" name="Picture 410">
            <a:extLst>
              <a:ext uri="{FF2B5EF4-FFF2-40B4-BE49-F238E27FC236}">
                <a16:creationId xmlns:a16="http://schemas.microsoft.com/office/drawing/2014/main" id="{E0A612A5-436D-3C31-430E-5AE869843BB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144598" y="25189448"/>
            <a:ext cx="4736484" cy="3533567"/>
          </a:xfrm>
          <a:prstGeom prst="rect">
            <a:avLst/>
          </a:prstGeom>
        </p:spPr>
      </p:pic>
      <p:pic>
        <p:nvPicPr>
          <p:cNvPr id="412" name="Picture 411">
            <a:extLst>
              <a:ext uri="{FF2B5EF4-FFF2-40B4-BE49-F238E27FC236}">
                <a16:creationId xmlns:a16="http://schemas.microsoft.com/office/drawing/2014/main" id="{7ABE2435-8AE4-838D-54A7-7CD679ED762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173103" y="25191308"/>
            <a:ext cx="4736484" cy="3533567"/>
          </a:xfrm>
          <a:prstGeom prst="rect">
            <a:avLst/>
          </a:prstGeom>
        </p:spPr>
      </p:pic>
      <p:sp>
        <p:nvSpPr>
          <p:cNvPr id="413" name="TextBox 412">
            <a:extLst>
              <a:ext uri="{FF2B5EF4-FFF2-40B4-BE49-F238E27FC236}">
                <a16:creationId xmlns:a16="http://schemas.microsoft.com/office/drawing/2014/main" id="{32ED9FCC-AB5A-4AA0-33DB-5CC44E66EFEE}"/>
              </a:ext>
            </a:extLst>
          </p:cNvPr>
          <p:cNvSpPr txBox="1"/>
          <p:nvPr/>
        </p:nvSpPr>
        <p:spPr>
          <a:xfrm>
            <a:off x="21605150" y="28598307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Mixed List Sims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F8896147-2FFF-EEC5-57D2-0C52CC521D18}"/>
              </a:ext>
            </a:extLst>
          </p:cNvPr>
          <p:cNvSpPr txBox="1"/>
          <p:nvPr/>
        </p:nvSpPr>
        <p:spPr>
          <a:xfrm>
            <a:off x="26486573" y="28597201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Control List Sims</a:t>
            </a: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2A56C8CF-8ED6-37AB-2C20-089D059A608B}"/>
              </a:ext>
            </a:extLst>
          </p:cNvPr>
          <p:cNvSpPr/>
          <p:nvPr/>
        </p:nvSpPr>
        <p:spPr>
          <a:xfrm>
            <a:off x="301716" y="29338534"/>
            <a:ext cx="8609608" cy="7865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Repetition Neighbor Contiguity</a:t>
            </a:r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5A3C9F3E-7281-280A-E522-2E99718292A0}"/>
              </a:ext>
            </a:extLst>
          </p:cNvPr>
          <p:cNvSpPr txBox="1"/>
          <p:nvPr/>
        </p:nvSpPr>
        <p:spPr>
          <a:xfrm>
            <a:off x="272041" y="30223254"/>
            <a:ext cx="89849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Standard CMR but not Instance CMR proposes that </a:t>
            </a:r>
            <a:r>
              <a:rPr lang="en-US" sz="2400" b="1" dirty="0">
                <a:latin typeface="Helvetica" pitchFamily="2" charset="0"/>
              </a:rPr>
              <a:t>neighbors</a:t>
            </a:r>
            <a:r>
              <a:rPr lang="en-US" sz="2400" dirty="0">
                <a:latin typeface="Helvetica" pitchFamily="2" charset="0"/>
              </a:rPr>
              <a:t> of repeated items</a:t>
            </a:r>
            <a:r>
              <a:rPr lang="en-US" sz="2400" i="1" dirty="0">
                <a:latin typeface="Helvetica" pitchFamily="2" charset="0"/>
              </a:rPr>
              <a:t> </a:t>
            </a:r>
            <a:r>
              <a:rPr lang="en-US" sz="2400" dirty="0">
                <a:latin typeface="Helvetica" pitchFamily="2" charset="0"/>
              </a:rPr>
              <a:t>will be associated with overlapping contexts, implying boosted transitions </a:t>
            </a:r>
            <a:r>
              <a:rPr lang="en-US" sz="2400" u="sng" dirty="0">
                <a:latin typeface="Helvetica" pitchFamily="2" charset="0"/>
              </a:rPr>
              <a:t>across neighborhoods</a:t>
            </a:r>
            <a:r>
              <a:rPr lang="en-US" sz="2400" dirty="0">
                <a:latin typeface="Helvetica" pitchFamily="2" charset="0"/>
              </a:rPr>
              <a:t> as their associated contexts become good cues for one another.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latin typeface="Helvetica" pitchFamily="2" charset="0"/>
              </a:rPr>
              <a:t>We can adjudicate by plotting transitions from +1/+2 neighbors of the </a:t>
            </a:r>
            <a:r>
              <a:rPr lang="en-US" sz="2400" b="1" i="1" dirty="0">
                <a:latin typeface="Helvetica" pitchFamily="2" charset="0"/>
              </a:rPr>
              <a:t>first</a:t>
            </a:r>
            <a:r>
              <a:rPr lang="en-US" sz="2400" b="1" dirty="0">
                <a:latin typeface="Helvetica" pitchFamily="2" charset="0"/>
              </a:rPr>
              <a:t> presentation of repeated items to neighbors of </a:t>
            </a:r>
            <a:r>
              <a:rPr lang="en-US" sz="2400" b="1" i="1" dirty="0">
                <a:latin typeface="Helvetica" pitchFamily="2" charset="0"/>
              </a:rPr>
              <a:t>second </a:t>
            </a:r>
            <a:r>
              <a:rPr lang="en-US" sz="2400" b="1" dirty="0">
                <a:latin typeface="Helvetica" pitchFamily="2" charset="0"/>
              </a:rPr>
              <a:t>presentation, </a:t>
            </a:r>
            <a:r>
              <a:rPr lang="en-US" sz="2400" b="1" u="sng" dirty="0">
                <a:latin typeface="Helvetica" pitchFamily="2" charset="0"/>
              </a:rPr>
              <a:t>and vice versa.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Data shows no such boosted cross-neighborhood transition rates, and instead reveals a new pattern: boosted transition rates to the repeated item itself. </a:t>
            </a:r>
            <a:r>
              <a:rPr lang="en-US" sz="2400" b="1" dirty="0">
                <a:latin typeface="Helvetica" pitchFamily="2" charset="0"/>
              </a:rPr>
              <a:t>Captured by Trace Boost extension.</a:t>
            </a:r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2C0DA28F-BF5C-954E-3194-C959C6FEAF08}"/>
              </a:ext>
            </a:extLst>
          </p:cNvPr>
          <p:cNvSpPr/>
          <p:nvPr/>
        </p:nvSpPr>
        <p:spPr>
          <a:xfrm>
            <a:off x="14380112" y="29327073"/>
            <a:ext cx="504422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Standard CMR</a:t>
            </a:r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3C30CE91-23F8-17B3-D40A-D6934690EAB2}"/>
              </a:ext>
            </a:extLst>
          </p:cNvPr>
          <p:cNvSpPr/>
          <p:nvPr/>
        </p:nvSpPr>
        <p:spPr>
          <a:xfrm>
            <a:off x="19547552" y="29330159"/>
            <a:ext cx="499020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Instance-CMR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03D8F5CB-43BE-CA2A-A0D8-C122D123911B}"/>
              </a:ext>
            </a:extLst>
          </p:cNvPr>
          <p:cNvSpPr/>
          <p:nvPr/>
        </p:nvSpPr>
        <p:spPr>
          <a:xfrm>
            <a:off x="9199472" y="29327013"/>
            <a:ext cx="5091993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Data</a:t>
            </a:r>
          </a:p>
        </p:txBody>
      </p:sp>
      <p:sp>
        <p:nvSpPr>
          <p:cNvPr id="433" name="Rectangle 432">
            <a:extLst>
              <a:ext uri="{FF2B5EF4-FFF2-40B4-BE49-F238E27FC236}">
                <a16:creationId xmlns:a16="http://schemas.microsoft.com/office/drawing/2014/main" id="{0E13ED92-B0F6-9351-E583-EF222D8B7AB5}"/>
              </a:ext>
            </a:extLst>
          </p:cNvPr>
          <p:cNvSpPr/>
          <p:nvPr/>
        </p:nvSpPr>
        <p:spPr>
          <a:xfrm>
            <a:off x="24612182" y="29330159"/>
            <a:ext cx="5058451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Instance-CMR </a:t>
            </a:r>
          </a:p>
          <a:p>
            <a:pPr algn="ctr"/>
            <a:r>
              <a:rPr lang="en-US" sz="2800" b="1" u="sng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Plus a First Trace Boost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7C693025-8DA7-4D14-8BBB-F2A9FAF7DFC8}"/>
              </a:ext>
            </a:extLst>
          </p:cNvPr>
          <p:cNvSpPr/>
          <p:nvPr/>
        </p:nvSpPr>
        <p:spPr>
          <a:xfrm>
            <a:off x="388533" y="34527987"/>
            <a:ext cx="8609608" cy="7865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en-US" sz="3600" b="1" i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Serial</a:t>
            </a:r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 Repetition Lag-CRP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29E6BA3D-3D03-C489-339D-BFD36E102A67}"/>
              </a:ext>
            </a:extLst>
          </p:cNvPr>
          <p:cNvSpPr txBox="1"/>
          <p:nvPr/>
        </p:nvSpPr>
        <p:spPr>
          <a:xfrm>
            <a:off x="173855" y="35344434"/>
            <a:ext cx="12974165" cy="253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 serial recall datasets, there is a </a:t>
            </a:r>
            <a:r>
              <a:rPr lang="en-US" sz="2400" b="1" dirty="0">
                <a:latin typeface="Helvetica" pitchFamily="2" charset="0"/>
              </a:rPr>
              <a:t>correct</a:t>
            </a:r>
            <a:r>
              <a:rPr lang="en-US" sz="2400" dirty="0">
                <a:latin typeface="Helvetica" pitchFamily="2" charset="0"/>
              </a:rPr>
              <a:t> transition to make after recall proceeds </a:t>
            </a:r>
            <a:r>
              <a:rPr lang="en-US" sz="2400" u="sng" dirty="0">
                <a:latin typeface="Helvetica" pitchFamily="2" charset="0"/>
              </a:rPr>
              <a:t>successfully</a:t>
            </a:r>
            <a:r>
              <a:rPr lang="en-US" sz="2400" dirty="0">
                <a:latin typeface="Helvetica" pitchFamily="2" charset="0"/>
              </a:rPr>
              <a:t> through first presentation of a repeated item: </a:t>
            </a:r>
            <a:r>
              <a:rPr lang="en-US" sz="2400" b="1" dirty="0">
                <a:latin typeface="Helvetica" pitchFamily="2" charset="0"/>
              </a:rPr>
              <a:t>The transition must be to the +1 neighbor of the item’s 1st pres., and not to the +1 neighbor of the 2nd presentation.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The data shows humans reliably make the correct transition and Instance-CMR successfully predicts the same absence of repetition-driven errors! But Standard CMR predicts </a:t>
            </a:r>
            <a:r>
              <a:rPr lang="en-US" sz="2400" u="sng" dirty="0">
                <a:latin typeface="Helvetica" pitchFamily="2" charset="0"/>
              </a:rPr>
              <a:t>opposite</a:t>
            </a:r>
            <a:r>
              <a:rPr lang="en-US" sz="2400" dirty="0">
                <a:latin typeface="Helvetica" pitchFamily="2" charset="0"/>
              </a:rPr>
              <a:t> pattern</a:t>
            </a:r>
            <a:r>
              <a:rPr lang="en-US" sz="2400" u="sng" dirty="0">
                <a:latin typeface="Helvetica" pitchFamily="2" charset="0"/>
              </a:rPr>
              <a:t>:</a:t>
            </a:r>
            <a:r>
              <a:rPr lang="en-US" sz="2400" dirty="0">
                <a:latin typeface="Helvetica" pitchFamily="2" charset="0"/>
              </a:rPr>
              <a:t> a high rate of erroneous transitions to the second presentation’s neighbor.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13E58372-024A-E2A0-540E-754CC0ECA59D}"/>
              </a:ext>
            </a:extLst>
          </p:cNvPr>
          <p:cNvSpPr/>
          <p:nvPr/>
        </p:nvSpPr>
        <p:spPr>
          <a:xfrm>
            <a:off x="18546913" y="33817706"/>
            <a:ext cx="50973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Item-Based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(Standard CMR)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9309DC5B-B726-0C3C-89A3-E16E8781187B}"/>
              </a:ext>
            </a:extLst>
          </p:cNvPr>
          <p:cNvSpPr/>
          <p:nvPr/>
        </p:nvSpPr>
        <p:spPr>
          <a:xfrm>
            <a:off x="24077224" y="33790047"/>
            <a:ext cx="591597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Episode-Specific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(Instance CMR)</a:t>
            </a: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AB1F8FC3-72F1-964E-5FF7-AAC7984FE35C}"/>
              </a:ext>
            </a:extLst>
          </p:cNvPr>
          <p:cNvSpPr/>
          <p:nvPr/>
        </p:nvSpPr>
        <p:spPr>
          <a:xfrm>
            <a:off x="13077611" y="33851571"/>
            <a:ext cx="50973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Data</a:t>
            </a:r>
          </a:p>
        </p:txBody>
      </p:sp>
      <p:pic>
        <p:nvPicPr>
          <p:cNvPr id="445" name="Picture 444">
            <a:extLst>
              <a:ext uri="{FF2B5EF4-FFF2-40B4-BE49-F238E27FC236}">
                <a16:creationId xmlns:a16="http://schemas.microsoft.com/office/drawing/2014/main" id="{7CFFB658-7A1B-DF4B-FE97-A7D452202B7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201503" y="34805683"/>
            <a:ext cx="4736484" cy="3533567"/>
          </a:xfrm>
          <a:prstGeom prst="rect">
            <a:avLst/>
          </a:prstGeom>
        </p:spPr>
      </p:pic>
      <p:pic>
        <p:nvPicPr>
          <p:cNvPr id="446" name="Picture 445">
            <a:extLst>
              <a:ext uri="{FF2B5EF4-FFF2-40B4-BE49-F238E27FC236}">
                <a16:creationId xmlns:a16="http://schemas.microsoft.com/office/drawing/2014/main" id="{E8C899BF-9920-55FE-F489-BB5B8C2FE14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659032" y="34762187"/>
            <a:ext cx="4736484" cy="3533567"/>
          </a:xfrm>
          <a:prstGeom prst="rect">
            <a:avLst/>
          </a:prstGeom>
        </p:spPr>
      </p:pic>
      <p:pic>
        <p:nvPicPr>
          <p:cNvPr id="447" name="Picture 446">
            <a:extLst>
              <a:ext uri="{FF2B5EF4-FFF2-40B4-BE49-F238E27FC236}">
                <a16:creationId xmlns:a16="http://schemas.microsoft.com/office/drawing/2014/main" id="{64157F77-F451-79F8-EFA7-1A1C02BD53B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4715934" y="34727036"/>
            <a:ext cx="4736592" cy="3533648"/>
          </a:xfrm>
          <a:prstGeom prst="rect">
            <a:avLst/>
          </a:prstGeom>
        </p:spPr>
      </p:pic>
      <p:sp>
        <p:nvSpPr>
          <p:cNvPr id="448" name="TextBox 447">
            <a:extLst>
              <a:ext uri="{FF2B5EF4-FFF2-40B4-BE49-F238E27FC236}">
                <a16:creationId xmlns:a16="http://schemas.microsoft.com/office/drawing/2014/main" id="{972C28F3-2427-2450-B2EE-D5FBE29FEF63}"/>
              </a:ext>
            </a:extLst>
          </p:cNvPr>
          <p:cNvSpPr txBox="1"/>
          <p:nvPr/>
        </p:nvSpPr>
        <p:spPr>
          <a:xfrm>
            <a:off x="20251887" y="4128765"/>
            <a:ext cx="1858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3600" b="1" dirty="0">
                <a:latin typeface="Helvetica" pitchFamily="2" charset="0"/>
              </a:rPr>
              <a:t>VS</a:t>
            </a:r>
          </a:p>
        </p:txBody>
      </p:sp>
      <p:graphicFrame>
        <p:nvGraphicFramePr>
          <p:cNvPr id="452" name="Table 451">
            <a:extLst>
              <a:ext uri="{FF2B5EF4-FFF2-40B4-BE49-F238E27FC236}">
                <a16:creationId xmlns:a16="http://schemas.microsoft.com/office/drawing/2014/main" id="{A19D489A-FFE8-0C62-88DF-798328AE91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194326"/>
              </p:ext>
            </p:extLst>
          </p:nvPr>
        </p:nvGraphicFramePr>
        <p:xfrm>
          <a:off x="406446" y="39199990"/>
          <a:ext cx="8243001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7667">
                  <a:extLst>
                    <a:ext uri="{9D8B030D-6E8A-4147-A177-3AD203B41FA5}">
                      <a16:colId xmlns:a16="http://schemas.microsoft.com/office/drawing/2014/main" val="807877628"/>
                    </a:ext>
                  </a:extLst>
                </a:gridCol>
                <a:gridCol w="3209876">
                  <a:extLst>
                    <a:ext uri="{9D8B030D-6E8A-4147-A177-3AD203B41FA5}">
                      <a16:colId xmlns:a16="http://schemas.microsoft.com/office/drawing/2014/main" val="3431716380"/>
                    </a:ext>
                  </a:extLst>
                </a:gridCol>
                <a:gridCol w="2285458">
                  <a:extLst>
                    <a:ext uri="{9D8B030D-6E8A-4147-A177-3AD203B41FA5}">
                      <a16:colId xmlns:a16="http://schemas.microsoft.com/office/drawing/2014/main" val="9038348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30175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kern="1200" dirty="0">
                          <a:solidFill>
                            <a:schemeClr val="lt1"/>
                          </a:solidFill>
                          <a:effectLst/>
                          <a:latin typeface="Helvetica" pitchFamily="2" charset="0"/>
                          <a:ea typeface="+mn-ea"/>
                          <a:cs typeface="+mn-cs"/>
                        </a:rPr>
                        <a:t>Pooled </a:t>
                      </a:r>
                      <a:r>
                        <a:rPr lang="el-GR" sz="2400" b="0" i="0" u="none" kern="1200" dirty="0">
                          <a:solidFill>
                            <a:schemeClr val="lt1"/>
                          </a:solidFill>
                          <a:effectLst/>
                          <a:latin typeface="Helvetica" pitchFamily="2" charset="0"/>
                          <a:ea typeface="+mn-ea"/>
                          <a:cs typeface="+mn-cs"/>
                        </a:rPr>
                        <a:t>Δ</a:t>
                      </a:r>
                      <a:r>
                        <a:rPr lang="en-US" sz="2400" b="0" i="0" u="none" kern="1200" dirty="0">
                          <a:solidFill>
                            <a:schemeClr val="lt1"/>
                          </a:solidFill>
                          <a:effectLst/>
                          <a:latin typeface="Helvetica" pitchFamily="2" charset="0"/>
                          <a:ea typeface="+mn-ea"/>
                          <a:cs typeface="+mn-cs"/>
                        </a:rPr>
                        <a:t>AIC vs Best</a:t>
                      </a:r>
                    </a:p>
                    <a:p>
                      <a:pPr marL="0" marR="0" lvl="0" indent="0" algn="ctr" defTabSz="30175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kern="1200" dirty="0">
                          <a:solidFill>
                            <a:schemeClr val="lt1"/>
                          </a:solidFill>
                          <a:effectLst/>
                          <a:latin typeface="Helvetica" pitchFamily="2" charset="0"/>
                          <a:ea typeface="+mn-ea"/>
                          <a:cs typeface="+mn-cs"/>
                        </a:rPr>
                        <a:t> Mean [CI]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Reliably Worse?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865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Instance CMR + Trace 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0.00 [0.00, 0.00]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434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Instance CMR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30175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dirty="0">
                          <a:latin typeface="Helvetica" pitchFamily="2" charset="0"/>
                        </a:rPr>
                        <a:t>2.31 [-1.73, 6.35]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672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Standard CMR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30175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dirty="0">
                          <a:latin typeface="Helvetica" pitchFamily="2" charset="0"/>
                        </a:rPr>
                        <a:t>22.83 [15.31, 30.34]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940339"/>
                  </a:ext>
                </a:extLst>
              </a:tr>
            </a:tbl>
          </a:graphicData>
        </a:graphic>
      </p:graphicFrame>
      <p:sp>
        <p:nvSpPr>
          <p:cNvPr id="453" name="Rectangle 452">
            <a:extLst>
              <a:ext uri="{FF2B5EF4-FFF2-40B4-BE49-F238E27FC236}">
                <a16:creationId xmlns:a16="http://schemas.microsoft.com/office/drawing/2014/main" id="{B623A007-5F04-E62D-51AD-1839DBD20848}"/>
              </a:ext>
            </a:extLst>
          </p:cNvPr>
          <p:cNvSpPr/>
          <p:nvPr/>
        </p:nvSpPr>
        <p:spPr>
          <a:xfrm>
            <a:off x="271121" y="38040694"/>
            <a:ext cx="8609608" cy="7865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Conclusion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EC98CE7-9DC9-F989-FD29-5CF6AEB277AA}"/>
              </a:ext>
            </a:extLst>
          </p:cNvPr>
          <p:cNvSpPr txBox="1"/>
          <p:nvPr/>
        </p:nvSpPr>
        <p:spPr>
          <a:xfrm>
            <a:off x="9016183" y="38204020"/>
            <a:ext cx="13551449" cy="44781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- Repetition effects may be frequently defined and measured inadequately in the literature, muddling interpretation. Comparison of performance to a </a:t>
            </a:r>
            <a:r>
              <a:rPr lang="en-US" sz="2400" b="1" dirty="0">
                <a:latin typeface="Helvetica" pitchFamily="2" charset="0"/>
                <a:cs typeface="Futura Medium" panose="020B0602020204020303" pitchFamily="34" charset="-79"/>
              </a:rPr>
              <a:t>position-matched symmetric baseline </a:t>
            </a:r>
            <a:r>
              <a:rPr lang="en-US" sz="2400" dirty="0">
                <a:latin typeface="Helvetica" pitchFamily="2" charset="0"/>
                <a:cs typeface="Futura Medium" panose="020B0602020204020303" pitchFamily="34" charset="-79"/>
              </a:rPr>
              <a:t>can distinguish real effects from natural outcome of two study positions sharing the same label.</a:t>
            </a:r>
            <a:endParaRPr lang="en-US" sz="2400" dirty="0">
              <a:latin typeface="Helvetica" pitchFamily="2" charset="0"/>
            </a:endParaRP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- CMR’s Item-based context reinstatement predicts patterns of </a:t>
            </a:r>
            <a:r>
              <a:rPr lang="en-US" sz="2400" b="1" dirty="0">
                <a:latin typeface="Helvetica" pitchFamily="2" charset="0"/>
              </a:rPr>
              <a:t>associative interference </a:t>
            </a:r>
            <a:r>
              <a:rPr lang="en-US" sz="2400" dirty="0">
                <a:latin typeface="Helvetica" pitchFamily="2" charset="0"/>
              </a:rPr>
              <a:t>that do not consistently arise in free or serial recall data. Occurrences may instead encode to distinct, non-overlapping contexts that compete and are reinstated separately during retrieval. With an instance-based framework, retrieved-context models can adapt to address these limitations.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- Instead of study-phase retrieval, reminding may </a:t>
            </a:r>
            <a:r>
              <a:rPr lang="en-US" sz="2400" b="1" dirty="0">
                <a:latin typeface="Helvetica" pitchFamily="2" charset="0"/>
              </a:rPr>
              <a:t>boost memory for an item’s first presentation w/o knitting occurrence contexts</a:t>
            </a:r>
            <a:r>
              <a:rPr lang="en-US" sz="2400" dirty="0">
                <a:latin typeface="Helvetica" pitchFamily="2" charset="0"/>
              </a:rPr>
              <a:t>. However, model comparison outcomes so far are ambiguous.</a:t>
            </a:r>
          </a:p>
          <a:p>
            <a:pPr>
              <a:spcAft>
                <a:spcPts val="1800"/>
              </a:spcAft>
            </a:pPr>
            <a:endParaRPr lang="en-US" sz="2400" dirty="0">
              <a:latin typeface="Helvetica" pitchFamily="2" charset="0"/>
            </a:endParaRP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1320B760-A818-4AE7-BFEF-04C872C024DF}"/>
              </a:ext>
            </a:extLst>
          </p:cNvPr>
          <p:cNvSpPr txBox="1"/>
          <p:nvPr/>
        </p:nvSpPr>
        <p:spPr>
          <a:xfrm>
            <a:off x="22484144" y="39016711"/>
            <a:ext cx="7609059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Tulving, E. (1972). Organization of memory.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Howard, M., &amp; Kahana, M. (2002). Journal of mathematical psychology.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Lohnas, L. &amp; Kahana, M. (2014). JEP: LEMC.</a:t>
            </a:r>
          </a:p>
          <a:p>
            <a:pPr algn="ctr"/>
            <a:r>
              <a:rPr lang="en-US" dirty="0">
                <a:latin typeface="Helvetica" pitchFamily="2" charset="0"/>
              </a:rPr>
              <a:t>Kahana, M., &amp; Jacobs, J. (2000). JEP: LEMC.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Morton, N. &amp; Polyn, S.</a:t>
            </a:r>
            <a:r>
              <a:rPr lang="en-US" dirty="0">
                <a:latin typeface="Helvetica" pitchFamily="2" charset="0"/>
              </a:rPr>
              <a:t> (2016). Journal of memory and language.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Logan</a:t>
            </a:r>
            <a:r>
              <a:rPr lang="en-US" dirty="0">
                <a:latin typeface="Helvetica" pitchFamily="2" charset="0"/>
              </a:rPr>
              <a:t>, G. (2021). Psychological Review,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Broitman, A. &amp; Kahana, M. (2024). </a:t>
            </a:r>
            <a:r>
              <a:rPr lang="en-US" dirty="0" err="1">
                <a:latin typeface="Helvetica" pitchFamily="2" charset="0"/>
              </a:rPr>
              <a:t>BioArxiv</a:t>
            </a:r>
            <a:r>
              <a:rPr lang="en-US" dirty="0">
                <a:latin typeface="Helvetica" pitchFamily="2" charset="0"/>
              </a:rPr>
              <a:t>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Lohnas, L. (2025). Psychonomic Bulletin &amp; Review.</a:t>
            </a:r>
          </a:p>
          <a:p>
            <a:pPr algn="ctr"/>
            <a:r>
              <a:rPr lang="en-US" dirty="0">
                <a:latin typeface="Helvetica" pitchFamily="2" charset="0"/>
              </a:rPr>
              <a:t>Polyn, S., Norman, K., Kahana, M. (2009). Psychological Review.</a:t>
            </a:r>
          </a:p>
        </p:txBody>
      </p:sp>
    </p:spTree>
    <p:extLst>
      <p:ext uri="{BB962C8B-B14F-4D97-AF65-F5344CB8AC3E}">
        <p14:creationId xmlns:p14="http://schemas.microsoft.com/office/powerpoint/2010/main" val="3482650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25548</TotalTime>
  <Words>1482</Words>
  <Application>Microsoft Macintosh PowerPoint</Application>
  <PresentationFormat>Custom</PresentationFormat>
  <Paragraphs>124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Jordan Gunn</dc:creator>
  <cp:lastModifiedBy>Jordan Gunn</cp:lastModifiedBy>
  <cp:revision>8</cp:revision>
  <dcterms:created xsi:type="dcterms:W3CDTF">2024-05-26T22:04:32Z</dcterms:created>
  <dcterms:modified xsi:type="dcterms:W3CDTF">2026-01-06T09:40:20Z</dcterms:modified>
</cp:coreProperties>
</file>