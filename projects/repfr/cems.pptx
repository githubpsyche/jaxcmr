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/>
    <p:restoredTop sz="90940"/>
  </p:normalViewPr>
  <p:slideViewPr>
    <p:cSldViewPr snapToGrid="0">
      <p:cViewPr varScale="1">
        <p:scale>
          <a:sx n="39" d="100"/>
          <a:sy n="39" d="100"/>
        </p:scale>
        <p:origin x="3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916DC-4114-8046-8117-7128A4471AEC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B4BF9-A558-E241-B193-2028862C2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7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1pPr>
    <a:lvl2pPr marL="1843431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4pPr>
    <a:lvl5pPr marL="7373721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6pPr>
    <a:lvl7pPr marL="11060583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B4BF9-A558-E241-B193-2028862C2A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30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87" indent="0" algn="ctr">
              <a:buNone/>
              <a:defRPr sz="9600"/>
            </a:lvl2pPr>
            <a:lvl3pPr marL="4389175" indent="0" algn="ctr">
              <a:buNone/>
              <a:defRPr sz="8640"/>
            </a:lvl3pPr>
            <a:lvl4pPr marL="6583762" indent="0" algn="ctr">
              <a:buNone/>
              <a:defRPr sz="7680"/>
            </a:lvl4pPr>
            <a:lvl5pPr marL="8778350" indent="0" algn="ctr">
              <a:buNone/>
              <a:defRPr sz="7680"/>
            </a:lvl5pPr>
            <a:lvl6pPr marL="10972937" indent="0" algn="ctr">
              <a:buNone/>
              <a:defRPr sz="7680"/>
            </a:lvl6pPr>
            <a:lvl7pPr marL="13167525" indent="0" algn="ctr">
              <a:buNone/>
              <a:defRPr sz="7680"/>
            </a:lvl7pPr>
            <a:lvl8pPr marL="15362112" indent="0" algn="ctr">
              <a:buNone/>
              <a:defRPr sz="7680"/>
            </a:lvl8pPr>
            <a:lvl9pPr marL="17556699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6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5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87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75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762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35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937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525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2112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699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1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6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87" indent="0">
              <a:buNone/>
              <a:defRPr sz="9600" b="1"/>
            </a:lvl2pPr>
            <a:lvl3pPr marL="4389175" indent="0">
              <a:buNone/>
              <a:defRPr sz="8640" b="1"/>
            </a:lvl3pPr>
            <a:lvl4pPr marL="6583762" indent="0">
              <a:buNone/>
              <a:defRPr sz="7680" b="1"/>
            </a:lvl4pPr>
            <a:lvl5pPr marL="8778350" indent="0">
              <a:buNone/>
              <a:defRPr sz="7680" b="1"/>
            </a:lvl5pPr>
            <a:lvl6pPr marL="10972937" indent="0">
              <a:buNone/>
              <a:defRPr sz="7680" b="1"/>
            </a:lvl6pPr>
            <a:lvl7pPr marL="13167525" indent="0">
              <a:buNone/>
              <a:defRPr sz="7680" b="1"/>
            </a:lvl7pPr>
            <a:lvl8pPr marL="15362112" indent="0">
              <a:buNone/>
              <a:defRPr sz="7680" b="1"/>
            </a:lvl8pPr>
            <a:lvl9pPr marL="17556699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3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87" indent="0">
              <a:buNone/>
              <a:defRPr sz="9600" b="1"/>
            </a:lvl2pPr>
            <a:lvl3pPr marL="4389175" indent="0">
              <a:buNone/>
              <a:defRPr sz="8640" b="1"/>
            </a:lvl3pPr>
            <a:lvl4pPr marL="6583762" indent="0">
              <a:buNone/>
              <a:defRPr sz="7680" b="1"/>
            </a:lvl4pPr>
            <a:lvl5pPr marL="8778350" indent="0">
              <a:buNone/>
              <a:defRPr sz="7680" b="1"/>
            </a:lvl5pPr>
            <a:lvl6pPr marL="10972937" indent="0">
              <a:buNone/>
              <a:defRPr sz="7680" b="1"/>
            </a:lvl6pPr>
            <a:lvl7pPr marL="13167525" indent="0">
              <a:buNone/>
              <a:defRPr sz="7680" b="1"/>
            </a:lvl7pPr>
            <a:lvl8pPr marL="15362112" indent="0">
              <a:buNone/>
              <a:defRPr sz="7680" b="1"/>
            </a:lvl8pPr>
            <a:lvl9pPr marL="17556699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3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45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01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8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8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87" indent="0">
              <a:buNone/>
              <a:defRPr sz="6720"/>
            </a:lvl2pPr>
            <a:lvl3pPr marL="4389175" indent="0">
              <a:buNone/>
              <a:defRPr sz="5760"/>
            </a:lvl3pPr>
            <a:lvl4pPr marL="6583762" indent="0">
              <a:buNone/>
              <a:defRPr sz="4800"/>
            </a:lvl4pPr>
            <a:lvl5pPr marL="8778350" indent="0">
              <a:buNone/>
              <a:defRPr sz="4800"/>
            </a:lvl5pPr>
            <a:lvl6pPr marL="10972937" indent="0">
              <a:buNone/>
              <a:defRPr sz="4800"/>
            </a:lvl6pPr>
            <a:lvl7pPr marL="13167525" indent="0">
              <a:buNone/>
              <a:defRPr sz="4800"/>
            </a:lvl7pPr>
            <a:lvl8pPr marL="15362112" indent="0">
              <a:buNone/>
              <a:defRPr sz="4800"/>
            </a:lvl8pPr>
            <a:lvl9pPr marL="17556699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8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87" indent="0">
              <a:buNone/>
              <a:defRPr sz="13440"/>
            </a:lvl2pPr>
            <a:lvl3pPr marL="4389175" indent="0">
              <a:buNone/>
              <a:defRPr sz="11520"/>
            </a:lvl3pPr>
            <a:lvl4pPr marL="6583762" indent="0">
              <a:buNone/>
              <a:defRPr sz="9600"/>
            </a:lvl4pPr>
            <a:lvl5pPr marL="8778350" indent="0">
              <a:buNone/>
              <a:defRPr sz="9600"/>
            </a:lvl5pPr>
            <a:lvl6pPr marL="10972937" indent="0">
              <a:buNone/>
              <a:defRPr sz="9600"/>
            </a:lvl6pPr>
            <a:lvl7pPr marL="13167525" indent="0">
              <a:buNone/>
              <a:defRPr sz="9600"/>
            </a:lvl7pPr>
            <a:lvl8pPr marL="15362112" indent="0">
              <a:buNone/>
              <a:defRPr sz="9600"/>
            </a:lvl8pPr>
            <a:lvl9pPr marL="17556699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8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87" indent="0">
              <a:buNone/>
              <a:defRPr sz="6720"/>
            </a:lvl2pPr>
            <a:lvl3pPr marL="4389175" indent="0">
              <a:buNone/>
              <a:defRPr sz="5760"/>
            </a:lvl3pPr>
            <a:lvl4pPr marL="6583762" indent="0">
              <a:buNone/>
              <a:defRPr sz="4800"/>
            </a:lvl4pPr>
            <a:lvl5pPr marL="8778350" indent="0">
              <a:buNone/>
              <a:defRPr sz="4800"/>
            </a:lvl5pPr>
            <a:lvl6pPr marL="10972937" indent="0">
              <a:buNone/>
              <a:defRPr sz="4800"/>
            </a:lvl6pPr>
            <a:lvl7pPr marL="13167525" indent="0">
              <a:buNone/>
              <a:defRPr sz="4800"/>
            </a:lvl7pPr>
            <a:lvl8pPr marL="15362112" indent="0">
              <a:buNone/>
              <a:defRPr sz="4800"/>
            </a:lvl8pPr>
            <a:lvl9pPr marL="17556699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80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0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3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8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389175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94" indent="-1097294" algn="l" defTabSz="4389175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81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69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1056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643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231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818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406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993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87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75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762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350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937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525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2112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699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77">
            <a:extLst>
              <a:ext uri="{FF2B5EF4-FFF2-40B4-BE49-F238E27FC236}">
                <a16:creationId xmlns:a16="http://schemas.microsoft.com/office/drawing/2014/main" id="{1BA7A9DF-71FB-FCB5-5ECC-ADD59F14E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33" y="5861507"/>
            <a:ext cx="7162800" cy="7175500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BDDBF44E-2679-1011-646B-61B49345B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6929" y="12857622"/>
            <a:ext cx="6398175" cy="47874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73E823-3831-8075-1B75-9B4CCA5ECE89}"/>
              </a:ext>
            </a:extLst>
          </p:cNvPr>
          <p:cNvSpPr/>
          <p:nvPr/>
        </p:nvSpPr>
        <p:spPr>
          <a:xfrm>
            <a:off x="1010657" y="2491157"/>
            <a:ext cx="9874647" cy="19402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>
                <a:solidFill>
                  <a:schemeClr val="tx1"/>
                </a:solidFill>
                <a:latin typeface="Helvetica" pitchFamily="2" charset="0"/>
                <a:cs typeface="Futura Medium" panose="020B0602020204020303" pitchFamily="34" charset="-79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C7C54-8F5A-8F2C-4687-8248DCCCC100}"/>
              </a:ext>
            </a:extLst>
          </p:cNvPr>
          <p:cNvSpPr/>
          <p:nvPr/>
        </p:nvSpPr>
        <p:spPr>
          <a:xfrm>
            <a:off x="12047624" y="2491157"/>
            <a:ext cx="8609608" cy="19402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sz="5600" b="1" dirty="0">
                <a:solidFill>
                  <a:schemeClr val="tx1"/>
                </a:solidFill>
                <a:latin typeface="Helvetica" pitchFamily="2" charset="0"/>
                <a:cs typeface="Futura Medium" panose="020B0602020204020303" pitchFamily="34" charset="-79"/>
              </a:rPr>
              <a:t>Repetition Lag-CRP</a:t>
            </a:r>
          </a:p>
          <a:p>
            <a:pPr algn="ctr" defTabSz="457206">
              <a:defRPr/>
            </a:pPr>
            <a:r>
              <a:rPr lang="en-US" sz="2400" b="1" dirty="0">
                <a:solidFill>
                  <a:prstClr val="black"/>
                </a:solidFill>
                <a:latin typeface="Helvetica" pitchFamily="2" charset="0"/>
                <a:cs typeface="Futura" panose="020B0602020204020303" pitchFamily="34" charset="-79"/>
              </a:rPr>
              <a:t>A Bias Toward Neighbors of </a:t>
            </a:r>
            <a:r>
              <a:rPr lang="en-US" sz="2400" b="1" u="sng" dirty="0">
                <a:solidFill>
                  <a:prstClr val="black"/>
                </a:solidFill>
                <a:latin typeface="Helvetica" pitchFamily="2" charset="0"/>
                <a:cs typeface="Futura" panose="020B0602020204020303" pitchFamily="34" charset="-79"/>
              </a:rPr>
              <a:t>First</a:t>
            </a:r>
            <a:r>
              <a:rPr lang="en-US" sz="2400" b="1" dirty="0">
                <a:solidFill>
                  <a:prstClr val="black"/>
                </a:solidFill>
                <a:latin typeface="Helvetica" pitchFamily="2" charset="0"/>
                <a:cs typeface="Futura" panose="020B0602020204020303" pitchFamily="34" charset="-79"/>
              </a:rPr>
              <a:t> Presentation!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0F6E4D-194F-65E3-52F1-18A8F838461A}"/>
              </a:ext>
            </a:extLst>
          </p:cNvPr>
          <p:cNvSpPr/>
          <p:nvPr/>
        </p:nvSpPr>
        <p:spPr>
          <a:xfrm>
            <a:off x="21573565" y="2481823"/>
            <a:ext cx="8980549" cy="193825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>
                <a:solidFill>
                  <a:schemeClr val="tx1"/>
                </a:solidFill>
                <a:latin typeface="Helvetica" pitchFamily="2" charset="0"/>
                <a:cs typeface="Futura Medium" panose="020B0602020204020303" pitchFamily="34" charset="-79"/>
              </a:rPr>
              <a:t>But CMR Struggles to Capture the Effect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6896C6-0A67-4B90-5507-AD007FCEA0B1}"/>
              </a:ext>
            </a:extLst>
          </p:cNvPr>
          <p:cNvSpPr/>
          <p:nvPr/>
        </p:nvSpPr>
        <p:spPr>
          <a:xfrm>
            <a:off x="31482928" y="2471732"/>
            <a:ext cx="11205108" cy="19115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>
                <a:solidFill>
                  <a:schemeClr val="tx1"/>
                </a:solidFill>
                <a:latin typeface="Helvetica" pitchFamily="2" charset="0"/>
                <a:cs typeface="Futura Medium" panose="020B0602020204020303" pitchFamily="34" charset="-79"/>
              </a:rPr>
              <a:t>Interpreting CMR’s Challenge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EAA9E2-BCDC-A1A9-12C6-B7DC5358BC48}"/>
              </a:ext>
            </a:extLst>
          </p:cNvPr>
          <p:cNvSpPr/>
          <p:nvPr/>
        </p:nvSpPr>
        <p:spPr>
          <a:xfrm>
            <a:off x="2253251" y="4595298"/>
            <a:ext cx="7125195" cy="9084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Background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8270EF-53FE-B501-46AD-03640FD73C4E}"/>
              </a:ext>
            </a:extLst>
          </p:cNvPr>
          <p:cNvSpPr/>
          <p:nvPr/>
        </p:nvSpPr>
        <p:spPr>
          <a:xfrm>
            <a:off x="2135057" y="25240840"/>
            <a:ext cx="7125195" cy="9084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Datasets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94234A-59E4-461D-A21B-762484B36D43}"/>
              </a:ext>
            </a:extLst>
          </p:cNvPr>
          <p:cNvSpPr/>
          <p:nvPr/>
        </p:nvSpPr>
        <p:spPr>
          <a:xfrm>
            <a:off x="22547504" y="6288058"/>
            <a:ext cx="7125195" cy="908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CMR (Main Analysis)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60ED87-741A-97F8-BD34-929DF5DEEC58}"/>
              </a:ext>
            </a:extLst>
          </p:cNvPr>
          <p:cNvSpPr/>
          <p:nvPr/>
        </p:nvSpPr>
        <p:spPr>
          <a:xfrm>
            <a:off x="22577205" y="20426407"/>
            <a:ext cx="7125195" cy="122698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But Good Fits to Other Benchmarks!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F515DE-1C61-BD5A-39BB-8D3A213DE091}"/>
              </a:ext>
            </a:extLst>
          </p:cNvPr>
          <p:cNvSpPr/>
          <p:nvPr/>
        </p:nvSpPr>
        <p:spPr>
          <a:xfrm>
            <a:off x="30940119" y="16600239"/>
            <a:ext cx="11201770" cy="11584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Similar Challenge for Trace-Weighting Strategies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387F9C-DF47-FB6F-BDB5-A90510BEC0D8}"/>
              </a:ext>
            </a:extLst>
          </p:cNvPr>
          <p:cNvSpPr/>
          <p:nvPr/>
        </p:nvSpPr>
        <p:spPr>
          <a:xfrm>
            <a:off x="31155271" y="26413368"/>
            <a:ext cx="10711849" cy="9363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Discussion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4FF136-6A34-A6F4-3FC2-E9245C04445E}"/>
              </a:ext>
            </a:extLst>
          </p:cNvPr>
          <p:cNvSpPr txBox="1"/>
          <p:nvPr/>
        </p:nvSpPr>
        <p:spPr>
          <a:xfrm>
            <a:off x="0" y="52251"/>
            <a:ext cx="43891200" cy="2374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8229" b="1" dirty="0">
                <a:latin typeface="Helvetica" pitchFamily="2" charset="0"/>
                <a:cs typeface="Futura Medium" panose="020B0602020204020303" pitchFamily="34" charset="-79"/>
              </a:rPr>
              <a:t>Same item, different traces: Dissecting the structure of memory for repeated experience</a:t>
            </a:r>
          </a:p>
          <a:p>
            <a:pPr algn="ctr"/>
            <a:r>
              <a:rPr lang="en-US" sz="5600" b="1" dirty="0">
                <a:latin typeface="Helvetica" pitchFamily="2" charset="0"/>
                <a:cs typeface="Futura Medium" panose="020B0602020204020303" pitchFamily="34" charset="-79"/>
              </a:rPr>
              <a:t>Jordan Gunn, Sean Polyn, Department of Psychology, Vanderbilt University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E9FAC8-6DB9-9DDD-D2B4-C2CB8A6E615D}"/>
              </a:ext>
            </a:extLst>
          </p:cNvPr>
          <p:cNvGrpSpPr/>
          <p:nvPr/>
        </p:nvGrpSpPr>
        <p:grpSpPr>
          <a:xfrm>
            <a:off x="1862651" y="5289482"/>
            <a:ext cx="8265225" cy="2810125"/>
            <a:chOff x="-1" y="2459421"/>
            <a:chExt cx="9144000" cy="275896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E9AE34C-2E29-D609-363E-1EB8B9FE8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-1" y="3834007"/>
              <a:ext cx="9144000" cy="94129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D280C1-41C0-7305-AF43-DD08BF387DBC}"/>
                </a:ext>
              </a:extLst>
            </p:cNvPr>
            <p:cNvSpPr txBox="1"/>
            <p:nvPr/>
          </p:nvSpPr>
          <p:spPr>
            <a:xfrm>
              <a:off x="118394" y="3121930"/>
              <a:ext cx="6920753" cy="99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FF0000"/>
                  </a:solidFill>
                </a:rPr>
                <a:t>A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FFC000"/>
                  </a:solidFill>
                </a:rPr>
                <a:t>B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FF66FF"/>
                  </a:solidFill>
                </a:rPr>
                <a:t>C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92D050"/>
                  </a:solidFill>
                </a:rPr>
                <a:t>D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00B0F0"/>
                  </a:solidFill>
                </a:rPr>
                <a:t>E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7030A0"/>
                  </a:solidFill>
                </a:rPr>
                <a:t>F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chemeClr val="accent5">
                      <a:lumMod val="75000"/>
                    </a:schemeClr>
                  </a:solidFill>
                </a:rPr>
                <a:t>G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US" sz="6000" dirty="0"/>
                <a:t> I</a:t>
              </a:r>
              <a:endParaRPr lang="en-US" sz="6000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8" name="Thought Bubble: Cloud 9">
              <a:extLst>
                <a:ext uri="{FF2B5EF4-FFF2-40B4-BE49-F238E27FC236}">
                  <a16:creationId xmlns:a16="http://schemas.microsoft.com/office/drawing/2014/main" id="{C3BFC1D0-3A5C-43C4-487C-38C09A97E3EA}"/>
                </a:ext>
              </a:extLst>
            </p:cNvPr>
            <p:cNvSpPr/>
            <p:nvPr/>
          </p:nvSpPr>
          <p:spPr>
            <a:xfrm>
              <a:off x="7039147" y="2897753"/>
              <a:ext cx="1517783" cy="1062494"/>
            </a:xfrm>
            <a:prstGeom prst="cloudCallout">
              <a:avLst>
                <a:gd name="adj1" fmla="val -51715"/>
                <a:gd name="adj2" fmla="val -4583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D052AEE-C7E4-05B4-6F8F-14277424C4B0}"/>
                </a:ext>
              </a:extLst>
            </p:cNvPr>
            <p:cNvSpPr txBox="1"/>
            <p:nvPr/>
          </p:nvSpPr>
          <p:spPr>
            <a:xfrm>
              <a:off x="7118574" y="2960131"/>
              <a:ext cx="1532316" cy="7562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dirty="0">
                  <a:solidFill>
                    <a:srgbClr val="FF0000"/>
                  </a:solidFill>
                </a:rPr>
                <a:t>A</a:t>
              </a:r>
              <a:r>
                <a:rPr lang="en-US" sz="4400" dirty="0"/>
                <a:t>…</a:t>
              </a:r>
              <a:r>
                <a:rPr lang="en-US" sz="4400" dirty="0">
                  <a:solidFill>
                    <a:srgbClr val="FFC000"/>
                  </a:solidFill>
                </a:rPr>
                <a:t>B</a:t>
              </a:r>
            </a:p>
          </p:txBody>
        </p:sp>
        <p:sp>
          <p:nvSpPr>
            <p:cNvPr id="40" name="Arrow: Right 12">
              <a:extLst>
                <a:ext uri="{FF2B5EF4-FFF2-40B4-BE49-F238E27FC236}">
                  <a16:creationId xmlns:a16="http://schemas.microsoft.com/office/drawing/2014/main" id="{B8C67414-2E00-DDBA-0E6C-89B8EF1AC81C}"/>
                </a:ext>
              </a:extLst>
            </p:cNvPr>
            <p:cNvSpPr/>
            <p:nvPr/>
          </p:nvSpPr>
          <p:spPr>
            <a:xfrm rot="10800000">
              <a:off x="899082" y="2560639"/>
              <a:ext cx="6045919" cy="591207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23ABC7D-2B39-B47B-B947-A358B55FB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9172" y="2459421"/>
              <a:ext cx="0" cy="27589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7127DC5-D96A-0049-D835-91C82EB26076}"/>
                </a:ext>
              </a:extLst>
            </p:cNvPr>
            <p:cNvSpPr txBox="1"/>
            <p:nvPr/>
          </p:nvSpPr>
          <p:spPr>
            <a:xfrm>
              <a:off x="977463" y="4775301"/>
              <a:ext cx="1560785" cy="362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Study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B42780-4055-FA85-0231-B2E85AE5A48C}"/>
                </a:ext>
              </a:extLst>
            </p:cNvPr>
            <p:cNvSpPr txBox="1"/>
            <p:nvPr/>
          </p:nvSpPr>
          <p:spPr>
            <a:xfrm>
              <a:off x="6996145" y="4775301"/>
              <a:ext cx="1560785" cy="362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Free Recall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F69B835-3072-565B-8482-2D92B28BA528}"/>
                </a:ext>
              </a:extLst>
            </p:cNvPr>
            <p:cNvSpPr txBox="1"/>
            <p:nvPr/>
          </p:nvSpPr>
          <p:spPr>
            <a:xfrm>
              <a:off x="1199907" y="2671577"/>
              <a:ext cx="3214438" cy="634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Mental Time Travel To Item A</a:t>
              </a:r>
            </a:p>
          </p:txBody>
        </p:sp>
        <p:sp>
          <p:nvSpPr>
            <p:cNvPr id="45" name="Arrow: Right 20">
              <a:extLst>
                <a:ext uri="{FF2B5EF4-FFF2-40B4-BE49-F238E27FC236}">
                  <a16:creationId xmlns:a16="http://schemas.microsoft.com/office/drawing/2014/main" id="{92387AA5-1B3F-6CAF-EA33-F7269AB32777}"/>
                </a:ext>
              </a:extLst>
            </p:cNvPr>
            <p:cNvSpPr/>
            <p:nvPr/>
          </p:nvSpPr>
          <p:spPr>
            <a:xfrm>
              <a:off x="977463" y="2914169"/>
              <a:ext cx="628444" cy="591207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0CD2FE4-B318-A820-6BAD-FA9399953F0F}"/>
                </a:ext>
              </a:extLst>
            </p:cNvPr>
            <p:cNvSpPr/>
            <p:nvPr/>
          </p:nvSpPr>
          <p:spPr>
            <a:xfrm>
              <a:off x="935565" y="4201510"/>
              <a:ext cx="222442" cy="241619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04AC372-8C88-E10D-7F95-DBB76DD94814}"/>
                </a:ext>
              </a:extLst>
            </p:cNvPr>
            <p:cNvSpPr/>
            <p:nvPr/>
          </p:nvSpPr>
          <p:spPr>
            <a:xfrm>
              <a:off x="1429593" y="4204114"/>
              <a:ext cx="222442" cy="2416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1348C7D-9677-18CE-A365-97722B85881C}"/>
              </a:ext>
            </a:extLst>
          </p:cNvPr>
          <p:cNvSpPr txBox="1"/>
          <p:nvPr/>
        </p:nvSpPr>
        <p:spPr>
          <a:xfrm>
            <a:off x="1488409" y="8053226"/>
            <a:ext cx="969351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Retrieved context theory (RCT) conceives free recall as a sort of </a:t>
            </a:r>
            <a:r>
              <a:rPr lang="en-US" sz="2400" b="1" dirty="0">
                <a:latin typeface="Helvetica" pitchFamily="2" charset="0"/>
              </a:rPr>
              <a:t>mental time travel</a:t>
            </a:r>
            <a:r>
              <a:rPr lang="en-US" sz="2400" dirty="0">
                <a:latin typeface="Helvetica" pitchFamily="2" charset="0"/>
              </a:rPr>
              <a:t>, where people revisit past contexts to retrieve associated items (Tulving, 1972).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Each retrieval reactivates and reinstates the context of the retrieved item, biasing subsequent retrievals to nearby items in the study list.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But RCT is most fundamentally reflected in </a:t>
            </a:r>
            <a:r>
              <a:rPr lang="en-US" sz="2400" b="1" dirty="0">
                <a:latin typeface="Helvetica" pitchFamily="2" charset="0"/>
              </a:rPr>
              <a:t>lag-contiguity effect</a:t>
            </a:r>
            <a:r>
              <a:rPr lang="en-US" sz="2400" dirty="0">
                <a:latin typeface="Helvetica" pitchFamily="2" charset="0"/>
              </a:rPr>
              <a:t>, where items studied close together are more likely to be recalled together (Howard &amp; Kahana, 2002).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5D91A99-5E71-1A92-EFBC-D64D6132E8EB}"/>
              </a:ext>
            </a:extLst>
          </p:cNvPr>
          <p:cNvGrpSpPr/>
          <p:nvPr/>
        </p:nvGrpSpPr>
        <p:grpSpPr>
          <a:xfrm>
            <a:off x="2414439" y="18261383"/>
            <a:ext cx="7403611" cy="3570863"/>
            <a:chOff x="1155683" y="1929263"/>
            <a:chExt cx="7107600" cy="3370453"/>
          </a:xfrm>
        </p:grpSpPr>
        <p:sp>
          <p:nvSpPr>
            <p:cNvPr id="50" name="Rectangle: Rounded Corners 6">
              <a:extLst>
                <a:ext uri="{FF2B5EF4-FFF2-40B4-BE49-F238E27FC236}">
                  <a16:creationId xmlns:a16="http://schemas.microsoft.com/office/drawing/2014/main" id="{774D12DA-9521-F9BC-5717-F1189EC0F8C0}"/>
                </a:ext>
              </a:extLst>
            </p:cNvPr>
            <p:cNvSpPr/>
            <p:nvPr/>
          </p:nvSpPr>
          <p:spPr>
            <a:xfrm>
              <a:off x="1254365" y="3097478"/>
              <a:ext cx="2188490" cy="74632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Helvetica" pitchFamily="2" charset="0"/>
                </a:rPr>
                <a:t>CONTEXT</a:t>
              </a:r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 (</a:t>
              </a:r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C</a:t>
              </a:r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)</a:t>
              </a:r>
            </a:p>
          </p:txBody>
        </p:sp>
        <p:sp>
          <p:nvSpPr>
            <p:cNvPr id="51" name="Rectangle: Rounded Corners 7">
              <a:extLst>
                <a:ext uri="{FF2B5EF4-FFF2-40B4-BE49-F238E27FC236}">
                  <a16:creationId xmlns:a16="http://schemas.microsoft.com/office/drawing/2014/main" id="{923B5815-0ADF-47CD-F764-9C06C80B72E0}"/>
                </a:ext>
              </a:extLst>
            </p:cNvPr>
            <p:cNvSpPr/>
            <p:nvPr/>
          </p:nvSpPr>
          <p:spPr>
            <a:xfrm>
              <a:off x="5641155" y="3086376"/>
              <a:ext cx="2188490" cy="85747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Helvetica" pitchFamily="2" charset="0"/>
                </a:rPr>
                <a:t>ITEM </a:t>
              </a:r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(</a:t>
              </a:r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F)</a:t>
              </a:r>
              <a:endParaRPr lang="en-US" sz="2400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52" name="Rectangle: Rounded Corners 8">
              <a:extLst>
                <a:ext uri="{FF2B5EF4-FFF2-40B4-BE49-F238E27FC236}">
                  <a16:creationId xmlns:a16="http://schemas.microsoft.com/office/drawing/2014/main" id="{6861CFF9-30AF-AC35-BD88-797D84428AD8}"/>
                </a:ext>
              </a:extLst>
            </p:cNvPr>
            <p:cNvSpPr/>
            <p:nvPr/>
          </p:nvSpPr>
          <p:spPr>
            <a:xfrm>
              <a:off x="3601982" y="3799979"/>
              <a:ext cx="1940036" cy="1499737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MEMORY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(Context to Item)</a:t>
              </a:r>
            </a:p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M</a:t>
              </a:r>
              <a:r>
                <a:rPr lang="en-US" sz="2400" i="1" baseline="30000" dirty="0">
                  <a:solidFill>
                    <a:schemeClr val="tx1"/>
                  </a:solidFill>
                  <a:latin typeface="Helvetica" pitchFamily="2" charset="0"/>
                </a:rPr>
                <a:t>CF</a:t>
              </a:r>
            </a:p>
          </p:txBody>
        </p:sp>
        <p:sp>
          <p:nvSpPr>
            <p:cNvPr id="53" name="Rectangle: Rounded Corners 9">
              <a:extLst>
                <a:ext uri="{FF2B5EF4-FFF2-40B4-BE49-F238E27FC236}">
                  <a16:creationId xmlns:a16="http://schemas.microsoft.com/office/drawing/2014/main" id="{38423E03-858F-D006-40EC-82C52910281C}"/>
                </a:ext>
              </a:extLst>
            </p:cNvPr>
            <p:cNvSpPr/>
            <p:nvPr/>
          </p:nvSpPr>
          <p:spPr>
            <a:xfrm>
              <a:off x="3601982" y="1929263"/>
              <a:ext cx="1940036" cy="1499737"/>
            </a:xfrm>
            <a:prstGeom prst="round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MEMORY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(Item to Context)</a:t>
              </a:r>
            </a:p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M</a:t>
              </a:r>
              <a:r>
                <a:rPr lang="en-US" sz="2400" i="1" baseline="30000" dirty="0">
                  <a:solidFill>
                    <a:schemeClr val="tx1"/>
                  </a:solidFill>
                  <a:latin typeface="Helvetica" pitchFamily="2" charset="0"/>
                </a:rPr>
                <a:t>FC</a:t>
              </a:r>
              <a:endParaRPr lang="en-US" sz="2400" i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54" name="Arrow: Bent 10">
              <a:extLst>
                <a:ext uri="{FF2B5EF4-FFF2-40B4-BE49-F238E27FC236}">
                  <a16:creationId xmlns:a16="http://schemas.microsoft.com/office/drawing/2014/main" id="{0BE8DEF1-30A4-1DE1-CA2A-15FDBB24999E}"/>
                </a:ext>
              </a:extLst>
            </p:cNvPr>
            <p:cNvSpPr/>
            <p:nvPr/>
          </p:nvSpPr>
          <p:spPr>
            <a:xfrm flipH="1">
              <a:off x="5800435" y="1988411"/>
              <a:ext cx="1244509" cy="857476"/>
            </a:xfrm>
            <a:prstGeom prst="bentArrow">
              <a:avLst>
                <a:gd name="adj1" fmla="val 25000"/>
                <a:gd name="adj2" fmla="val 50000"/>
                <a:gd name="adj3" fmla="val 25000"/>
                <a:gd name="adj4" fmla="val 4375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55" name="Arrow: Bent 11">
              <a:extLst>
                <a:ext uri="{FF2B5EF4-FFF2-40B4-BE49-F238E27FC236}">
                  <a16:creationId xmlns:a16="http://schemas.microsoft.com/office/drawing/2014/main" id="{67B21A1D-D9D6-B7DF-D081-822CAA988AE0}"/>
                </a:ext>
              </a:extLst>
            </p:cNvPr>
            <p:cNvSpPr/>
            <p:nvPr/>
          </p:nvSpPr>
          <p:spPr>
            <a:xfrm flipV="1">
              <a:off x="2145147" y="4058196"/>
              <a:ext cx="1297708" cy="816383"/>
            </a:xfrm>
            <a:prstGeom prst="bentArrow">
              <a:avLst>
                <a:gd name="adj1" fmla="val 25000"/>
                <a:gd name="adj2" fmla="val 41834"/>
                <a:gd name="adj3" fmla="val 24093"/>
                <a:gd name="adj4" fmla="val 4375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9A90625-4386-08BA-2509-374B05895FD4}"/>
                </a:ext>
              </a:extLst>
            </p:cNvPr>
            <p:cNvSpPr txBox="1"/>
            <p:nvPr/>
          </p:nvSpPr>
          <p:spPr>
            <a:xfrm>
              <a:off x="1155683" y="4157668"/>
              <a:ext cx="1614056" cy="784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Helvetica" pitchFamily="2" charset="0"/>
                </a:rPr>
                <a:t>Guide Search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D36AA81-1311-6B47-FBF7-2916A8003658}"/>
                </a:ext>
              </a:extLst>
            </p:cNvPr>
            <p:cNvSpPr txBox="1"/>
            <p:nvPr/>
          </p:nvSpPr>
          <p:spPr>
            <a:xfrm>
              <a:off x="7044943" y="1972877"/>
              <a:ext cx="1218340" cy="784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Helvetica" pitchFamily="2" charset="0"/>
                </a:rPr>
                <a:t>Update Context</a:t>
              </a:r>
            </a:p>
          </p:txBody>
        </p:sp>
        <p:sp>
          <p:nvSpPr>
            <p:cNvPr id="58" name="Arrow: Bent 14">
              <a:extLst>
                <a:ext uri="{FF2B5EF4-FFF2-40B4-BE49-F238E27FC236}">
                  <a16:creationId xmlns:a16="http://schemas.microsoft.com/office/drawing/2014/main" id="{D8C5406D-3575-DECC-B516-234208E70282}"/>
                </a:ext>
              </a:extLst>
            </p:cNvPr>
            <p:cNvSpPr/>
            <p:nvPr/>
          </p:nvSpPr>
          <p:spPr>
            <a:xfrm rot="16200000" flipH="1">
              <a:off x="2215620" y="1838168"/>
              <a:ext cx="902373" cy="1552100"/>
            </a:xfrm>
            <a:prstGeom prst="bentArrow">
              <a:avLst>
                <a:gd name="adj1" fmla="val 25000"/>
                <a:gd name="adj2" fmla="val 50000"/>
                <a:gd name="adj3" fmla="val 25000"/>
                <a:gd name="adj4" fmla="val 4375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59" name="Arrow: Bent 15">
              <a:extLst>
                <a:ext uri="{FF2B5EF4-FFF2-40B4-BE49-F238E27FC236}">
                  <a16:creationId xmlns:a16="http://schemas.microsoft.com/office/drawing/2014/main" id="{D5B6010A-068D-B3A2-9569-BEFFF7185AA4}"/>
                </a:ext>
              </a:extLst>
            </p:cNvPr>
            <p:cNvSpPr/>
            <p:nvPr/>
          </p:nvSpPr>
          <p:spPr>
            <a:xfrm rot="16200000" flipV="1">
              <a:off x="6221792" y="3579099"/>
              <a:ext cx="485013" cy="1526309"/>
            </a:xfrm>
            <a:prstGeom prst="bentArrow">
              <a:avLst>
                <a:gd name="adj1" fmla="val 42851"/>
                <a:gd name="adj2" fmla="val 50000"/>
                <a:gd name="adj3" fmla="val 17383"/>
                <a:gd name="adj4" fmla="val 4375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Helvetica" pitchFamily="2" charset="0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C938661-2190-2C6E-E5EF-D1AD7C0AC87F}"/>
              </a:ext>
            </a:extLst>
          </p:cNvPr>
          <p:cNvSpPr txBox="1"/>
          <p:nvPr/>
        </p:nvSpPr>
        <p:spPr>
          <a:xfrm>
            <a:off x="1488409" y="26261509"/>
            <a:ext cx="969351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For main analyses, used data from </a:t>
            </a:r>
            <a:r>
              <a:rPr lang="en-US" sz="2400" b="1" dirty="0">
                <a:latin typeface="Helvetica" pitchFamily="2" charset="0"/>
              </a:rPr>
              <a:t>Lohnas &amp; Kahana (2016).</a:t>
            </a:r>
            <a:r>
              <a:rPr lang="en-US" sz="2400" dirty="0">
                <a:latin typeface="Helvetica" pitchFamily="2" charset="0"/>
              </a:rPr>
              <a:t>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35 participants performed delayed free recall of 48 lists presenting 40 words each, with three relevant conditions: </a:t>
            </a:r>
          </a:p>
          <a:p>
            <a:pPr marL="342905" indent="-342905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Control</a:t>
            </a:r>
            <a:r>
              <a:rPr lang="en-US" sz="2400" dirty="0">
                <a:latin typeface="Helvetica" pitchFamily="2" charset="0"/>
              </a:rPr>
              <a:t>: No item repetitions</a:t>
            </a:r>
          </a:p>
          <a:p>
            <a:pPr marL="342905" indent="-342905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Spaced</a:t>
            </a:r>
            <a:r>
              <a:rPr lang="en-US" sz="2400" dirty="0">
                <a:latin typeface="Helvetica" pitchFamily="2" charset="0"/>
              </a:rPr>
              <a:t>: 20 Items repeated with 1-8 intervening items</a:t>
            </a:r>
          </a:p>
          <a:p>
            <a:pPr marL="342905" indent="-342905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Mixed</a:t>
            </a:r>
            <a:r>
              <a:rPr lang="en-US" sz="2400" dirty="0">
                <a:latin typeface="Helvetica" pitchFamily="2" charset="0"/>
              </a:rPr>
              <a:t>: 28 items presented once; 6 items presented </a:t>
            </a:r>
            <a:r>
              <a:rPr lang="en-US" sz="2400" u="sng" dirty="0">
                <a:latin typeface="Helvetica" pitchFamily="2" charset="0"/>
              </a:rPr>
              <a:t>twice</a:t>
            </a:r>
            <a:r>
              <a:rPr lang="en-US" sz="2400" dirty="0">
                <a:latin typeface="Helvetica" pitchFamily="2" charset="0"/>
              </a:rPr>
              <a:t> with 0-8 intervening items</a:t>
            </a:r>
          </a:p>
          <a:p>
            <a:endParaRPr lang="en-US" sz="2400" dirty="0">
              <a:latin typeface="Helvetica" pitchFamily="2" charset="0"/>
            </a:endParaRP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For replication, we used data from </a:t>
            </a:r>
            <a:r>
              <a:rPr lang="en-US" sz="2400" b="1" dirty="0">
                <a:latin typeface="Helvetica" pitchFamily="2" charset="0"/>
              </a:rPr>
              <a:t>Howard and Kahana (2005)</a:t>
            </a:r>
            <a:r>
              <a:rPr lang="en-US" sz="2400" dirty="0">
                <a:latin typeface="Helvetica" pitchFamily="2" charset="0"/>
              </a:rPr>
              <a:t>.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 Neue" panose="02000503000000020004" pitchFamily="2" charset="0"/>
              </a:rPr>
              <a:t>66 participants performed delayed free recall of 15 lists presenting 90 words each. Each item presented </a:t>
            </a:r>
            <a:r>
              <a:rPr lang="en-US" sz="2400" u="sng" dirty="0">
                <a:latin typeface="Helvetica Neue" panose="02000503000000020004" pitchFamily="2" charset="0"/>
              </a:rPr>
              <a:t>three times</a:t>
            </a:r>
            <a:r>
              <a:rPr lang="en-US" sz="2400" dirty="0">
                <a:latin typeface="Helvetica Neue" panose="02000503000000020004" pitchFamily="2" charset="0"/>
              </a:rPr>
              <a:t> per trial in two relevant conditions:</a:t>
            </a:r>
          </a:p>
          <a:p>
            <a:pPr marL="342905" indent="-342905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 Neue" panose="02000503000000020004" pitchFamily="2" charset="0"/>
              </a:rPr>
              <a:t>Short spacing</a:t>
            </a:r>
            <a:r>
              <a:rPr lang="en-US" sz="2400" dirty="0">
                <a:latin typeface="Helvetica Neue" panose="02000503000000020004" pitchFamily="2" charset="0"/>
              </a:rPr>
              <a:t>: Two to six intervening items</a:t>
            </a:r>
          </a:p>
          <a:p>
            <a:pPr marL="342905" indent="-342905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 Neue" panose="02000503000000020004" pitchFamily="2" charset="0"/>
              </a:rPr>
              <a:t>Long spacing: </a:t>
            </a:r>
            <a:r>
              <a:rPr lang="en-US" sz="2400" dirty="0">
                <a:latin typeface="Helvetica Neue" panose="02000503000000020004" pitchFamily="2" charset="0"/>
              </a:rPr>
              <a:t>six to twenty intervening items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C7986F-8493-65BD-F431-7D0682811BA3}"/>
              </a:ext>
            </a:extLst>
          </p:cNvPr>
          <p:cNvSpPr txBox="1"/>
          <p:nvPr/>
        </p:nvSpPr>
        <p:spPr>
          <a:xfrm>
            <a:off x="11862071" y="10385573"/>
            <a:ext cx="899801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For recalls for repeated items with spacing &gt;= 4, track </a:t>
            </a:r>
            <a:r>
              <a:rPr lang="en-US" sz="2400" b="1" dirty="0">
                <a:latin typeface="Helvetica" pitchFamily="2" charset="0"/>
              </a:rPr>
              <a:t>relative</a:t>
            </a:r>
            <a:r>
              <a:rPr lang="en-US" sz="2400" dirty="0">
                <a:latin typeface="Helvetica" pitchFamily="2" charset="0"/>
              </a:rPr>
              <a:t> to their </a:t>
            </a:r>
            <a:r>
              <a:rPr lang="en-US" sz="2400" b="1" dirty="0">
                <a:latin typeface="Helvetica" pitchFamily="2" charset="0"/>
              </a:rPr>
              <a:t>first</a:t>
            </a:r>
            <a:r>
              <a:rPr lang="en-US" sz="2400" dirty="0">
                <a:latin typeface="Helvetica" pitchFamily="2" charset="0"/>
              </a:rPr>
              <a:t> and </a:t>
            </a:r>
            <a:r>
              <a:rPr lang="en-US" sz="2400" b="1" dirty="0">
                <a:latin typeface="Helvetica" pitchFamily="2" charset="0"/>
              </a:rPr>
              <a:t>second</a:t>
            </a:r>
            <a:r>
              <a:rPr lang="en-US" sz="2400" dirty="0">
                <a:latin typeface="Helvetica" pitchFamily="2" charset="0"/>
              </a:rPr>
              <a:t> study positions:</a:t>
            </a:r>
          </a:p>
          <a:p>
            <a:pPr algn="ctr"/>
            <a:r>
              <a:rPr lang="en-US" sz="2400" dirty="0">
                <a:latin typeface="Helvetica" pitchFamily="2" charset="0"/>
              </a:rPr>
              <a:t>1. For lags [-3, -2, -1, 1, 2, 3] if transition with lag is </a:t>
            </a:r>
            <a:r>
              <a:rPr lang="en-US" sz="2400" u="sng" dirty="0">
                <a:latin typeface="Helvetica" pitchFamily="2" charset="0"/>
              </a:rPr>
              <a:t>possible</a:t>
            </a:r>
          </a:p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2. For lags [-3, -2, -1, 1, 2, 3] if transition with lag </a:t>
            </a:r>
            <a:r>
              <a:rPr lang="en-US" sz="2400" u="sng" dirty="0">
                <a:latin typeface="Helvetica" pitchFamily="2" charset="0"/>
              </a:rPr>
              <a:t>happened</a:t>
            </a:r>
          </a:p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Actual Count / Possible Count = Recall Probability by Lag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33919D-C52E-AC80-F460-10F7A91F8C84}"/>
              </a:ext>
            </a:extLst>
          </p:cNvPr>
          <p:cNvSpPr txBox="1"/>
          <p:nvPr/>
        </p:nvSpPr>
        <p:spPr>
          <a:xfrm>
            <a:off x="1427449" y="21975057"/>
            <a:ext cx="94578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pitchFamily="2" charset="0"/>
              </a:rPr>
              <a:t>Extends mental time travel account of memory search to explain </a:t>
            </a:r>
          </a:p>
          <a:p>
            <a:pPr marL="457206" indent="-457206" algn="ctr">
              <a:buAutoNum type="arabicParenR"/>
            </a:pPr>
            <a:r>
              <a:rPr lang="en-US" sz="2400" b="1" dirty="0">
                <a:latin typeface="Helvetica" pitchFamily="2" charset="0"/>
              </a:rPr>
              <a:t>what temporal context is</a:t>
            </a:r>
            <a:r>
              <a:rPr lang="en-US" sz="2400" dirty="0">
                <a:latin typeface="Helvetica" pitchFamily="2" charset="0"/>
              </a:rPr>
              <a:t> and </a:t>
            </a:r>
          </a:p>
          <a:p>
            <a:pPr marL="457206" indent="-457206" algn="ctr">
              <a:buAutoNum type="arabicParenR"/>
            </a:pPr>
            <a:r>
              <a:rPr lang="en-US" sz="2400" b="1" dirty="0">
                <a:latin typeface="Helvetica" pitchFamily="2" charset="0"/>
              </a:rPr>
              <a:t>how temporal context evolves</a:t>
            </a:r>
            <a:r>
              <a:rPr lang="en-US" sz="2400" dirty="0">
                <a:latin typeface="Helvetica" pitchFamily="2" charset="0"/>
              </a:rPr>
              <a:t>.</a:t>
            </a:r>
          </a:p>
          <a:p>
            <a:pPr algn="ctr"/>
            <a:endParaRPr lang="en-US" sz="2400" dirty="0">
              <a:latin typeface="Helvetica" pitchFamily="2" charset="0"/>
            </a:endParaRPr>
          </a:p>
          <a:p>
            <a:pPr algn="ctr"/>
            <a:r>
              <a:rPr lang="en-US" sz="2400" dirty="0">
                <a:latin typeface="Helvetica" pitchFamily="2" charset="0"/>
              </a:rPr>
              <a:t>Temporal context derives its state from the </a:t>
            </a:r>
            <a:r>
              <a:rPr lang="en-US" sz="2400" b="1" dirty="0">
                <a:latin typeface="Helvetica" pitchFamily="2" charset="0"/>
              </a:rPr>
              <a:t>reactivation</a:t>
            </a:r>
            <a:r>
              <a:rPr lang="en-US" sz="2400" dirty="0">
                <a:latin typeface="Helvetica" pitchFamily="2" charset="0"/>
              </a:rPr>
              <a:t> and </a:t>
            </a:r>
            <a:r>
              <a:rPr lang="en-US" sz="2400" b="1" dirty="0">
                <a:latin typeface="Helvetica" pitchFamily="2" charset="0"/>
              </a:rPr>
              <a:t>partial reinstatement </a:t>
            </a:r>
            <a:r>
              <a:rPr lang="en-US" sz="2400" dirty="0">
                <a:latin typeface="Helvetica" pitchFamily="2" charset="0"/>
              </a:rPr>
              <a:t>of the </a:t>
            </a:r>
            <a:r>
              <a:rPr lang="en-US" sz="2400" b="1" dirty="0">
                <a:latin typeface="Helvetica" pitchFamily="2" charset="0"/>
              </a:rPr>
              <a:t>temporal context already associated in memory with the current item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48B0AA6-1322-2C5F-61A9-4B5810482624}"/>
              </a:ext>
            </a:extLst>
          </p:cNvPr>
          <p:cNvSpPr/>
          <p:nvPr/>
        </p:nvSpPr>
        <p:spPr>
          <a:xfrm>
            <a:off x="1488409" y="16780770"/>
            <a:ext cx="8265225" cy="12185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Context Maintenance and Retrieval Model (CMR; Polyn &amp; Kahana, 2009)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85EC555-F502-F112-213B-B24ED8A4D2CA}"/>
              </a:ext>
            </a:extLst>
          </p:cNvPr>
          <p:cNvCxnSpPr>
            <a:cxnSpLocks/>
          </p:cNvCxnSpPr>
          <p:nvPr/>
        </p:nvCxnSpPr>
        <p:spPr>
          <a:xfrm>
            <a:off x="1427448" y="29577115"/>
            <a:ext cx="76634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F8B9FA8-5089-9562-4641-8B0E6E9D845B}"/>
              </a:ext>
            </a:extLst>
          </p:cNvPr>
          <p:cNvSpPr/>
          <p:nvPr/>
        </p:nvSpPr>
        <p:spPr>
          <a:xfrm>
            <a:off x="1427449" y="11963923"/>
            <a:ext cx="8158206" cy="1883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But How Does Mental Time Travel Work for Items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With Multiple Study Contexts?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518FC79B-DCD1-9530-069B-27AF7A1110A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47569" y="15331856"/>
            <a:ext cx="9370139" cy="964573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FEB022D4-F4C5-9B65-1795-F4D45C52E9FA}"/>
              </a:ext>
            </a:extLst>
          </p:cNvPr>
          <p:cNvGrpSpPr/>
          <p:nvPr/>
        </p:nvGrpSpPr>
        <p:grpSpPr>
          <a:xfrm>
            <a:off x="2271607" y="13990170"/>
            <a:ext cx="8854328" cy="2685212"/>
            <a:chOff x="221738" y="2459421"/>
            <a:chExt cx="8854328" cy="268521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B211A97-A42D-94C2-0F44-A6C2DA5B6762}"/>
                </a:ext>
              </a:extLst>
            </p:cNvPr>
            <p:cNvSpPr txBox="1"/>
            <p:nvPr/>
          </p:nvSpPr>
          <p:spPr>
            <a:xfrm>
              <a:off x="221738" y="3033083"/>
              <a:ext cx="69207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FF0000"/>
                  </a:solidFill>
                </a:rPr>
                <a:t>A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FFC000"/>
                  </a:solidFill>
                </a:rPr>
                <a:t>B</a:t>
              </a:r>
              <a:r>
                <a:rPr lang="en-US" sz="6000" dirty="0"/>
                <a:t> </a:t>
              </a:r>
              <a:r>
                <a:rPr lang="en-US" sz="7200" b="1" dirty="0">
                  <a:solidFill>
                    <a:srgbClr val="FF66FF"/>
                  </a:solidFill>
                </a:rPr>
                <a:t>C</a:t>
              </a:r>
              <a:r>
                <a:rPr lang="en-US" sz="6000" dirty="0"/>
                <a:t> </a:t>
              </a:r>
              <a:r>
                <a:rPr lang="en-US" sz="6200" dirty="0">
                  <a:solidFill>
                    <a:srgbClr val="92D050"/>
                  </a:solidFill>
                </a:rPr>
                <a:t>D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00B0F0"/>
                  </a:solidFill>
                </a:rPr>
                <a:t>E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7030A0"/>
                  </a:solidFill>
                </a:rPr>
                <a:t>F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chemeClr val="accent5">
                      <a:lumMod val="75000"/>
                    </a:schemeClr>
                  </a:solidFill>
                </a:rPr>
                <a:t>G</a:t>
              </a:r>
              <a:r>
                <a:rPr lang="en-US" sz="6000" dirty="0"/>
                <a:t> </a:t>
              </a:r>
              <a:r>
                <a:rPr lang="en-US" sz="7200" b="1" dirty="0">
                  <a:solidFill>
                    <a:srgbClr val="FF66FF"/>
                  </a:solidFill>
                </a:rPr>
                <a:t>C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US" sz="6000" dirty="0"/>
                <a:t> I </a:t>
              </a:r>
              <a:endParaRPr lang="en-US" sz="6000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4" name="Thought Bubble: Cloud 9">
              <a:extLst>
                <a:ext uri="{FF2B5EF4-FFF2-40B4-BE49-F238E27FC236}">
                  <a16:creationId xmlns:a16="http://schemas.microsoft.com/office/drawing/2014/main" id="{175DFCCD-4C3D-085C-9753-8B2E64A70819}"/>
                </a:ext>
              </a:extLst>
            </p:cNvPr>
            <p:cNvSpPr/>
            <p:nvPr/>
          </p:nvSpPr>
          <p:spPr>
            <a:xfrm>
              <a:off x="7039147" y="2897753"/>
              <a:ext cx="1517783" cy="1062494"/>
            </a:xfrm>
            <a:prstGeom prst="cloudCallout">
              <a:avLst>
                <a:gd name="adj1" fmla="val -51715"/>
                <a:gd name="adj2" fmla="val -4583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18934FB-B1E2-4C33-3C7A-7FF5BFA95842}"/>
                </a:ext>
              </a:extLst>
            </p:cNvPr>
            <p:cNvSpPr txBox="1"/>
            <p:nvPr/>
          </p:nvSpPr>
          <p:spPr>
            <a:xfrm>
              <a:off x="7183885" y="3025445"/>
              <a:ext cx="1892181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rgbClr val="FF66FF"/>
                  </a:solidFill>
                </a:rPr>
                <a:t>C</a:t>
              </a:r>
              <a:r>
                <a:rPr lang="en-US" sz="4400" b="1" dirty="0"/>
                <a:t>…?</a:t>
              </a:r>
              <a:endParaRPr lang="en-US" sz="4400" dirty="0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FB678E4-244B-D828-46CC-7A8976328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9172" y="2459421"/>
              <a:ext cx="0" cy="26852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4B22C35-C812-9B09-82A3-81CFBA7C01CE}"/>
                </a:ext>
              </a:extLst>
            </p:cNvPr>
            <p:cNvSpPr txBox="1"/>
            <p:nvPr/>
          </p:nvSpPr>
          <p:spPr>
            <a:xfrm>
              <a:off x="977463" y="4775301"/>
              <a:ext cx="15607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Study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83F3A8F-F930-DAFD-E27E-0B39159D252A}"/>
                </a:ext>
              </a:extLst>
            </p:cNvPr>
            <p:cNvSpPr txBox="1"/>
            <p:nvPr/>
          </p:nvSpPr>
          <p:spPr>
            <a:xfrm>
              <a:off x="6996145" y="4775301"/>
              <a:ext cx="15607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Free Recall</a:t>
              </a:r>
            </a:p>
          </p:txBody>
        </p:sp>
      </p:grpSp>
      <p:sp>
        <p:nvSpPr>
          <p:cNvPr id="79" name="Arrow: Curved Up 3">
            <a:extLst>
              <a:ext uri="{FF2B5EF4-FFF2-40B4-BE49-F238E27FC236}">
                <a16:creationId xmlns:a16="http://schemas.microsoft.com/office/drawing/2014/main" id="{47EB1BFB-73E5-3C8E-1C68-5D9C7B6AF88E}"/>
              </a:ext>
            </a:extLst>
          </p:cNvPr>
          <p:cNvSpPr/>
          <p:nvPr/>
        </p:nvSpPr>
        <p:spPr>
          <a:xfrm rot="10800000">
            <a:off x="4296285" y="14111084"/>
            <a:ext cx="4749727" cy="553466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0" name="Arrow: Curved Up 4">
            <a:extLst>
              <a:ext uri="{FF2B5EF4-FFF2-40B4-BE49-F238E27FC236}">
                <a16:creationId xmlns:a16="http://schemas.microsoft.com/office/drawing/2014/main" id="{C24385A5-CC6E-12C3-6BCF-A5EA677D729D}"/>
              </a:ext>
            </a:extLst>
          </p:cNvPr>
          <p:cNvSpPr/>
          <p:nvPr/>
        </p:nvSpPr>
        <p:spPr>
          <a:xfrm rot="10800000">
            <a:off x="7087508" y="14102691"/>
            <a:ext cx="1948864" cy="598989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AB1790-D271-C162-AE20-9E598362992C}"/>
              </a:ext>
            </a:extLst>
          </p:cNvPr>
          <p:cNvSpPr txBox="1"/>
          <p:nvPr/>
        </p:nvSpPr>
        <p:spPr>
          <a:xfrm>
            <a:off x="6885013" y="14306888"/>
            <a:ext cx="472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?</a:t>
            </a:r>
          </a:p>
        </p:txBody>
      </p:sp>
      <p:sp>
        <p:nvSpPr>
          <p:cNvPr id="82" name="Arrow: Right 11">
            <a:extLst>
              <a:ext uri="{FF2B5EF4-FFF2-40B4-BE49-F238E27FC236}">
                <a16:creationId xmlns:a16="http://schemas.microsoft.com/office/drawing/2014/main" id="{B9A7751D-25CD-4A09-9984-AA218ACA5103}"/>
              </a:ext>
            </a:extLst>
          </p:cNvPr>
          <p:cNvSpPr/>
          <p:nvPr/>
        </p:nvSpPr>
        <p:spPr>
          <a:xfrm>
            <a:off x="3964926" y="15521252"/>
            <a:ext cx="770081" cy="591207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Arrow: Right 13">
            <a:extLst>
              <a:ext uri="{FF2B5EF4-FFF2-40B4-BE49-F238E27FC236}">
                <a16:creationId xmlns:a16="http://schemas.microsoft.com/office/drawing/2014/main" id="{B08DBAAE-A40E-B368-FBDD-3B91F94CF9E8}"/>
              </a:ext>
            </a:extLst>
          </p:cNvPr>
          <p:cNvSpPr/>
          <p:nvPr/>
        </p:nvSpPr>
        <p:spPr>
          <a:xfrm>
            <a:off x="7357710" y="15510999"/>
            <a:ext cx="704229" cy="577862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B50B16-38B9-D9C5-09F7-BF696B3CC410}"/>
              </a:ext>
            </a:extLst>
          </p:cNvPr>
          <p:cNvSpPr txBox="1"/>
          <p:nvPr/>
        </p:nvSpPr>
        <p:spPr>
          <a:xfrm>
            <a:off x="4129625" y="15619837"/>
            <a:ext cx="472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?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E0F267-67E5-8410-75CD-25683CA4E309}"/>
              </a:ext>
            </a:extLst>
          </p:cNvPr>
          <p:cNvSpPr txBox="1"/>
          <p:nvPr/>
        </p:nvSpPr>
        <p:spPr>
          <a:xfrm>
            <a:off x="3823588" y="14266232"/>
            <a:ext cx="472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?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3FF7DF-0FD6-1520-9775-AAB92F5EF40B}"/>
              </a:ext>
            </a:extLst>
          </p:cNvPr>
          <p:cNvSpPr txBox="1"/>
          <p:nvPr/>
        </p:nvSpPr>
        <p:spPr>
          <a:xfrm>
            <a:off x="7620678" y="15612891"/>
            <a:ext cx="472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?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F533A1-F3F2-ABD3-81B4-D7DEE5DE45AB}"/>
              </a:ext>
            </a:extLst>
          </p:cNvPr>
          <p:cNvSpPr txBox="1"/>
          <p:nvPr/>
        </p:nvSpPr>
        <p:spPr>
          <a:xfrm>
            <a:off x="11861543" y="14108605"/>
            <a:ext cx="8795688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To measure the </a:t>
            </a:r>
            <a:r>
              <a:rPr lang="en-US" sz="2400" b="1" dirty="0">
                <a:latin typeface="Helvetica" pitchFamily="2" charset="0"/>
              </a:rPr>
              <a:t>proportion of transitions expected in the absence of repeated items</a:t>
            </a:r>
            <a:r>
              <a:rPr lang="en-US" sz="2400" dirty="0">
                <a:latin typeface="Helvetica" pitchFamily="2" charset="0"/>
              </a:rPr>
              <a:t>, we match the serial positions used in the </a:t>
            </a:r>
            <a:r>
              <a:rPr lang="en-US" sz="2400" b="1" dirty="0">
                <a:latin typeface="Helvetica" pitchFamily="2" charset="0"/>
              </a:rPr>
              <a:t>mixed lists</a:t>
            </a:r>
            <a:r>
              <a:rPr lang="en-US" sz="2400" dirty="0">
                <a:latin typeface="Helvetica" pitchFamily="2" charset="0"/>
              </a:rPr>
              <a:t> to corresponding items in the </a:t>
            </a:r>
            <a:r>
              <a:rPr lang="en-US" sz="2400" b="1" dirty="0">
                <a:latin typeface="Helvetica" pitchFamily="2" charset="0"/>
              </a:rPr>
              <a:t>control lists, </a:t>
            </a:r>
            <a:r>
              <a:rPr lang="en-US" sz="2400" dirty="0">
                <a:latin typeface="Helvetica" pitchFamily="2" charset="0"/>
              </a:rPr>
              <a:t>shuffling assignment 100 times.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The effect disappears under this control analysis, confirming that it’s a repetition effect.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0F416D5-7639-152F-CB79-BA45BFEE5214}"/>
              </a:ext>
            </a:extLst>
          </p:cNvPr>
          <p:cNvSpPr txBox="1"/>
          <p:nvPr/>
        </p:nvSpPr>
        <p:spPr>
          <a:xfrm>
            <a:off x="12554642" y="27949419"/>
            <a:ext cx="76212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Same analysis using </a:t>
            </a:r>
            <a:r>
              <a:rPr lang="en-US" sz="2400" b="1" dirty="0">
                <a:latin typeface="Helvetica" pitchFamily="2" charset="0"/>
              </a:rPr>
              <a:t>Howard &amp; Kahana (2005) </a:t>
            </a:r>
            <a:r>
              <a:rPr lang="en-US" sz="2400" dirty="0">
                <a:latin typeface="Helvetica" pitchFamily="2" charset="0"/>
              </a:rPr>
              <a:t>data: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816F1FD-07E3-A96C-1614-CF535A2BC7F7}"/>
              </a:ext>
            </a:extLst>
          </p:cNvPr>
          <p:cNvSpPr txBox="1"/>
          <p:nvPr/>
        </p:nvSpPr>
        <p:spPr>
          <a:xfrm>
            <a:off x="11752207" y="21966553"/>
            <a:ext cx="890502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To summarize the effect and control for serial position effects, we measure </a:t>
            </a:r>
            <a:r>
              <a:rPr lang="en-US" sz="2400" b="1" dirty="0">
                <a:latin typeface="Helvetica" pitchFamily="2" charset="0"/>
              </a:rPr>
              <a:t>+1 lag conditional transition rates </a:t>
            </a:r>
            <a:r>
              <a:rPr lang="en-US" sz="2400" dirty="0">
                <a:latin typeface="Helvetica" pitchFamily="2" charset="0"/>
              </a:rPr>
              <a:t>relative to each repetition index. </a:t>
            </a:r>
          </a:p>
          <a:p>
            <a:pPr marL="457206" indent="-457206">
              <a:buAutoNum type="arabicPeriod"/>
            </a:pPr>
            <a:r>
              <a:rPr lang="en-US" sz="2400" dirty="0">
                <a:latin typeface="Helvetica" pitchFamily="2" charset="0"/>
              </a:rPr>
              <a:t>Consider just transitions from repetitions</a:t>
            </a:r>
          </a:p>
          <a:p>
            <a:pPr marL="457206" indent="-457206">
              <a:buAutoNum type="arabicPeriod"/>
            </a:pPr>
            <a:r>
              <a:rPr lang="en-US" sz="2400" dirty="0">
                <a:latin typeface="Helvetica" pitchFamily="2" charset="0"/>
              </a:rPr>
              <a:t>Separately calculate relative to each repetition-index</a:t>
            </a:r>
          </a:p>
          <a:p>
            <a:pPr marL="457206" indent="-457206">
              <a:spcAft>
                <a:spcPts val="1800"/>
              </a:spcAft>
              <a:buAutoNum type="arabicPeriod"/>
            </a:pPr>
            <a:r>
              <a:rPr lang="en-US" sz="2400" u="sng" dirty="0">
                <a:latin typeface="Helvetica" pitchFamily="2" charset="0"/>
              </a:rPr>
              <a:t>Subtract</a:t>
            </a:r>
            <a:r>
              <a:rPr lang="en-US" sz="2400" dirty="0">
                <a:latin typeface="Helvetica" pitchFamily="2" charset="0"/>
              </a:rPr>
              <a:t> control analysis values (when available)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Perform subject-level one-tailed paired t-test of scores relative to </a:t>
            </a:r>
            <a:r>
              <a:rPr lang="en-US" sz="2400" b="1" u="sng" dirty="0">
                <a:latin typeface="Helvetica" pitchFamily="2" charset="0"/>
              </a:rPr>
              <a:t>first</a:t>
            </a:r>
            <a:r>
              <a:rPr lang="en-US" sz="2400" dirty="0">
                <a:latin typeface="Helvetica" pitchFamily="2" charset="0"/>
              </a:rPr>
              <a:t> study position versus relative to </a:t>
            </a:r>
            <a:r>
              <a:rPr lang="en-US" sz="2400" b="1" u="sng" dirty="0">
                <a:latin typeface="Helvetica" pitchFamily="2" charset="0"/>
              </a:rPr>
              <a:t>second</a:t>
            </a:r>
            <a:r>
              <a:rPr lang="en-US" sz="2400" dirty="0">
                <a:latin typeface="Helvetica" pitchFamily="2" charset="0"/>
              </a:rPr>
              <a:t>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E72DA7D-C680-0E0C-4879-66B8E290E899}"/>
              </a:ext>
            </a:extLst>
          </p:cNvPr>
          <p:cNvSpPr txBox="1"/>
          <p:nvPr/>
        </p:nvSpPr>
        <p:spPr>
          <a:xfrm>
            <a:off x="12234133" y="4950118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 B C </a:t>
            </a:r>
            <a:r>
              <a:rPr lang="en-US" sz="7200" b="1" dirty="0">
                <a:solidFill>
                  <a:schemeClr val="tx2"/>
                </a:solidFill>
              </a:rPr>
              <a:t>D</a:t>
            </a:r>
            <a:r>
              <a:rPr lang="en-US" sz="4800" dirty="0"/>
              <a:t> E </a:t>
            </a:r>
            <a:r>
              <a:rPr lang="en-US" sz="4800" b="1" dirty="0">
                <a:solidFill>
                  <a:schemeClr val="accent2">
                    <a:lumMod val="75000"/>
                  </a:schemeClr>
                </a:solidFill>
              </a:rPr>
              <a:t>F</a:t>
            </a:r>
            <a:r>
              <a:rPr lang="en-US" sz="4800" dirty="0"/>
              <a:t> G H I J </a:t>
            </a:r>
            <a:r>
              <a:rPr lang="en-US" sz="7200" b="1" dirty="0">
                <a:solidFill>
                  <a:schemeClr val="accent6"/>
                </a:solidFill>
              </a:rPr>
              <a:t>D</a:t>
            </a:r>
            <a:r>
              <a:rPr lang="en-US" sz="4800" dirty="0"/>
              <a:t> K L</a:t>
            </a:r>
          </a:p>
        </p:txBody>
      </p:sp>
      <p:sp>
        <p:nvSpPr>
          <p:cNvPr id="106" name="Arrow: Curved Down 3">
            <a:extLst>
              <a:ext uri="{FF2B5EF4-FFF2-40B4-BE49-F238E27FC236}">
                <a16:creationId xmlns:a16="http://schemas.microsoft.com/office/drawing/2014/main" id="{551B09AA-3AA7-B588-2B1B-8D15001CEB67}"/>
              </a:ext>
            </a:extLst>
          </p:cNvPr>
          <p:cNvSpPr/>
          <p:nvPr/>
        </p:nvSpPr>
        <p:spPr>
          <a:xfrm>
            <a:off x="14987707" y="4495751"/>
            <a:ext cx="1216152" cy="73152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7" name="Arrow: Curved Up 4">
            <a:extLst>
              <a:ext uri="{FF2B5EF4-FFF2-40B4-BE49-F238E27FC236}">
                <a16:creationId xmlns:a16="http://schemas.microsoft.com/office/drawing/2014/main" id="{CEF83059-909D-9667-0A8B-BF09C0145AD7}"/>
              </a:ext>
            </a:extLst>
          </p:cNvPr>
          <p:cNvSpPr/>
          <p:nvPr/>
        </p:nvSpPr>
        <p:spPr>
          <a:xfrm rot="10800000">
            <a:off x="15821416" y="4491507"/>
            <a:ext cx="2573889" cy="731520"/>
          </a:xfrm>
          <a:prstGeom prst="curvedUpArrow">
            <a:avLst>
              <a:gd name="adj1" fmla="val 25000"/>
              <a:gd name="adj2" fmla="val 40308"/>
              <a:gd name="adj3" fmla="val 25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1C74BA6-DB19-E751-5F8F-96CF77243A03}"/>
              </a:ext>
            </a:extLst>
          </p:cNvPr>
          <p:cNvSpPr txBox="1"/>
          <p:nvPr/>
        </p:nvSpPr>
        <p:spPr>
          <a:xfrm>
            <a:off x="15241674" y="4520853"/>
            <a:ext cx="708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" pitchFamily="2" charset="0"/>
              </a:rPr>
              <a:t>+2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D17B6D4-B7D5-650E-B5B1-24C896062BF2}"/>
              </a:ext>
            </a:extLst>
          </p:cNvPr>
          <p:cNvSpPr txBox="1"/>
          <p:nvPr/>
        </p:nvSpPr>
        <p:spPr>
          <a:xfrm>
            <a:off x="16889992" y="4506181"/>
            <a:ext cx="708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F8B76C-A1F8-2CBC-BF45-92215DFA7B00}"/>
              </a:ext>
            </a:extLst>
          </p:cNvPr>
          <p:cNvSpPr/>
          <p:nvPr/>
        </p:nvSpPr>
        <p:spPr>
          <a:xfrm>
            <a:off x="12725376" y="21024954"/>
            <a:ext cx="7125195" cy="9084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Is the Difference Significant?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3CB929-0716-233D-5047-1F3671EB53C4}"/>
              </a:ext>
            </a:extLst>
          </p:cNvPr>
          <p:cNvSpPr/>
          <p:nvPr/>
        </p:nvSpPr>
        <p:spPr>
          <a:xfrm>
            <a:off x="12509135" y="27000214"/>
            <a:ext cx="7125195" cy="9084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Is This Dataset-Specific?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5842FEB-5281-39FB-3077-5E6882F03031}"/>
              </a:ext>
            </a:extLst>
          </p:cNvPr>
          <p:cNvSpPr txBox="1"/>
          <p:nvPr/>
        </p:nvSpPr>
        <p:spPr>
          <a:xfrm>
            <a:off x="12013181" y="31977712"/>
            <a:ext cx="83767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(Uncontrolled) +1 Transition Rate Comparison Result: </a:t>
            </a:r>
            <a:r>
              <a:rPr lang="en-US" sz="2400" b="1" dirty="0">
                <a:latin typeface="Helvetica" pitchFamily="2" charset="0"/>
              </a:rPr>
              <a:t>t=2.909,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p=0.0025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9F75868-BB3C-D526-3C80-F329FD7C65BD}"/>
              </a:ext>
            </a:extLst>
          </p:cNvPr>
          <p:cNvSpPr txBox="1"/>
          <p:nvPr/>
        </p:nvSpPr>
        <p:spPr>
          <a:xfrm>
            <a:off x="21102800" y="4569618"/>
            <a:ext cx="89448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Fit model parameters based on </a:t>
            </a:r>
            <a:r>
              <a:rPr lang="en-US" sz="2400" b="1" dirty="0">
                <a:latin typeface="Helvetica" pitchFamily="2" charset="0"/>
              </a:rPr>
              <a:t>likelihood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of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response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sequences</a:t>
            </a:r>
            <a:r>
              <a:rPr lang="en-US" sz="2400" dirty="0">
                <a:latin typeface="Helvetica" pitchFamily="2" charset="0"/>
              </a:rPr>
              <a:t> instead of summary statistic MSEs (Kragel et al, 2015; Morton &amp; Polyn, 2016). Find best fits for each subject and simulate trials from experiment design using each fit.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FEC0B87-9454-0E16-C5EC-4FCB5A50FD96}"/>
              </a:ext>
            </a:extLst>
          </p:cNvPr>
          <p:cNvSpPr/>
          <p:nvPr/>
        </p:nvSpPr>
        <p:spPr>
          <a:xfrm>
            <a:off x="22120010" y="12022761"/>
            <a:ext cx="7790200" cy="865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Control Analysis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5968299-A65A-5C9C-2A12-5AA7EB676965}"/>
              </a:ext>
            </a:extLst>
          </p:cNvPr>
          <p:cNvSpPr txBox="1"/>
          <p:nvPr/>
        </p:nvSpPr>
        <p:spPr>
          <a:xfrm>
            <a:off x="22594092" y="21756721"/>
            <a:ext cx="3032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Serial Position Curve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7934EC2-F54D-B9F0-4581-00F801D9091E}"/>
              </a:ext>
            </a:extLst>
          </p:cNvPr>
          <p:cNvSpPr txBox="1"/>
          <p:nvPr/>
        </p:nvSpPr>
        <p:spPr>
          <a:xfrm>
            <a:off x="26472942" y="21719662"/>
            <a:ext cx="3671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Probability of First Recall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67FCCFB-A1B6-6491-EC2C-EFA7E60EFCD9}"/>
              </a:ext>
            </a:extLst>
          </p:cNvPr>
          <p:cNvSpPr txBox="1"/>
          <p:nvPr/>
        </p:nvSpPr>
        <p:spPr>
          <a:xfrm>
            <a:off x="22645495" y="24945236"/>
            <a:ext cx="3032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Lag-CRP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71A663A-5FD0-1893-9939-63CF1F2B848C}"/>
              </a:ext>
            </a:extLst>
          </p:cNvPr>
          <p:cNvSpPr txBox="1"/>
          <p:nvPr/>
        </p:nvSpPr>
        <p:spPr>
          <a:xfrm>
            <a:off x="30115643" y="21769643"/>
            <a:ext cx="129917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b="1" dirty="0">
                <a:latin typeface="Helvetica" pitchFamily="2" charset="0"/>
              </a:rPr>
              <a:t>Predicted Transition Rate as Function of Context Cue Under a Subject’s Parameters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CB09AA3-CDAB-5B95-FD12-CDD09577C029}"/>
              </a:ext>
            </a:extLst>
          </p:cNvPr>
          <p:cNvSpPr/>
          <p:nvPr/>
        </p:nvSpPr>
        <p:spPr>
          <a:xfrm>
            <a:off x="21680860" y="28183404"/>
            <a:ext cx="8585406" cy="8523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Simulation of Howard &amp; Kahana (2005)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0F65F6B-479E-5C25-86AE-BB8AEA18EFB2}"/>
              </a:ext>
            </a:extLst>
          </p:cNvPr>
          <p:cNvSpPr/>
          <p:nvPr/>
        </p:nvSpPr>
        <p:spPr>
          <a:xfrm>
            <a:off x="31482928" y="4517010"/>
            <a:ext cx="11205108" cy="14021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Main Explanation: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Repeater Traces Don’t Include Forward Contexts</a:t>
            </a:r>
          </a:p>
        </p:txBody>
      </p:sp>
      <p:pic>
        <p:nvPicPr>
          <p:cNvPr id="140" name="Picture 139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A6EF8681-9A94-D837-751F-12AA83007A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7407" y="25357426"/>
            <a:ext cx="3719604" cy="2719802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3825E20-80FA-1576-8E9A-39B2BB24B5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34407" y="22102559"/>
            <a:ext cx="3784600" cy="2831834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8E930BD5-4B10-876A-2B2C-3D8EE5AEA5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63613" y="22107403"/>
            <a:ext cx="3784600" cy="2858299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AB8DD993-FCCA-BB74-8622-1EEF9ACE5A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05251" y="25341999"/>
            <a:ext cx="3784600" cy="2840655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A1608648-78C3-C35D-3D04-C25E960B08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28595" y="29052468"/>
            <a:ext cx="5010152" cy="3748855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607ABA99-6D1C-FAD7-48CE-E3D7A29357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04711" y="28390679"/>
            <a:ext cx="4838706" cy="3620570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C4DC314E-418F-0376-B267-9E49C28FA8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09944" y="16647762"/>
            <a:ext cx="5783223" cy="4327307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162E6BFF-F0F7-C5BE-FDBF-4587CD1D72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85969" y="5972590"/>
            <a:ext cx="6099049" cy="4469851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FC0BA40B-662E-4B61-2953-CE736C2E81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744801" y="7239162"/>
            <a:ext cx="6521289" cy="4779301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D6871C97-23F5-C192-F6AD-EE86C251EA05}"/>
              </a:ext>
            </a:extLst>
          </p:cNvPr>
          <p:cNvSpPr txBox="1"/>
          <p:nvPr/>
        </p:nvSpPr>
        <p:spPr>
          <a:xfrm>
            <a:off x="21477313" y="17534522"/>
            <a:ext cx="8680798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To account for effect, CMR must predict a difference in </a:t>
            </a:r>
            <a:r>
              <a:rPr lang="en-US" sz="2400" u="sng" dirty="0">
                <a:latin typeface="Helvetica" pitchFamily="2" charset="0"/>
              </a:rPr>
              <a:t>mixed lists</a:t>
            </a:r>
            <a:r>
              <a:rPr lang="en-US" sz="2400" dirty="0">
                <a:latin typeface="Helvetica" pitchFamily="2" charset="0"/>
              </a:rPr>
              <a:t> but </a:t>
            </a:r>
            <a:r>
              <a:rPr lang="en-US" sz="2400" b="1" dirty="0">
                <a:latin typeface="Helvetica" pitchFamily="2" charset="0"/>
              </a:rPr>
              <a:t>not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u="sng" dirty="0">
                <a:latin typeface="Helvetica" pitchFamily="2" charset="0"/>
              </a:rPr>
              <a:t>control lists</a:t>
            </a:r>
            <a:r>
              <a:rPr lang="en-US" sz="2400" dirty="0">
                <a:latin typeface="Helvetica" pitchFamily="2" charset="0"/>
              </a:rPr>
              <a:t>. It doesn’t!</a:t>
            </a:r>
          </a:p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So observed difference is mainly serial position effects.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EC0A492-141E-332D-FACC-522AF7B308ED}"/>
              </a:ext>
            </a:extLst>
          </p:cNvPr>
          <p:cNvSpPr/>
          <p:nvPr/>
        </p:nvSpPr>
        <p:spPr>
          <a:xfrm>
            <a:off x="21285717" y="18943909"/>
            <a:ext cx="8980549" cy="13624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800"/>
              </a:spcAft>
            </a:pPr>
            <a:r>
              <a:rPr lang="en-US" sz="3600" b="1" dirty="0">
                <a:solidFill>
                  <a:schemeClr val="tx1"/>
                </a:solidFill>
                <a:latin typeface="Helvetica" pitchFamily="2" charset="0"/>
              </a:rPr>
              <a:t>CMR Controlled +1 Transition Rate Result: t=1.07, p=0.1456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B0F1B60-ADC1-FF47-F6EA-A20E00803BB9}"/>
              </a:ext>
            </a:extLst>
          </p:cNvPr>
          <p:cNvSpPr/>
          <p:nvPr/>
        </p:nvSpPr>
        <p:spPr>
          <a:xfrm>
            <a:off x="12340393" y="25525090"/>
            <a:ext cx="7790200" cy="13624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</a:rPr>
              <a:t>Lohnas &amp; Kahana (2014)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</a:rPr>
              <a:t>Test Result: </a:t>
            </a:r>
            <a:r>
              <a:rPr lang="en-US" sz="3600" dirty="0">
                <a:latin typeface="Helvetica" pitchFamily="2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Helvetica" pitchFamily="2" charset="0"/>
              </a:rPr>
              <a:t>t=3.704, p=0.0004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C95A416-D80F-A76A-F54A-792608ADDCC6}"/>
              </a:ext>
            </a:extLst>
          </p:cNvPr>
          <p:cNvSpPr txBox="1"/>
          <p:nvPr/>
        </p:nvSpPr>
        <p:spPr>
          <a:xfrm>
            <a:off x="26611771" y="30023901"/>
            <a:ext cx="3605347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Uncontrolled +1 Transition Rate Test:</a:t>
            </a:r>
          </a:p>
          <a:p>
            <a:pPr algn="ctr">
              <a:spcAft>
                <a:spcPts val="1800"/>
              </a:spcAft>
            </a:pPr>
            <a:r>
              <a:rPr lang="en-US" sz="2400" b="1" dirty="0">
                <a:latin typeface="Helvetica" pitchFamily="2" charset="0"/>
              </a:rPr>
              <a:t>t=0.93, p=0.1771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5FFC395B-1230-EB87-40FF-E1CCAFE755DB}"/>
              </a:ext>
            </a:extLst>
          </p:cNvPr>
          <p:cNvSpPr/>
          <p:nvPr/>
        </p:nvSpPr>
        <p:spPr>
          <a:xfrm>
            <a:off x="33359578" y="6619845"/>
            <a:ext cx="2095373" cy="715478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2B6B798-9388-0838-6C0C-85C52A28AEA9}"/>
              </a:ext>
            </a:extLst>
          </p:cNvPr>
          <p:cNvSpPr/>
          <p:nvPr/>
        </p:nvSpPr>
        <p:spPr>
          <a:xfrm>
            <a:off x="33359578" y="10134552"/>
            <a:ext cx="4463320" cy="715596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D2CF568-0C0D-DC34-F67A-6BBBBB5FFCF2}"/>
              </a:ext>
            </a:extLst>
          </p:cNvPr>
          <p:cNvSpPr txBox="1"/>
          <p:nvPr/>
        </p:nvSpPr>
        <p:spPr>
          <a:xfrm>
            <a:off x="32552772" y="6643364"/>
            <a:ext cx="1206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66FF"/>
                </a:solidFill>
              </a:rPr>
              <a:t>1st</a:t>
            </a:r>
          </a:p>
          <a:p>
            <a:r>
              <a:rPr lang="en-US" b="1" dirty="0">
                <a:solidFill>
                  <a:srgbClr val="FF66FF"/>
                </a:solidFill>
              </a:rPr>
              <a:t>Study</a:t>
            </a:r>
            <a:endParaRPr lang="en-US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D09B82D-0F68-8E0C-4415-71DA4F674CFA}"/>
              </a:ext>
            </a:extLst>
          </p:cNvPr>
          <p:cNvSpPr txBox="1"/>
          <p:nvPr/>
        </p:nvSpPr>
        <p:spPr>
          <a:xfrm>
            <a:off x="32409406" y="10318624"/>
            <a:ext cx="1546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66FF"/>
                </a:solidFill>
              </a:rPr>
              <a:t>Repeat</a:t>
            </a:r>
          </a:p>
          <a:p>
            <a:r>
              <a:rPr lang="en-US" b="1" dirty="0">
                <a:solidFill>
                  <a:srgbClr val="FF66FF"/>
                </a:solidFill>
              </a:rPr>
              <a:t>Study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0A53C08-21D3-B0E5-BAFA-1B3B340A6E94}"/>
              </a:ext>
            </a:extLst>
          </p:cNvPr>
          <p:cNvSpPr/>
          <p:nvPr/>
        </p:nvSpPr>
        <p:spPr>
          <a:xfrm>
            <a:off x="33359578" y="10904890"/>
            <a:ext cx="5728533" cy="136177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C300987-5770-8F59-68E3-53B014603A27}"/>
              </a:ext>
            </a:extLst>
          </p:cNvPr>
          <p:cNvSpPr/>
          <p:nvPr/>
        </p:nvSpPr>
        <p:spPr>
          <a:xfrm>
            <a:off x="33359578" y="7419332"/>
            <a:ext cx="3272971" cy="136177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1FC4A6F-EE4C-AFC9-A958-604A39E42E3C}"/>
              </a:ext>
            </a:extLst>
          </p:cNvPr>
          <p:cNvSpPr txBox="1"/>
          <p:nvPr/>
        </p:nvSpPr>
        <p:spPr>
          <a:xfrm>
            <a:off x="30699673" y="12980294"/>
            <a:ext cx="1198836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In CMR, repeating an item reinstates context associated with its prior presentation, linking current and prior contexts in memory (</a:t>
            </a:r>
            <a:r>
              <a:rPr lang="en-US" sz="2400" b="1" dirty="0">
                <a:latin typeface="Helvetica" pitchFamily="2" charset="0"/>
              </a:rPr>
              <a:t>study-phase retrieval</a:t>
            </a:r>
            <a:r>
              <a:rPr lang="en-US" sz="2400" dirty="0">
                <a:latin typeface="Helvetica" pitchFamily="2" charset="0"/>
              </a:rPr>
              <a:t>).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Later, when the repeated item is recalled, an </a:t>
            </a:r>
            <a:r>
              <a:rPr lang="en-US" sz="2400" b="1" dirty="0">
                <a:latin typeface="Helvetica" pitchFamily="2" charset="0"/>
              </a:rPr>
              <a:t>average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between these two context states is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reinstated</a:t>
            </a:r>
            <a:r>
              <a:rPr lang="en-US" sz="2400" dirty="0">
                <a:latin typeface="Helvetica" pitchFamily="2" charset="0"/>
              </a:rPr>
              <a:t> to prime the </a:t>
            </a:r>
            <a:r>
              <a:rPr lang="en-US" sz="2400" i="1" dirty="0">
                <a:latin typeface="Helvetica" pitchFamily="2" charset="0"/>
              </a:rPr>
              <a:t>next </a:t>
            </a:r>
            <a:r>
              <a:rPr lang="en-US" sz="2400" dirty="0">
                <a:latin typeface="Helvetica" pitchFamily="2" charset="0"/>
              </a:rPr>
              <a:t>recall. The next retrieval is primarily driven by the similarity of retrieval context to items’ encoding contexts.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But since first-presentation reinstated context occurs before forward neighbors, biased support for first-presentation neighbors is insufficient to drive effect. Instead, </a:t>
            </a:r>
            <a:r>
              <a:rPr lang="en-US" sz="2400" b="1" dirty="0">
                <a:latin typeface="Helvetica" pitchFamily="2" charset="0"/>
              </a:rPr>
              <a:t>both contexts similarly prime retrieval for </a:t>
            </a:r>
            <a:r>
              <a:rPr lang="en-US" sz="2400" b="1" u="sng" dirty="0">
                <a:latin typeface="Helvetica" pitchFamily="2" charset="0"/>
              </a:rPr>
              <a:t>either</a:t>
            </a:r>
            <a:r>
              <a:rPr lang="en-US" sz="2400" b="1" dirty="0">
                <a:latin typeface="Helvetica" pitchFamily="2" charset="0"/>
              </a:rPr>
              <a:t> presentation’s forward neighbors.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E827A73-E0A7-552C-6BDD-5D965509309C}"/>
              </a:ext>
            </a:extLst>
          </p:cNvPr>
          <p:cNvSpPr txBox="1"/>
          <p:nvPr/>
        </p:nvSpPr>
        <p:spPr>
          <a:xfrm>
            <a:off x="30665954" y="17889533"/>
            <a:ext cx="12022082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Deficient processing (Greene, 1989) and instance-retrieval accounts of repetition effects traditionally explain phenomena such as the spacing effect in terms of </a:t>
            </a:r>
            <a:r>
              <a:rPr lang="en-US" sz="2400" b="1" dirty="0">
                <a:latin typeface="Helvetica" pitchFamily="2" charset="0"/>
              </a:rPr>
              <a:t>diminished access at retrieval to the memory trace corresponding to an item repetition.</a:t>
            </a:r>
            <a:endParaRPr lang="en-US" sz="2400" dirty="0">
              <a:latin typeface="Helvetica" pitchFamily="2" charset="0"/>
            </a:endParaRP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But variants of CMR that modulate learning rates in </a:t>
            </a:r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M</a:t>
            </a:r>
            <a:r>
              <a:rPr lang="en-US" sz="2400" i="1" baseline="30000" dirty="0">
                <a:solidFill>
                  <a:schemeClr val="tx1"/>
                </a:solidFill>
                <a:latin typeface="Helvetica" pitchFamily="2" charset="0"/>
              </a:rPr>
              <a:t>FC </a:t>
            </a:r>
            <a:r>
              <a:rPr lang="en-US" sz="2400" dirty="0">
                <a:solidFill>
                  <a:schemeClr val="tx1"/>
                </a:solidFill>
                <a:latin typeface="Helvetica" pitchFamily="2" charset="0"/>
              </a:rPr>
              <a:t>or </a:t>
            </a:r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M</a:t>
            </a:r>
            <a:r>
              <a:rPr lang="en-US" sz="2400" i="1" baseline="30000" dirty="0">
                <a:solidFill>
                  <a:schemeClr val="tx1"/>
                </a:solidFill>
                <a:latin typeface="Helvetica" pitchFamily="2" charset="0"/>
              </a:rPr>
              <a:t>CF</a:t>
            </a:r>
            <a:r>
              <a:rPr lang="en-US" sz="2400" dirty="0">
                <a:latin typeface="Helvetica" pitchFamily="2" charset="0"/>
              </a:rPr>
              <a:t>, or more selectively reinstate trace contexts before retrieval, fail to account for the effect and are dis-preferred during model fitting.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chemeClr val="tx1"/>
                </a:solidFill>
                <a:latin typeface="Helvetica" pitchFamily="2" charset="0"/>
              </a:rPr>
              <a:t>Shared problem with study phase retrieval: driving retrieval with either trace’s context does </a:t>
            </a:r>
            <a:r>
              <a:rPr lang="en-US" sz="2400" u="sng" dirty="0">
                <a:solidFill>
                  <a:schemeClr val="tx1"/>
                </a:solidFill>
                <a:latin typeface="Helvetica" pitchFamily="2" charset="0"/>
              </a:rPr>
              <a:t>not</a:t>
            </a:r>
            <a:r>
              <a:rPr lang="en-US" sz="2400" dirty="0">
                <a:solidFill>
                  <a:schemeClr val="tx1"/>
                </a:solidFill>
                <a:latin typeface="Helvetica" pitchFamily="2" charset="0"/>
              </a:rPr>
              <a:t> substantially bias transitions to either presentation’s +1 neighbors.</a:t>
            </a:r>
          </a:p>
        </p:txBody>
      </p:sp>
      <p:pic>
        <p:nvPicPr>
          <p:cNvPr id="189" name="Picture 188">
            <a:extLst>
              <a:ext uri="{FF2B5EF4-FFF2-40B4-BE49-F238E27FC236}">
                <a16:creationId xmlns:a16="http://schemas.microsoft.com/office/drawing/2014/main" id="{4776ED51-1F83-2E42-1C70-49D3059CFA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60295" y="23064047"/>
            <a:ext cx="7264400" cy="1587500"/>
          </a:xfrm>
          <a:prstGeom prst="rect">
            <a:avLst/>
          </a:prstGeom>
        </p:spPr>
      </p:pic>
      <p:sp>
        <p:nvSpPr>
          <p:cNvPr id="190" name="Rectangle 189">
            <a:extLst>
              <a:ext uri="{FF2B5EF4-FFF2-40B4-BE49-F238E27FC236}">
                <a16:creationId xmlns:a16="http://schemas.microsoft.com/office/drawing/2014/main" id="{4228BA4B-E311-32A4-37F6-0015955F7E58}"/>
              </a:ext>
            </a:extLst>
          </p:cNvPr>
          <p:cNvSpPr/>
          <p:nvPr/>
        </p:nvSpPr>
        <p:spPr>
          <a:xfrm>
            <a:off x="35156123" y="23064047"/>
            <a:ext cx="1836372" cy="156742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94D36D2-EA4E-D9D1-FC29-3EE83A5F58EA}"/>
              </a:ext>
            </a:extLst>
          </p:cNvPr>
          <p:cNvSpPr/>
          <p:nvPr/>
        </p:nvSpPr>
        <p:spPr>
          <a:xfrm>
            <a:off x="38788323" y="23055833"/>
            <a:ext cx="1836372" cy="15875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BFC9BD4D-9E05-51AA-F3C6-DA0D8EE2539B}"/>
              </a:ext>
            </a:extLst>
          </p:cNvPr>
          <p:cNvSpPr txBox="1"/>
          <p:nvPr/>
        </p:nvSpPr>
        <p:spPr>
          <a:xfrm>
            <a:off x="35257953" y="24560230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+1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73DA61C-0AA4-9DA2-ECFA-47B17F01542F}"/>
              </a:ext>
            </a:extLst>
          </p:cNvPr>
          <p:cNvSpPr txBox="1"/>
          <p:nvPr/>
        </p:nvSpPr>
        <p:spPr>
          <a:xfrm>
            <a:off x="36096316" y="24560230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+2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A0B6CD-F10A-40EA-B41B-9053CB0BB1A8}"/>
              </a:ext>
            </a:extLst>
          </p:cNvPr>
          <p:cNvSpPr txBox="1"/>
          <p:nvPr/>
        </p:nvSpPr>
        <p:spPr>
          <a:xfrm>
            <a:off x="38832215" y="24615404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+1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3B99F50-D52F-7274-515C-718CE938A71D}"/>
              </a:ext>
            </a:extLst>
          </p:cNvPr>
          <p:cNvSpPr txBox="1"/>
          <p:nvPr/>
        </p:nvSpPr>
        <p:spPr>
          <a:xfrm>
            <a:off x="39659285" y="24597115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+2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716E26B-07E2-3043-E612-62C59D18F4DB}"/>
              </a:ext>
            </a:extLst>
          </p:cNvPr>
          <p:cNvSpPr txBox="1"/>
          <p:nvPr/>
        </p:nvSpPr>
        <p:spPr>
          <a:xfrm>
            <a:off x="38823915" y="22278200"/>
            <a:ext cx="1673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600" dirty="0">
                <a:latin typeface="Helvetica" pitchFamily="2" charset="0"/>
              </a:rPr>
              <a:t>Second Presentation </a:t>
            </a:r>
            <a:r>
              <a:rPr lang="en-US" sz="1600" dirty="0" err="1">
                <a:latin typeface="Helvetica" pitchFamily="2" charset="0"/>
              </a:rPr>
              <a:t>Fwd</a:t>
            </a:r>
            <a:r>
              <a:rPr lang="en-US" sz="1600" dirty="0">
                <a:latin typeface="Helvetica" pitchFamily="2" charset="0"/>
              </a:rPr>
              <a:t> Neighbors</a:t>
            </a:r>
            <a:endParaRPr lang="en-US" sz="1600" b="1" dirty="0">
              <a:latin typeface="Helvetica" pitchFamily="2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20E6120-340A-4555-C3FE-71132A25E329}"/>
              </a:ext>
            </a:extLst>
          </p:cNvPr>
          <p:cNvSpPr txBox="1"/>
          <p:nvPr/>
        </p:nvSpPr>
        <p:spPr>
          <a:xfrm>
            <a:off x="35288516" y="22270648"/>
            <a:ext cx="1615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600" dirty="0">
                <a:latin typeface="Helvetica" pitchFamily="2" charset="0"/>
              </a:rPr>
              <a:t>First Presentation </a:t>
            </a:r>
            <a:r>
              <a:rPr lang="en-US" sz="1600" dirty="0" err="1">
                <a:latin typeface="Helvetica" pitchFamily="2" charset="0"/>
              </a:rPr>
              <a:t>Fwd</a:t>
            </a:r>
            <a:r>
              <a:rPr lang="en-US" sz="1600" dirty="0">
                <a:latin typeface="Helvetica" pitchFamily="2" charset="0"/>
              </a:rPr>
              <a:t> Neighbors</a:t>
            </a:r>
            <a:endParaRPr lang="en-US" sz="1600" b="1" dirty="0">
              <a:latin typeface="Helvetica" pitchFamily="2" charset="0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D0280DC-9350-7D40-1F01-231B812CA68A}"/>
              </a:ext>
            </a:extLst>
          </p:cNvPr>
          <p:cNvSpPr txBox="1"/>
          <p:nvPr/>
        </p:nvSpPr>
        <p:spPr>
          <a:xfrm>
            <a:off x="31446238" y="23201989"/>
            <a:ext cx="2165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600" dirty="0">
                <a:latin typeface="Helvetica" pitchFamily="2" charset="0"/>
              </a:rPr>
              <a:t>Default Composite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8A40344-0479-9711-9A84-50D1A6352064}"/>
              </a:ext>
            </a:extLst>
          </p:cNvPr>
          <p:cNvSpPr txBox="1"/>
          <p:nvPr/>
        </p:nvSpPr>
        <p:spPr>
          <a:xfrm>
            <a:off x="31730624" y="23678484"/>
            <a:ext cx="1937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600" dirty="0">
                <a:latin typeface="Helvetica" pitchFamily="2" charset="0"/>
              </a:rPr>
              <a:t>Just First Trace</a:t>
            </a:r>
            <a:endParaRPr lang="en-US" sz="1600" b="1" dirty="0">
              <a:latin typeface="Helvetica" pitchFamily="2" charset="0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1599CDC5-9243-6535-8ECB-B9BC3E3D2A2D}"/>
              </a:ext>
            </a:extLst>
          </p:cNvPr>
          <p:cNvSpPr txBox="1"/>
          <p:nvPr/>
        </p:nvSpPr>
        <p:spPr>
          <a:xfrm>
            <a:off x="31600069" y="24147921"/>
            <a:ext cx="1937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600" dirty="0">
                <a:latin typeface="Helvetica" pitchFamily="2" charset="0"/>
              </a:rPr>
              <a:t>Just Second Trace</a:t>
            </a:r>
            <a:endParaRPr lang="en-US" sz="1600" b="1" dirty="0">
              <a:latin typeface="Helvetica" pitchFamily="2" charset="0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C127503-07D1-4B41-0887-8E9686FF2977}"/>
              </a:ext>
            </a:extLst>
          </p:cNvPr>
          <p:cNvSpPr txBox="1"/>
          <p:nvPr/>
        </p:nvSpPr>
        <p:spPr>
          <a:xfrm>
            <a:off x="31015218" y="22703746"/>
            <a:ext cx="3032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000" b="1" u="sng" dirty="0">
                <a:latin typeface="Helvetica" pitchFamily="2" charset="0"/>
              </a:rPr>
              <a:t>Context Probe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C478098-408E-4245-F9DB-3CB03C098700}"/>
              </a:ext>
            </a:extLst>
          </p:cNvPr>
          <p:cNvSpPr txBox="1"/>
          <p:nvPr/>
        </p:nvSpPr>
        <p:spPr>
          <a:xfrm>
            <a:off x="34794021" y="25001946"/>
            <a:ext cx="37405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000" b="1" u="sng" dirty="0">
                <a:latin typeface="Helvetica" pitchFamily="2" charset="0"/>
              </a:rPr>
              <a:t>Item Index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6FD1FBAF-9F00-9DA3-3AB4-47730D04132B}"/>
              </a:ext>
            </a:extLst>
          </p:cNvPr>
          <p:cNvSpPr txBox="1"/>
          <p:nvPr/>
        </p:nvSpPr>
        <p:spPr>
          <a:xfrm>
            <a:off x="26832410" y="25027298"/>
            <a:ext cx="3032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Spacing Effect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6242B5A1-8F06-7815-98CD-672A0560BE01}"/>
              </a:ext>
            </a:extLst>
          </p:cNvPr>
          <p:cNvSpPr txBox="1"/>
          <p:nvPr/>
        </p:nvSpPr>
        <p:spPr>
          <a:xfrm>
            <a:off x="33526294" y="24525723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-1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50F59B7-9D5F-58C9-8FE8-BC5325AC6D0D}"/>
              </a:ext>
            </a:extLst>
          </p:cNvPr>
          <p:cNvSpPr txBox="1"/>
          <p:nvPr/>
        </p:nvSpPr>
        <p:spPr>
          <a:xfrm>
            <a:off x="37903309" y="24609455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-1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734A8DF8-B462-5863-9552-02F82708CC41}"/>
              </a:ext>
            </a:extLst>
          </p:cNvPr>
          <p:cNvSpPr/>
          <p:nvPr/>
        </p:nvSpPr>
        <p:spPr>
          <a:xfrm>
            <a:off x="12435381" y="12836114"/>
            <a:ext cx="7695212" cy="12130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How Much of This is Actually a </a:t>
            </a:r>
            <a:r>
              <a:rPr lang="en-US" sz="3600" b="1" i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Repetition</a:t>
            </a:r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 Effect?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A8F250F-4BE2-EDD0-E185-E0CF479C505E}"/>
              </a:ext>
            </a:extLst>
          </p:cNvPr>
          <p:cNvSpPr txBox="1"/>
          <p:nvPr/>
        </p:nvSpPr>
        <p:spPr>
          <a:xfrm>
            <a:off x="30665954" y="25460350"/>
            <a:ext cx="12022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solidFill>
                  <a:schemeClr val="tx1"/>
                </a:solidFill>
                <a:latin typeface="Helvetica" pitchFamily="2" charset="0"/>
              </a:rPr>
              <a:t>Activation scaling (applying an exponent to item activations before retrieval competition) drives larger differences but is similarly dis-preferred under model fitting!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04FC189A-5BE4-BB23-3F1A-A2B37A0FC929}"/>
              </a:ext>
            </a:extLst>
          </p:cNvPr>
          <p:cNvSpPr txBox="1"/>
          <p:nvPr/>
        </p:nvSpPr>
        <p:spPr>
          <a:xfrm>
            <a:off x="30424506" y="27516991"/>
            <a:ext cx="12682884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400" dirty="0">
                <a:latin typeface="Helvetica" pitchFamily="2" charset="0"/>
              </a:rPr>
              <a:t>Across two datasets, after recalling an item presented repeatedly in study lists, participants tended to transition to neighbors of the item’s </a:t>
            </a:r>
            <a:r>
              <a:rPr lang="en-US" sz="2400" u="sng" dirty="0">
                <a:latin typeface="Helvetica" pitchFamily="2" charset="0"/>
              </a:rPr>
              <a:t>initial</a:t>
            </a:r>
            <a:r>
              <a:rPr lang="en-US" sz="2400" dirty="0">
                <a:latin typeface="Helvetica" pitchFamily="2" charset="0"/>
              </a:rPr>
              <a:t> rather than </a:t>
            </a:r>
            <a:r>
              <a:rPr lang="en-US" sz="2400" u="sng" dirty="0">
                <a:latin typeface="Helvetica" pitchFamily="2" charset="0"/>
              </a:rPr>
              <a:t>successive</a:t>
            </a:r>
            <a:r>
              <a:rPr lang="en-US" sz="2400" dirty="0">
                <a:latin typeface="Helvetica" pitchFamily="2" charset="0"/>
              </a:rPr>
              <a:t> study positions.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400" dirty="0">
                <a:latin typeface="Helvetica" pitchFamily="2" charset="0"/>
              </a:rPr>
              <a:t>Control analyses indicate that bias is due to repetition rather than serial position.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400" dirty="0">
                <a:latin typeface="Helvetica" pitchFamily="2" charset="0"/>
              </a:rPr>
              <a:t>CMR could not account for these patterns, despite study-phase retrieval and even after considering mechanisms to emulate deficient processing accounts of repetition effects.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400" dirty="0">
                <a:latin typeface="Helvetica" pitchFamily="2" charset="0"/>
              </a:rPr>
              <a:t>Suggests need for more detailed account of context-based retrieval when items have multiple study contexts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6644667-5BF4-B10A-3FE5-05DE5BE6E620}"/>
              </a:ext>
            </a:extLst>
          </p:cNvPr>
          <p:cNvSpPr txBox="1"/>
          <p:nvPr/>
        </p:nvSpPr>
        <p:spPr>
          <a:xfrm>
            <a:off x="30373798" y="30916685"/>
            <a:ext cx="1226353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Tulving, E. (1972). Organization of memory.</a:t>
            </a:r>
          </a:p>
          <a:p>
            <a:pPr algn="ctr"/>
            <a:r>
              <a:rPr lang="en-US" b="0" dirty="0">
                <a:effectLst/>
                <a:latin typeface="Helvetica" pitchFamily="2" charset="0"/>
              </a:rPr>
              <a:t>Howard, M., &amp; Kahana, M. (2002). Journal of mathematical psychology.</a:t>
            </a:r>
          </a:p>
          <a:p>
            <a:pPr algn="ctr"/>
            <a:r>
              <a:rPr lang="en-US" b="0" dirty="0">
                <a:effectLst/>
                <a:latin typeface="Helvetica" pitchFamily="2" charset="0"/>
              </a:rPr>
              <a:t>Lohnas, L. &amp; Kahana, M. (2014). JEP: LEMC.</a:t>
            </a:r>
          </a:p>
          <a:p>
            <a:pPr algn="ctr"/>
            <a:r>
              <a:rPr lang="en-US" dirty="0">
                <a:latin typeface="Helvetica" pitchFamily="2" charset="0"/>
              </a:rPr>
              <a:t>Howard, M., &amp; Kahana, M. (2005). Psychonomic bulletin &amp; review.</a:t>
            </a:r>
          </a:p>
          <a:p>
            <a:pPr algn="ctr"/>
            <a:r>
              <a:rPr lang="en-US" b="0" dirty="0">
                <a:effectLst/>
                <a:latin typeface="Helvetica" pitchFamily="2" charset="0"/>
              </a:rPr>
              <a:t>Morton, N. &amp; Polyn, S.</a:t>
            </a:r>
            <a:r>
              <a:rPr lang="en-US" dirty="0">
                <a:latin typeface="Helvetica" pitchFamily="2" charset="0"/>
              </a:rPr>
              <a:t> (2016). Journal of memory and language.</a:t>
            </a:r>
            <a:endParaRPr lang="en-US" b="0" dirty="0">
              <a:effectLst/>
              <a:latin typeface="Helvetica" pitchFamily="2" charset="0"/>
            </a:endParaRPr>
          </a:p>
          <a:p>
            <a:pPr algn="ctr"/>
            <a:r>
              <a:rPr lang="en-US" dirty="0">
                <a:latin typeface="Helvetica" pitchFamily="2" charset="0"/>
              </a:rPr>
              <a:t>Polyn, S., Norman, K., Kahana, M. (2009). Psychological Review.</a:t>
            </a:r>
          </a:p>
        </p:txBody>
      </p:sp>
    </p:spTree>
    <p:extLst>
      <p:ext uri="{BB962C8B-B14F-4D97-AF65-F5344CB8AC3E}">
        <p14:creationId xmlns:p14="http://schemas.microsoft.com/office/powerpoint/2010/main" val="3482650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19099</TotalTime>
  <Words>1259</Words>
  <Application>Microsoft Macintosh PowerPoint</Application>
  <PresentationFormat>Custom</PresentationFormat>
  <Paragraphs>128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Gunn</dc:creator>
  <cp:lastModifiedBy>Jordan Gunn</cp:lastModifiedBy>
  <cp:revision>4</cp:revision>
  <dcterms:created xsi:type="dcterms:W3CDTF">2024-05-26T22:04:32Z</dcterms:created>
  <dcterms:modified xsi:type="dcterms:W3CDTF">2026-01-01T22:11:27Z</dcterms:modified>
</cp:coreProperties>
</file>