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357" r:id="rId3"/>
    <p:sldId id="257" r:id="rId4"/>
    <p:sldId id="355" r:id="rId5"/>
    <p:sldId id="358"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6410" autoAdjust="0"/>
    <p:restoredTop sz="88406" autoAdjust="0"/>
  </p:normalViewPr>
  <p:slideViewPr>
    <p:cSldViewPr snapToGrid="0" snapToObjects="1">
      <p:cViewPr>
        <p:scale>
          <a:sx n="128" d="100"/>
          <a:sy n="128" d="100"/>
        </p:scale>
        <p:origin x="752" y="144"/>
      </p:cViewPr>
      <p:guideLst>
        <p:guide orient="horz" pos="2160"/>
        <p:guide pos="2880"/>
      </p:guideLst>
    </p:cSldViewPr>
  </p:slideViewPr>
  <p:outlineViewPr>
    <p:cViewPr>
      <p:scale>
        <a:sx n="33" d="100"/>
        <a:sy n="33" d="100"/>
      </p:scale>
      <p:origin x="0" y="0"/>
    </p:cViewPr>
  </p:outlineViewPr>
  <p:notesTextViewPr>
    <p:cViewPr>
      <p:scale>
        <a:sx n="145" d="100"/>
        <a:sy n="14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84AA6-6FD4-4B2D-BE97-CD865C409230}" type="datetimeFigureOut">
              <a:rPr lang="en-US" smtClean="0"/>
              <a:t>11/10/25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62F8D-6015-4186-952A-87493F61A5D5}" type="slidenum">
              <a:rPr lang="en-US" smtClean="0"/>
              <a:t>‹#›</a:t>
            </a:fld>
            <a:endParaRPr lang="en-US" dirty="0"/>
          </a:p>
        </p:txBody>
      </p:sp>
    </p:spTree>
    <p:extLst>
      <p:ext uri="{BB962C8B-B14F-4D97-AF65-F5344CB8AC3E}">
        <p14:creationId xmlns:p14="http://schemas.microsoft.com/office/powerpoint/2010/main" val="192754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One-liner reminding attendees we're aligning grant aims with near-term modelling choices.</a:t>
            </a:r>
          </a:p>
          <a:p>
            <a:br>
              <a:rPr lang="en-US" dirty="0"/>
            </a:br>
            <a:endParaRPr lang="en-US" b="0" dirty="0">
              <a:solidFill>
                <a:srgbClr val="D1D5D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47062F8D-6015-4186-952A-87493F61A5D5}" type="slidenum">
              <a:rPr lang="en-US" smtClean="0"/>
              <a:t>1</a:t>
            </a:fld>
            <a:endParaRPr lang="en-US" dirty="0"/>
          </a:p>
        </p:txBody>
      </p:sp>
    </p:spTree>
    <p:extLst>
      <p:ext uri="{BB962C8B-B14F-4D97-AF65-F5344CB8AC3E}">
        <p14:creationId xmlns:p14="http://schemas.microsoft.com/office/powerpoint/2010/main" val="367445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2</a:t>
            </a:fld>
            <a:endParaRPr lang="en-US" dirty="0"/>
          </a:p>
        </p:txBody>
      </p:sp>
    </p:spTree>
    <p:extLst>
      <p:ext uri="{BB962C8B-B14F-4D97-AF65-F5344CB8AC3E}">
        <p14:creationId xmlns:p14="http://schemas.microsoft.com/office/powerpoint/2010/main" val="3269996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is Bayesian inference?</a:t>
            </a:r>
          </a:p>
          <a:p>
            <a:endParaRPr lang="en-US" dirty="0"/>
          </a:p>
          <a:p>
            <a:r>
              <a:rPr lang="en-US" dirty="0"/>
              <a:t>Bayesian inference is relevant whenever</a:t>
            </a:r>
            <a:r>
              <a:rPr lang="en-US" baseline="0" dirty="0"/>
              <a:t> a cognitive problem can be framed as evaluating a set of hypotheses about which processes could have produced observed data</a:t>
            </a:r>
            <a:endParaRPr lang="en-US" dirty="0"/>
          </a:p>
          <a:p>
            <a:endParaRPr lang="en-US" dirty="0"/>
          </a:p>
          <a:p>
            <a:r>
              <a:rPr lang="en-US" dirty="0"/>
              <a:t>But</a:t>
            </a:r>
            <a:r>
              <a:rPr lang="en-US" baseline="0" dirty="0"/>
              <a:t> to understand what Bayesian inference is, i</a:t>
            </a:r>
            <a:r>
              <a:rPr lang="en-US" dirty="0"/>
              <a:t>magine you have a hunch about the world, you see a bit of noisy evidence, and you revise that hunch. That’s Bayesian inference in one sentence. </a:t>
            </a:r>
          </a:p>
          <a:p>
            <a:endParaRPr lang="en-US" dirty="0"/>
          </a:p>
          <a:p>
            <a:r>
              <a:rPr lang="en-US" dirty="0"/>
              <a:t>Formally, we start with a **prior**—our initial degrees of belief over hypotheses—then combine it with how well each hypothesis would have produced the evidence (the **likelihood**) to get an updated **posterior**. </a:t>
            </a:r>
          </a:p>
          <a:p>
            <a:endParaRPr lang="en-US" dirty="0"/>
          </a:p>
          <a:p>
            <a:r>
              <a:rPr lang="en-US" dirty="0"/>
              <a:t>The gist of this idea,</a:t>
            </a:r>
            <a:r>
              <a:rPr lang="en-US" baseline="0" dirty="0"/>
              <a:t> Bayes rule is that </a:t>
            </a:r>
            <a:r>
              <a:rPr lang="en-US" dirty="0"/>
              <a:t>“updated belief in</a:t>
            </a:r>
            <a:r>
              <a:rPr lang="en-US" baseline="0" dirty="0"/>
              <a:t> your hypothesis </a:t>
            </a:r>
            <a:r>
              <a:rPr lang="en-US" dirty="0"/>
              <a:t>= fit of the hypothesis to the data × initial belief.”</a:t>
            </a:r>
          </a:p>
        </p:txBody>
      </p:sp>
      <p:sp>
        <p:nvSpPr>
          <p:cNvPr id="4" name="Slide Number Placeholder 3"/>
          <p:cNvSpPr>
            <a:spLocks noGrp="1"/>
          </p:cNvSpPr>
          <p:nvPr>
            <p:ph type="sldNum" sz="quarter" idx="5"/>
          </p:nvPr>
        </p:nvSpPr>
        <p:spPr/>
        <p:txBody>
          <a:bodyPr/>
          <a:lstStyle/>
          <a:p>
            <a:fld id="{47062F8D-6015-4186-952A-87493F61A5D5}" type="slidenum">
              <a:rPr lang="en-US" smtClean="0"/>
              <a:t>3</a:t>
            </a:fld>
            <a:endParaRPr lang="en-US" dirty="0"/>
          </a:p>
        </p:txBody>
      </p:sp>
    </p:spTree>
    <p:extLst>
      <p:ext uri="{BB962C8B-B14F-4D97-AF65-F5344CB8AC3E}">
        <p14:creationId xmlns:p14="http://schemas.microsoft.com/office/powerpoint/2010/main" val="788994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now, what are exemplar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Exemplar models say we don’t always keep abstract rules or aggregate prototypes to make decisions—instead,</a:t>
            </a:r>
            <a:r>
              <a:rPr lang="en-US" baseline="0" dirty="0"/>
              <a:t> </a:t>
            </a:r>
            <a:r>
              <a:rPr lang="en-US" dirty="0"/>
              <a:t>we keep **examples**, a representation of each</a:t>
            </a:r>
            <a:r>
              <a:rPr lang="en-US" baseline="0" dirty="0"/>
              <a:t> study instance as a separate trace in memory</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When evaluating a new stimulus, the </a:t>
            </a:r>
            <a:r>
              <a:rPr lang="en-US" b="1" dirty="0"/>
              <a:t>cue probes all traces</a:t>
            </a:r>
            <a:r>
              <a:rPr lang="en-US" dirty="0"/>
              <a:t>. Each trace is activated in proportion to its </a:t>
            </a:r>
            <a:r>
              <a:rPr lang="en-US" b="1" dirty="0"/>
              <a:t>similarity</a:t>
            </a:r>
            <a:r>
              <a:rPr lang="en-US" dirty="0"/>
              <a:t> to the cue. In models, each trace is represented as a vector where each slot represents</a:t>
            </a:r>
            <a:r>
              <a:rPr lang="en-US" baseline="0" dirty="0"/>
              <a:t> the extent to which a given feature is present or not. When you do a dot product using a cue vector a trace, the value gets higher the more their feature sets overlap.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returns an </a:t>
            </a:r>
            <a:r>
              <a:rPr lang="en-US" b="1" dirty="0"/>
              <a:t>echo</a:t>
            </a:r>
            <a:r>
              <a:rPr lang="en-US" dirty="0"/>
              <a:t>—literally a </a:t>
            </a:r>
            <a:r>
              <a:rPr lang="en-US" b="1" dirty="0"/>
              <a:t>weighted sum</a:t>
            </a:r>
            <a:r>
              <a:rPr lang="en-US" dirty="0"/>
              <a:t> of those trace contents—and that echo decides</a:t>
            </a:r>
            <a:r>
              <a:rPr lang="en-US" baseline="0" dirty="0"/>
              <a:t> the response. Since the sum is weighted, highly similar and relevant traces get prioritized in the final echo, while dissimilar traces get de-emphasized and might not even factor into the echo at all.</a:t>
            </a: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4</a:t>
            </a:fld>
            <a:endParaRPr lang="en-US" dirty="0"/>
          </a:p>
        </p:txBody>
      </p:sp>
    </p:spTree>
    <p:extLst>
      <p:ext uri="{BB962C8B-B14F-4D97-AF65-F5344CB8AC3E}">
        <p14:creationId xmlns:p14="http://schemas.microsoft.com/office/powerpoint/2010/main" val="1882799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idea that connects Bayesian inference and exemplar models together is importance sampling. </a:t>
            </a:r>
            <a:endParaRPr lang="en-US" dirty="0"/>
          </a:p>
          <a:p>
            <a:endParaRPr lang="en-US" dirty="0"/>
          </a:p>
          <a:p>
            <a:r>
              <a:rPr lang="en-US" dirty="0"/>
              <a:t>Importance sampling is a standard way to approximate Bayesian inference – like in general, not just</a:t>
            </a:r>
            <a:r>
              <a:rPr lang="en-US" baseline="0" dirty="0"/>
              <a:t> in psychology or otherwise. You </a:t>
            </a:r>
            <a:r>
              <a:rPr lang="en-US" dirty="0"/>
              <a:t>draw a</a:t>
            </a:r>
            <a:r>
              <a:rPr lang="en-US" baseline="0" dirty="0"/>
              <a:t> piece of data </a:t>
            </a:r>
            <a:r>
              <a:rPr lang="en-US" dirty="0"/>
              <a:t>from a probability distribution (here, the prior, p(h)</a:t>
            </a:r>
            <a:r>
              <a:rPr lang="en-US" baseline="0" dirty="0"/>
              <a:t> </a:t>
            </a:r>
            <a:r>
              <a:rPr lang="en-US" dirty="0"/>
              <a:t>) and give each sample a weight based on how well it matches with your candidate hypothesis – the likelihood function representing P(data | hypothesis). You</a:t>
            </a:r>
            <a:r>
              <a:rPr lang="en-US" baseline="0" dirty="0"/>
              <a:t> can then </a:t>
            </a:r>
            <a:r>
              <a:rPr lang="en-US" dirty="0"/>
              <a:t>compute a weighted average across all your sampled observations. With many samples, this gives</a:t>
            </a:r>
            <a:r>
              <a:rPr lang="en-US" baseline="0" dirty="0"/>
              <a:t> you a good estimate of the probability of your hypothesis given your samples, p(hypothesis | data) from our Bayesian inference slide.</a:t>
            </a:r>
            <a:endParaRPr lang="en-US" dirty="0"/>
          </a:p>
          <a:p>
            <a:endParaRPr lang="en-US" dirty="0"/>
          </a:p>
          <a:p>
            <a:r>
              <a:rPr lang="en-US" dirty="0"/>
              <a:t>The paper shows that **exemplar models implement exactly that**: stored exemplars ≈ prior samples; similarity $s(\text{new},\text{old})$ ≈ likelihood $p(\text{data}\mid\text{hypothesis})$; and the exemplar “blend” is the importance‑sampling estimator for a posterior average. </a:t>
            </a:r>
          </a:p>
          <a:p>
            <a:endParaRPr lang="en-US" dirty="0"/>
          </a:p>
          <a:p>
            <a:r>
              <a:rPr lang="en-US" dirty="0"/>
              <a:t>Approximating Bayesian inference by importance sampling in this general case can also be interpreted as a kind of exemplar model, but here the stored exemplars correspond to hypotheses, rather than stimuli. As in a standard exemplar model, these hypotheses can be stored in memory as the consequence of previous learning events. Each hypothesis needs to be weighted by its likelihood, which no longer has a natural interpretation in terms of similarity but represents the degree to which a hypothesis is activated as a result of observing the data. Thus, all that is required for an agent to be able to approximate Bayesian inference in this way is to store hypotheses in memory as they are encountered and to activate those hypotheses in such a way that the hypotheses that best account for the data receive the most activation</a:t>
            </a:r>
          </a:p>
          <a:p>
            <a:endParaRPr lang="en-US" dirty="0"/>
          </a:p>
          <a:p>
            <a:r>
              <a:rPr lang="en-US" dirty="0"/>
              <a:t>Here’s the connection. A standard way to **approximate** Bayesian inference is **importance sampling**: draw a bunch of guesses from an easy distribution (here, the **prior**) and give each guess a weight based on how well it explains the data (the **likelihood**). Then compute a weighted average. The paper shows that **exemplar models implement exactly that**: stored exemplars ≈ prior samples; similarity $s(\text{new},\text{old})$ ≈ likelihood $p(\text{data}\mid\text{hypothesis})$; and the exemplar “blend” is the importance‑sampling estimator for a posterior average. (Eq. 12 and general Eq. 13; pp. 4–6.) :</a:t>
            </a:r>
            <a:r>
              <a:rPr lang="en-US" dirty="0" err="1"/>
              <a:t>contentReference</a:t>
            </a:r>
            <a:r>
              <a:rPr lang="en-US" dirty="0"/>
              <a:t>[oaicite:3]{index=3}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5</a:t>
            </a:fld>
            <a:endParaRPr lang="en-US" dirty="0"/>
          </a:p>
        </p:txBody>
      </p:sp>
    </p:spTree>
    <p:extLst>
      <p:ext uri="{BB962C8B-B14F-4D97-AF65-F5344CB8AC3E}">
        <p14:creationId xmlns:p14="http://schemas.microsoft.com/office/powerpoint/2010/main" val="821712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Listeners hear a noisy vowel and try to recover the **intended** sound. In a Bayesian view, they denoise by combining a **category‑shaped prior** over intended productions with how plausible the noisy signal is if that intention were true. The exemplar story says: store past vowel tokens; when a new sound arrives, activate stored tokens by acoustic **similarity** (which here plays the role of the likelihood), and average. With only **10–50** stored exemplars, the model reproduces the classic **magnet effect**—perceptual space compresses near category centers—and matches human multidimensional‑scaling data. See **Figure 3** (page 8). (</a:t>
            </a:r>
            <a:r>
              <a:rPr lang="en-US" dirty="0" err="1"/>
              <a:t>Eqs</a:t>
            </a:r>
            <a:r>
              <a:rPr lang="en-US" dirty="0"/>
              <a:t>. 14–16; pp. 7–8.) :</a:t>
            </a:r>
            <a:r>
              <a:rPr lang="en-US" dirty="0" err="1"/>
              <a:t>contentReference</a:t>
            </a:r>
            <a:r>
              <a:rPr lang="en-US" dirty="0"/>
              <a:t>[oaicite:6]{index=6}</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6</a:t>
            </a:fld>
            <a:endParaRPr lang="en-US" dirty="0"/>
          </a:p>
        </p:txBody>
      </p:sp>
    </p:spTree>
    <p:extLst>
      <p:ext uri="{BB962C8B-B14F-4D97-AF65-F5344CB8AC3E}">
        <p14:creationId xmlns:p14="http://schemas.microsoft.com/office/powerpoint/2010/main" val="3043020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emphasize:** “Same machinery, different domain: store candidate hypotheses, activate by fit to data, and average.” :</a:t>
            </a:r>
            <a:r>
              <a:rPr lang="en-US" dirty="0" err="1"/>
              <a:t>contentReference</a:t>
            </a:r>
            <a:r>
              <a:rPr lang="en-US" dirty="0"/>
              <a:t>[oaicite:9]{index=9}</a:t>
            </a:r>
          </a:p>
          <a:p>
            <a:endParaRPr lang="en-US" dirty="0"/>
          </a:p>
          <a:p>
            <a:endParaRPr lang="en-US" dirty="0"/>
          </a:p>
          <a:p>
            <a:r>
              <a:rPr lang="en-US" dirty="0"/>
              <a:t>Ask: “If object 0 has a property, how likely is object $x$ to have it?” Shepard showed these probabilities usually **fall off with distance** in psychological space. The Bayesian setup says: consider many possible “consequential regions” that could include 0, weigh each by how consistent it is with seeing 0, and average whether $x$ falls in that region. The exemplar version pre‑samples such regions and **weights** them by consistency with 0—again, importance sampling. With **20–100** samples, the exemplar method approximates the classic gradients for six different prior assumptions (see **Figure 4**, page 10). (</a:t>
            </a:r>
            <a:r>
              <a:rPr lang="en-US" dirty="0" err="1"/>
              <a:t>Eqs</a:t>
            </a:r>
            <a:r>
              <a:rPr lang="en-US" dirty="0"/>
              <a:t>. 17–18; pp. 9–10.) :</a:t>
            </a:r>
            <a:r>
              <a:rPr lang="en-US" dirty="0" err="1"/>
              <a:t>contentReference</a:t>
            </a:r>
            <a:r>
              <a:rPr lang="en-US" dirty="0"/>
              <a:t>[oaicite:8]{index=8}</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7</a:t>
            </a:fld>
            <a:endParaRPr lang="en-US" dirty="0"/>
          </a:p>
        </p:txBody>
      </p:sp>
    </p:spTree>
    <p:extLst>
      <p:ext uri="{BB962C8B-B14F-4D97-AF65-F5344CB8AC3E}">
        <p14:creationId xmlns:p14="http://schemas.microsoft.com/office/powerpoint/2010/main" val="2621293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8</a:t>
            </a:fld>
            <a:endParaRPr lang="en-US" dirty="0"/>
          </a:p>
        </p:txBody>
      </p:sp>
    </p:spTree>
    <p:extLst>
      <p:ext uri="{BB962C8B-B14F-4D97-AF65-F5344CB8AC3E}">
        <p14:creationId xmlns:p14="http://schemas.microsoft.com/office/powerpoint/2010/main" val="474485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11/10/25</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11/10/25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5072"/>
            <a:ext cx="7772400" cy="1102519"/>
          </a:xfrm>
        </p:spPr>
        <p:txBody>
          <a:bodyPr>
            <a:normAutofit/>
          </a:bodyPr>
          <a:lstStyle/>
          <a:p>
            <a:r>
              <a:rPr lang="en-US" dirty="0"/>
              <a:t>Exemplar models as a mechanism for performing Bayesian inference</a:t>
            </a:r>
            <a:endParaRPr dirty="0"/>
          </a:p>
        </p:txBody>
      </p:sp>
      <p:sp>
        <p:nvSpPr>
          <p:cNvPr id="3" name="Subtitle 2"/>
          <p:cNvSpPr>
            <a:spLocks noGrp="1"/>
          </p:cNvSpPr>
          <p:nvPr>
            <p:ph type="subTitle" idx="1"/>
          </p:nvPr>
        </p:nvSpPr>
        <p:spPr>
          <a:xfrm>
            <a:off x="1371600" y="3771900"/>
            <a:ext cx="6400800" cy="1314450"/>
          </a:xfrm>
        </p:spPr>
        <p:txBody>
          <a:bodyPr>
            <a:normAutofit/>
          </a:bodyPr>
          <a:lstStyle/>
          <a:p>
            <a:br>
              <a:rPr lang="en-US" dirty="0">
                <a:solidFill>
                  <a:schemeClr val="bg1"/>
                </a:solidFill>
              </a:rPr>
            </a:br>
            <a:br>
              <a:rPr lang="en-US" dirty="0">
                <a:solidFill>
                  <a:schemeClr val="bg1"/>
                </a:solidFill>
              </a:rPr>
            </a:br>
            <a:r>
              <a:rPr lang="en-US" dirty="0">
                <a:solidFill>
                  <a:schemeClr val="bg1"/>
                </a:solidFill>
              </a:rPr>
              <a:t>12 November 2025</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07FF-49D0-71C7-FE90-FCD09FB0CB34}"/>
              </a:ext>
            </a:extLst>
          </p:cNvPr>
          <p:cNvSpPr>
            <a:spLocks noGrp="1"/>
          </p:cNvSpPr>
          <p:nvPr>
            <p:ph type="title"/>
          </p:nvPr>
        </p:nvSpPr>
        <p:spPr/>
        <p:txBody>
          <a:bodyPr/>
          <a:lstStyle/>
          <a:p>
            <a:r>
              <a:rPr lang="en-US" dirty="0"/>
              <a:t>Why This Paper?</a:t>
            </a:r>
          </a:p>
        </p:txBody>
      </p:sp>
      <p:sp>
        <p:nvSpPr>
          <p:cNvPr id="3" name="Content Placeholder 2">
            <a:extLst>
              <a:ext uri="{FF2B5EF4-FFF2-40B4-BE49-F238E27FC236}">
                <a16:creationId xmlns:a16="http://schemas.microsoft.com/office/drawing/2014/main" id="{E3FC7060-C9DD-8AD7-C425-0D9F8DEBB9C6}"/>
              </a:ext>
            </a:extLst>
          </p:cNvPr>
          <p:cNvSpPr>
            <a:spLocks noGrp="1"/>
          </p:cNvSpPr>
          <p:nvPr>
            <p:ph idx="1"/>
          </p:nvPr>
        </p:nvSpPr>
        <p:spPr/>
        <p:txBody>
          <a:bodyPr/>
          <a:lstStyle/>
          <a:p>
            <a:r>
              <a:rPr lang="en-US" dirty="0"/>
              <a:t>Lots of Sanborn’s papers seem focus on idea that people sample information from memory to make judgments and choices</a:t>
            </a:r>
          </a:p>
          <a:p>
            <a:r>
              <a:rPr lang="en-US" dirty="0"/>
              <a:t>How psychologically-realistic sampling processes can implement probabilistic reasoning</a:t>
            </a:r>
          </a:p>
          <a:p>
            <a:r>
              <a:rPr lang="en-US" dirty="0"/>
              <a:t>Bridges </a:t>
            </a:r>
            <a:r>
              <a:rPr lang="en-US" b="1" dirty="0"/>
              <a:t>rational Bayesian models</a:t>
            </a:r>
            <a:r>
              <a:rPr lang="en-US" dirty="0"/>
              <a:t> and </a:t>
            </a:r>
            <a:r>
              <a:rPr lang="en-US" b="1" dirty="0"/>
              <a:t>psychological process models</a:t>
            </a:r>
            <a:r>
              <a:rPr lang="en-US" dirty="0"/>
              <a:t> in a clear and general way</a:t>
            </a:r>
          </a:p>
        </p:txBody>
      </p:sp>
    </p:spTree>
    <p:extLst>
      <p:ext uri="{BB962C8B-B14F-4D97-AF65-F5344CB8AC3E}">
        <p14:creationId xmlns:p14="http://schemas.microsoft.com/office/powerpoint/2010/main" val="2472201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B0A21-2A5E-7E8A-A6D7-DEAE95621DA6}"/>
              </a:ext>
            </a:extLst>
          </p:cNvPr>
          <p:cNvSpPr>
            <a:spLocks noGrp="1"/>
          </p:cNvSpPr>
          <p:nvPr>
            <p:ph type="title"/>
          </p:nvPr>
        </p:nvSpPr>
        <p:spPr/>
        <p:txBody>
          <a:bodyPr/>
          <a:lstStyle/>
          <a:p>
            <a:r>
              <a:rPr lang="en-US" dirty="0"/>
              <a:t>What is Bayesian Inference?</a:t>
            </a:r>
          </a:p>
        </p:txBody>
      </p:sp>
      <p:sp>
        <p:nvSpPr>
          <p:cNvPr id="3" name="Content Placeholder 2">
            <a:extLst>
              <a:ext uri="{FF2B5EF4-FFF2-40B4-BE49-F238E27FC236}">
                <a16:creationId xmlns:a16="http://schemas.microsoft.com/office/drawing/2014/main" id="{F3C49452-97CC-8543-CCED-8EF53A84355B}"/>
              </a:ext>
            </a:extLst>
          </p:cNvPr>
          <p:cNvSpPr>
            <a:spLocks noGrp="1"/>
          </p:cNvSpPr>
          <p:nvPr>
            <p:ph idx="1"/>
          </p:nvPr>
        </p:nvSpPr>
        <p:spPr>
          <a:xfrm>
            <a:off x="457200" y="1417639"/>
            <a:ext cx="8229600" cy="4525963"/>
          </a:xfrm>
        </p:spPr>
        <p:txBody>
          <a:bodyPr/>
          <a:lstStyle/>
          <a:p>
            <a:r>
              <a:rPr lang="en-US" dirty="0"/>
              <a:t>Think of </a:t>
            </a:r>
            <a:r>
              <a:rPr lang="en-US" b="1" dirty="0"/>
              <a:t>cognitive problems</a:t>
            </a:r>
            <a:r>
              <a:rPr lang="en-US" dirty="0"/>
              <a:t> as evaluations of a set of hypotheses about processes that could have produced observed data</a:t>
            </a:r>
          </a:p>
          <a:p>
            <a:r>
              <a:rPr lang="en-US" dirty="0"/>
              <a:t>For hypothesis </a:t>
            </a:r>
            <a:r>
              <a:rPr lang="en-US" i="1" dirty="0"/>
              <a:t>h</a:t>
            </a:r>
            <a:r>
              <a:rPr lang="en-US" dirty="0"/>
              <a:t> and data </a:t>
            </a:r>
            <a:r>
              <a:rPr lang="en-US" i="1" dirty="0"/>
              <a:t>d</a:t>
            </a:r>
            <a:r>
              <a:rPr lang="en-US" dirty="0"/>
              <a:t>, a learner encodes degree of belief about </a:t>
            </a:r>
            <a:r>
              <a:rPr lang="en-US" i="1" dirty="0"/>
              <a:t>h </a:t>
            </a:r>
            <a:r>
              <a:rPr lang="en-US" dirty="0"/>
              <a:t>before seeing </a:t>
            </a:r>
            <a:r>
              <a:rPr lang="en-US" i="1" dirty="0"/>
              <a:t>d </a:t>
            </a:r>
            <a:r>
              <a:rPr lang="en-US" dirty="0"/>
              <a:t>using a probability distribution </a:t>
            </a:r>
            <a:r>
              <a:rPr lang="en-US" i="1" dirty="0"/>
              <a:t>p(h) – </a:t>
            </a:r>
            <a:r>
              <a:rPr lang="en-US" dirty="0"/>
              <a:t>called the prior distribution</a:t>
            </a:r>
          </a:p>
          <a:p>
            <a:r>
              <a:rPr lang="en-US" dirty="0"/>
              <a:t>Probability of seeing </a:t>
            </a:r>
            <a:r>
              <a:rPr lang="en-US" i="1" dirty="0"/>
              <a:t>d </a:t>
            </a:r>
            <a:r>
              <a:rPr lang="en-US" dirty="0"/>
              <a:t>if </a:t>
            </a:r>
            <a:r>
              <a:rPr lang="en-US" i="1" dirty="0"/>
              <a:t>h </a:t>
            </a:r>
            <a:r>
              <a:rPr lang="en-US" dirty="0"/>
              <a:t>were true is </a:t>
            </a:r>
            <a:r>
              <a:rPr lang="en-US" i="1" dirty="0"/>
              <a:t>P(</a:t>
            </a:r>
            <a:r>
              <a:rPr lang="en-US" i="1" dirty="0" err="1"/>
              <a:t>d|h</a:t>
            </a:r>
            <a:r>
              <a:rPr lang="en-US" i="1" dirty="0"/>
              <a:t>) </a:t>
            </a:r>
            <a:r>
              <a:rPr lang="en-US" dirty="0"/>
              <a:t>-- the likelihood</a:t>
            </a:r>
            <a:endParaRPr lang="en-US" i="1" dirty="0"/>
          </a:p>
          <a:p>
            <a:r>
              <a:rPr lang="en-US" dirty="0"/>
              <a:t>Belief in </a:t>
            </a:r>
            <a:r>
              <a:rPr lang="en-US" i="1" dirty="0"/>
              <a:t>h </a:t>
            </a:r>
            <a:r>
              <a:rPr lang="en-US" dirty="0"/>
              <a:t>after seeing </a:t>
            </a:r>
            <a:r>
              <a:rPr lang="en-US" i="1" dirty="0"/>
              <a:t>d </a:t>
            </a:r>
            <a:r>
              <a:rPr lang="en-US" dirty="0"/>
              <a:t>define the posterior distribution:</a:t>
            </a:r>
          </a:p>
        </p:txBody>
      </p:sp>
      <p:pic>
        <p:nvPicPr>
          <p:cNvPr id="8" name="Picture 7">
            <a:extLst>
              <a:ext uri="{FF2B5EF4-FFF2-40B4-BE49-F238E27FC236}">
                <a16:creationId xmlns:a16="http://schemas.microsoft.com/office/drawing/2014/main" id="{F38A75A5-69B6-B5F2-D952-CD2DEE231729}"/>
              </a:ext>
            </a:extLst>
          </p:cNvPr>
          <p:cNvPicPr>
            <a:picLocks noChangeAspect="1"/>
          </p:cNvPicPr>
          <p:nvPr/>
        </p:nvPicPr>
        <p:blipFill>
          <a:blip r:embed="rId3"/>
          <a:stretch>
            <a:fillRect/>
          </a:stretch>
        </p:blipFill>
        <p:spPr>
          <a:xfrm>
            <a:off x="1044059" y="5072061"/>
            <a:ext cx="6375400" cy="1511300"/>
          </a:xfrm>
          <a:prstGeom prst="rect">
            <a:avLst/>
          </a:prstGeom>
        </p:spPr>
      </p:pic>
    </p:spTree>
    <p:extLst>
      <p:ext uri="{BB962C8B-B14F-4D97-AF65-F5344CB8AC3E}">
        <p14:creationId xmlns:p14="http://schemas.microsoft.com/office/powerpoint/2010/main" val="2372869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134C-B0F5-5AED-D3BF-473DA41C48B1}"/>
              </a:ext>
            </a:extLst>
          </p:cNvPr>
          <p:cNvSpPr>
            <a:spLocks noGrp="1"/>
          </p:cNvSpPr>
          <p:nvPr>
            <p:ph type="title"/>
          </p:nvPr>
        </p:nvSpPr>
        <p:spPr/>
        <p:txBody>
          <a:bodyPr/>
          <a:lstStyle/>
          <a:p>
            <a:r>
              <a:rPr lang="en-US" dirty="0"/>
              <a:t>What Are Exemplar Models?</a:t>
            </a:r>
          </a:p>
        </p:txBody>
      </p:sp>
      <p:sp>
        <p:nvSpPr>
          <p:cNvPr id="3" name="Content Placeholder 2">
            <a:extLst>
              <a:ext uri="{FF2B5EF4-FFF2-40B4-BE49-F238E27FC236}">
                <a16:creationId xmlns:a16="http://schemas.microsoft.com/office/drawing/2014/main" id="{5F31E001-E0F3-5236-9AB0-4F321455B81B}"/>
              </a:ext>
            </a:extLst>
          </p:cNvPr>
          <p:cNvSpPr>
            <a:spLocks noGrp="1"/>
          </p:cNvSpPr>
          <p:nvPr>
            <p:ph idx="1"/>
          </p:nvPr>
        </p:nvSpPr>
        <p:spPr>
          <a:xfrm>
            <a:off x="182136" y="1385752"/>
            <a:ext cx="4114801" cy="5312414"/>
          </a:xfrm>
        </p:spPr>
        <p:txBody>
          <a:bodyPr>
            <a:normAutofit/>
          </a:bodyPr>
          <a:lstStyle/>
          <a:p>
            <a:r>
              <a:rPr lang="en-US" dirty="0"/>
              <a:t>Store one trace per experience</a:t>
            </a:r>
          </a:p>
          <a:p>
            <a:r>
              <a:rPr lang="en-US" dirty="0"/>
              <a:t>During retrieval, probes contact each trace activating each based on their </a:t>
            </a:r>
            <a:r>
              <a:rPr lang="en-US" b="1" dirty="0"/>
              <a:t>similarity</a:t>
            </a:r>
          </a:p>
          <a:p>
            <a:r>
              <a:rPr lang="en-US" dirty="0"/>
              <a:t>Echo content is a sum of traces, weighted by activation!</a:t>
            </a:r>
          </a:p>
          <a:p>
            <a:r>
              <a:rPr lang="en-US" dirty="0"/>
              <a:t>An exponent scaling parameter boosts activations to prioritize highly similar traces</a:t>
            </a:r>
          </a:p>
        </p:txBody>
      </p:sp>
      <p:pic>
        <p:nvPicPr>
          <p:cNvPr id="4" name="Picture 3">
            <a:extLst>
              <a:ext uri="{FF2B5EF4-FFF2-40B4-BE49-F238E27FC236}">
                <a16:creationId xmlns:a16="http://schemas.microsoft.com/office/drawing/2014/main" id="{23A75FEE-CEBF-C1A3-0F3A-5159BF8E86D9}"/>
              </a:ext>
            </a:extLst>
          </p:cNvPr>
          <p:cNvPicPr>
            <a:picLocks noChangeAspect="1"/>
          </p:cNvPicPr>
          <p:nvPr/>
        </p:nvPicPr>
        <p:blipFill>
          <a:blip r:embed="rId3"/>
          <a:stretch>
            <a:fillRect/>
          </a:stretch>
        </p:blipFill>
        <p:spPr>
          <a:xfrm>
            <a:off x="4471591" y="1385752"/>
            <a:ext cx="4490273" cy="4969727"/>
          </a:xfrm>
          <a:prstGeom prst="rect">
            <a:avLst/>
          </a:prstGeom>
        </p:spPr>
      </p:pic>
    </p:spTree>
    <p:extLst>
      <p:ext uri="{BB962C8B-B14F-4D97-AF65-F5344CB8AC3E}">
        <p14:creationId xmlns:p14="http://schemas.microsoft.com/office/powerpoint/2010/main" val="2386308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90792-3AA5-DD15-C0A7-C779CBE97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D7FB8-D9D7-9D07-F2DE-5328BD1958DD}"/>
              </a:ext>
            </a:extLst>
          </p:cNvPr>
          <p:cNvSpPr>
            <a:spLocks noGrp="1"/>
          </p:cNvSpPr>
          <p:nvPr>
            <p:ph type="title"/>
          </p:nvPr>
        </p:nvSpPr>
        <p:spPr/>
        <p:txBody>
          <a:bodyPr>
            <a:normAutofit/>
          </a:bodyPr>
          <a:lstStyle/>
          <a:p>
            <a:r>
              <a:rPr lang="en-US" dirty="0"/>
              <a:t>Exemplar Models Implement Importance Sampling, Which Approximates Inference</a:t>
            </a:r>
          </a:p>
        </p:txBody>
      </p:sp>
      <p:sp>
        <p:nvSpPr>
          <p:cNvPr id="3" name="Content Placeholder 2">
            <a:extLst>
              <a:ext uri="{FF2B5EF4-FFF2-40B4-BE49-F238E27FC236}">
                <a16:creationId xmlns:a16="http://schemas.microsoft.com/office/drawing/2014/main" id="{D7C48926-8020-6376-C72D-D442D702E503}"/>
              </a:ext>
            </a:extLst>
          </p:cNvPr>
          <p:cNvSpPr>
            <a:spLocks noGrp="1"/>
          </p:cNvSpPr>
          <p:nvPr>
            <p:ph idx="1"/>
          </p:nvPr>
        </p:nvSpPr>
        <p:spPr>
          <a:xfrm>
            <a:off x="0" y="1669776"/>
            <a:ext cx="9144000" cy="1938128"/>
          </a:xfrm>
        </p:spPr>
        <p:txBody>
          <a:bodyPr>
            <a:normAutofit fontScale="92500" lnSpcReduction="10000"/>
          </a:bodyPr>
          <a:lstStyle/>
          <a:p>
            <a:pPr marL="0" indent="0" algn="ctr">
              <a:buNone/>
            </a:pPr>
            <a:r>
              <a:rPr lang="en-US" dirty="0"/>
              <a:t>Importance Sampling:</a:t>
            </a:r>
          </a:p>
          <a:p>
            <a:pPr marL="457200" indent="-457200" algn="ctr">
              <a:buAutoNum type="alphaUcParenR"/>
            </a:pPr>
            <a:r>
              <a:rPr lang="en-US" dirty="0"/>
              <a:t>repeatedly sample possible guesses from your prior distribution p(x*)</a:t>
            </a:r>
          </a:p>
          <a:p>
            <a:pPr marL="457200" indent="-457200" algn="ctr">
              <a:buAutoNum type="alphaUcParenR"/>
            </a:pPr>
            <a:r>
              <a:rPr lang="en-US" dirty="0"/>
              <a:t>Give each guess a weight based on how well it explains the data </a:t>
            </a:r>
            <a:r>
              <a:rPr lang="en-US" i="1" dirty="0"/>
              <a:t>P(</a:t>
            </a:r>
            <a:r>
              <a:rPr lang="en-US" dirty="0" err="1"/>
              <a:t>x|x</a:t>
            </a:r>
            <a:r>
              <a:rPr lang="en-US" baseline="-25000" dirty="0" err="1"/>
              <a:t>j</a:t>
            </a:r>
            <a:r>
              <a:rPr lang="en-US" i="1" dirty="0"/>
              <a:t>*</a:t>
            </a:r>
            <a:r>
              <a:rPr lang="en-US" dirty="0"/>
              <a:t>)</a:t>
            </a:r>
          </a:p>
          <a:p>
            <a:pPr marL="457200" indent="-457200" algn="ctr">
              <a:buAutoNum type="alphaUcParenR"/>
            </a:pPr>
            <a:r>
              <a:rPr lang="en-US" dirty="0"/>
              <a:t>computing a weighted average over guesses estimates E(x*|x), an updated belief distribution across guesses!</a:t>
            </a:r>
          </a:p>
        </p:txBody>
      </p:sp>
      <p:pic>
        <p:nvPicPr>
          <p:cNvPr id="4" name="Picture 3">
            <a:extLst>
              <a:ext uri="{FF2B5EF4-FFF2-40B4-BE49-F238E27FC236}">
                <a16:creationId xmlns:a16="http://schemas.microsoft.com/office/drawing/2014/main" id="{FC9043AF-6986-D49F-1DD9-CDA755E4AF20}"/>
              </a:ext>
            </a:extLst>
          </p:cNvPr>
          <p:cNvPicPr>
            <a:picLocks noChangeAspect="1"/>
          </p:cNvPicPr>
          <p:nvPr/>
        </p:nvPicPr>
        <p:blipFill>
          <a:blip r:embed="rId3"/>
          <a:stretch>
            <a:fillRect/>
          </a:stretch>
        </p:blipFill>
        <p:spPr>
          <a:xfrm>
            <a:off x="457200" y="3607904"/>
            <a:ext cx="8229600" cy="2645842"/>
          </a:xfrm>
          <a:prstGeom prst="rect">
            <a:avLst/>
          </a:prstGeom>
        </p:spPr>
      </p:pic>
    </p:spTree>
    <p:extLst>
      <p:ext uri="{BB962C8B-B14F-4D97-AF65-F5344CB8AC3E}">
        <p14:creationId xmlns:p14="http://schemas.microsoft.com/office/powerpoint/2010/main" val="291585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D0F0A-C781-14C5-540D-28889BFE6C32}"/>
              </a:ext>
            </a:extLst>
          </p:cNvPr>
          <p:cNvSpPr>
            <a:spLocks noGrp="1"/>
          </p:cNvSpPr>
          <p:nvPr>
            <p:ph type="title"/>
          </p:nvPr>
        </p:nvSpPr>
        <p:spPr/>
        <p:txBody>
          <a:bodyPr/>
          <a:lstStyle/>
          <a:p>
            <a:r>
              <a:rPr lang="en-US" dirty="0"/>
              <a:t>Demo 1: Perception &amp; Generalization</a:t>
            </a:r>
          </a:p>
        </p:txBody>
      </p:sp>
      <p:sp>
        <p:nvSpPr>
          <p:cNvPr id="5" name="Content Placeholder 4">
            <a:extLst>
              <a:ext uri="{FF2B5EF4-FFF2-40B4-BE49-F238E27FC236}">
                <a16:creationId xmlns:a16="http://schemas.microsoft.com/office/drawing/2014/main" id="{153CF343-FE6F-354D-83B6-57A00A228EFE}"/>
              </a:ext>
            </a:extLst>
          </p:cNvPr>
          <p:cNvSpPr>
            <a:spLocks noGrp="1"/>
          </p:cNvSpPr>
          <p:nvPr>
            <p:ph sz="half" idx="1"/>
          </p:nvPr>
        </p:nvSpPr>
        <p:spPr>
          <a:xfrm>
            <a:off x="114958" y="1600200"/>
            <a:ext cx="3308726" cy="5257799"/>
          </a:xfrm>
        </p:spPr>
        <p:txBody>
          <a:bodyPr>
            <a:normAutofit lnSpcReduction="10000"/>
          </a:bodyPr>
          <a:lstStyle/>
          <a:p>
            <a:r>
              <a:rPr lang="en-US" dirty="0"/>
              <a:t>Task: hear a noisy vowel and try to recover the *intended* sound</a:t>
            </a:r>
          </a:p>
          <a:p>
            <a:r>
              <a:rPr lang="en-US" dirty="0"/>
              <a:t>Bayesian view: combine a category-shaped prior over intended productions with how plausible the noisy signal is if that intention were true</a:t>
            </a:r>
          </a:p>
          <a:p>
            <a:r>
              <a:rPr lang="en-US" dirty="0"/>
              <a:t>Exemplar view: store past vowel tokens, activate based on similarity to new sound, average: your estimate of the denoised sound</a:t>
            </a:r>
          </a:p>
        </p:txBody>
      </p:sp>
      <p:pic>
        <p:nvPicPr>
          <p:cNvPr id="7" name="Content Placeholder 6">
            <a:extLst>
              <a:ext uri="{FF2B5EF4-FFF2-40B4-BE49-F238E27FC236}">
                <a16:creationId xmlns:a16="http://schemas.microsoft.com/office/drawing/2014/main" id="{3F0F4D14-8BE4-B762-EF43-7AC336215EA3}"/>
              </a:ext>
            </a:extLst>
          </p:cNvPr>
          <p:cNvPicPr>
            <a:picLocks noGrp="1" noChangeAspect="1"/>
          </p:cNvPicPr>
          <p:nvPr>
            <p:ph sz="half" idx="2"/>
          </p:nvPr>
        </p:nvPicPr>
        <p:blipFill>
          <a:blip r:embed="rId3"/>
          <a:stretch>
            <a:fillRect/>
          </a:stretch>
        </p:blipFill>
        <p:spPr>
          <a:xfrm>
            <a:off x="3785191" y="1933921"/>
            <a:ext cx="5243851" cy="3509949"/>
          </a:xfrm>
          <a:prstGeom prst="rect">
            <a:avLst/>
          </a:prstGeom>
        </p:spPr>
      </p:pic>
    </p:spTree>
    <p:extLst>
      <p:ext uri="{BB962C8B-B14F-4D97-AF65-F5344CB8AC3E}">
        <p14:creationId xmlns:p14="http://schemas.microsoft.com/office/powerpoint/2010/main" val="2938397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BC09-F4B4-76BA-A3F3-D6734E166244}"/>
              </a:ext>
            </a:extLst>
          </p:cNvPr>
          <p:cNvSpPr>
            <a:spLocks noGrp="1"/>
          </p:cNvSpPr>
          <p:nvPr>
            <p:ph type="title"/>
          </p:nvPr>
        </p:nvSpPr>
        <p:spPr>
          <a:xfrm>
            <a:off x="0" y="160336"/>
            <a:ext cx="8229600" cy="1143000"/>
          </a:xfrm>
        </p:spPr>
        <p:txBody>
          <a:bodyPr/>
          <a:lstStyle/>
          <a:p>
            <a:pPr algn="l"/>
            <a:r>
              <a:rPr lang="en-US" dirty="0"/>
              <a:t>Demo 2: Prediction From Similarity</a:t>
            </a:r>
          </a:p>
        </p:txBody>
      </p:sp>
      <p:sp>
        <p:nvSpPr>
          <p:cNvPr id="4" name="Content Placeholder 3">
            <a:extLst>
              <a:ext uri="{FF2B5EF4-FFF2-40B4-BE49-F238E27FC236}">
                <a16:creationId xmlns:a16="http://schemas.microsoft.com/office/drawing/2014/main" id="{844142E2-3302-6672-12F8-0FAABFD5063C}"/>
              </a:ext>
            </a:extLst>
          </p:cNvPr>
          <p:cNvSpPr>
            <a:spLocks noGrp="1"/>
          </p:cNvSpPr>
          <p:nvPr>
            <p:ph sz="half" idx="1"/>
          </p:nvPr>
        </p:nvSpPr>
        <p:spPr>
          <a:xfrm>
            <a:off x="200247" y="1600201"/>
            <a:ext cx="4295553" cy="5097463"/>
          </a:xfrm>
        </p:spPr>
        <p:txBody>
          <a:bodyPr>
            <a:normAutofit/>
          </a:bodyPr>
          <a:lstStyle/>
          <a:p>
            <a:r>
              <a:rPr lang="en-US" dirty="0"/>
              <a:t>Ask: “If object 0 has a property, how likely is object x to have it?” </a:t>
            </a:r>
          </a:p>
          <a:p>
            <a:r>
              <a:rPr lang="en-US" dirty="0"/>
              <a:t>Shepard showed these probabilities usually fall off with distance* in psychological space.</a:t>
            </a:r>
          </a:p>
          <a:p>
            <a:r>
              <a:rPr lang="en-US" dirty="0"/>
              <a:t>Bayesian view: Consider how many possible consequential regions could include 0, weigh consistency with seeing 0, average whether x falls in that region</a:t>
            </a:r>
          </a:p>
          <a:p>
            <a:r>
              <a:rPr lang="en-US" dirty="0"/>
              <a:t>Exemplar view: sample regions, weigh them by consistency with 0, take weighted sum to form guess!</a:t>
            </a:r>
          </a:p>
          <a:p>
            <a:r>
              <a:rPr lang="en-US" dirty="0"/>
              <a:t>Approx improves with samples!</a:t>
            </a:r>
          </a:p>
        </p:txBody>
      </p:sp>
      <p:pic>
        <p:nvPicPr>
          <p:cNvPr id="6" name="Content Placeholder 5">
            <a:extLst>
              <a:ext uri="{FF2B5EF4-FFF2-40B4-BE49-F238E27FC236}">
                <a16:creationId xmlns:a16="http://schemas.microsoft.com/office/drawing/2014/main" id="{2357CD11-0CA9-3015-D022-33FF7D2AAC0F}"/>
              </a:ext>
            </a:extLst>
          </p:cNvPr>
          <p:cNvPicPr>
            <a:picLocks noGrp="1" noChangeAspect="1"/>
          </p:cNvPicPr>
          <p:nvPr>
            <p:ph sz="half" idx="2"/>
          </p:nvPr>
        </p:nvPicPr>
        <p:blipFill>
          <a:blip r:embed="rId3"/>
          <a:stretch>
            <a:fillRect/>
          </a:stretch>
        </p:blipFill>
        <p:spPr>
          <a:xfrm>
            <a:off x="4848447" y="1004475"/>
            <a:ext cx="4295553" cy="5853525"/>
          </a:xfrm>
          <a:prstGeom prst="rect">
            <a:avLst/>
          </a:prstGeom>
        </p:spPr>
      </p:pic>
    </p:spTree>
    <p:extLst>
      <p:ext uri="{BB962C8B-B14F-4D97-AF65-F5344CB8AC3E}">
        <p14:creationId xmlns:p14="http://schemas.microsoft.com/office/powerpoint/2010/main" val="1729212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92D9-043D-402E-BC10-AA1B58904BFA}"/>
              </a:ext>
            </a:extLst>
          </p:cNvPr>
          <p:cNvSpPr>
            <a:spLocks noGrp="1"/>
          </p:cNvSpPr>
          <p:nvPr>
            <p:ph type="title"/>
          </p:nvPr>
        </p:nvSpPr>
        <p:spPr/>
        <p:txBody>
          <a:bodyPr/>
          <a:lstStyle/>
          <a:p>
            <a:r>
              <a:rPr lang="en-US" dirty="0"/>
              <a:t>Takeaways (and Limitations)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DC7852-E38E-3233-AC07-ACD8DD91DCF2}"/>
                  </a:ext>
                </a:extLst>
              </p:cNvPr>
              <p:cNvSpPr>
                <a:spLocks noGrp="1"/>
              </p:cNvSpPr>
              <p:nvPr>
                <p:ph idx="1"/>
              </p:nvPr>
            </p:nvSpPr>
            <p:spPr/>
            <p:txBody>
              <a:bodyPr/>
              <a:lstStyle/>
              <a:p>
                <a:r>
                  <a:rPr lang="en-US" b="1" dirty="0"/>
                  <a:t>Big idea</a:t>
                </a:r>
                <a:r>
                  <a:rPr lang="en-US" dirty="0"/>
                  <a:t>: Exemplar models are rational process models—a psychologically plausible implementation of approximate Bayes via importance sampling. </a:t>
                </a:r>
              </a:p>
              <a:p>
                <a:r>
                  <a:rPr lang="en-US" b="1" dirty="0"/>
                  <a:t>Works when</a:t>
                </a:r>
                <a:r>
                  <a:rPr lang="en-US" dirty="0"/>
                  <a:t>: data are sparse/noisy and prior–posterior overlap is decent</a:t>
                </a:r>
              </a:p>
              <a:p>
                <a:r>
                  <a:rPr lang="en-US" b="1" dirty="0"/>
                  <a:t>Watch the assumptions:</a:t>
                </a:r>
                <a:r>
                  <a:rPr lang="en-US" dirty="0"/>
                  <a:t> (</a:t>
                </a:r>
                <a:r>
                  <a:rPr lang="en-US" dirty="0" err="1"/>
                  <a:t>i</a:t>
                </a:r>
                <a:r>
                  <a:rPr lang="en-US" dirty="0"/>
                  <a:t>) exemplars ≈ </a:t>
                </a:r>
                <a:r>
                  <a:rPr lang="en-US" b="1" dirty="0"/>
                  <a:t>prior samples</a:t>
                </a:r>
                <a:r>
                  <a:rPr lang="en-US" dirty="0"/>
                  <a:t> (or use proposal </a:t>
                </a:r>
                <a14:m>
                  <m:oMath xmlns:m="http://schemas.openxmlformats.org/officeDocument/2006/math">
                    <m:r>
                      <a:rPr lang="en-US" i="1"/>
                      <m:t>𝑞</m:t>
                    </m:r>
                  </m:oMath>
                </a14:m>
                <a:r>
                  <a:rPr lang="en-US" dirty="0"/>
                  <a:t>with </a:t>
                </a:r>
                <a14:m>
                  <m:oMath xmlns:m="http://schemas.openxmlformats.org/officeDocument/2006/math">
                    <m:r>
                      <a:rPr lang="en-US" i="1"/>
                      <m:t>𝑝</m:t>
                    </m:r>
                    <m:r>
                      <a:rPr lang="en-US"/>
                      <m:t>/</m:t>
                    </m:r>
                    <m:r>
                      <a:rPr lang="en-US" i="1"/>
                      <m:t>𝑞</m:t>
                    </m:r>
                  </m:oMath>
                </a14:m>
                <a:r>
                  <a:rPr lang="en-US" dirty="0"/>
                  <a:t> reweighting), (ii) similarity ≈ </a:t>
                </a:r>
                <a:r>
                  <a:rPr lang="en-US" b="1" dirty="0"/>
                  <a:t>likelihood</a:t>
                </a:r>
                <a:r>
                  <a:rPr lang="en-US" dirty="0"/>
                  <a:t>; violations break the equivalence.</a:t>
                </a:r>
              </a:p>
              <a:p>
                <a:r>
                  <a:rPr lang="en-US" b="1" dirty="0"/>
                  <a:t>Scope:</a:t>
                </a:r>
                <a:r>
                  <a:rPr lang="en-US" dirty="0"/>
                  <a:t> Static hypothesis spaces</a:t>
                </a:r>
              </a:p>
            </p:txBody>
          </p:sp>
        </mc:Choice>
        <mc:Fallback>
          <p:sp>
            <p:nvSpPr>
              <p:cNvPr id="3" name="Content Placeholder 2">
                <a:extLst>
                  <a:ext uri="{FF2B5EF4-FFF2-40B4-BE49-F238E27FC236}">
                    <a16:creationId xmlns:a16="http://schemas.microsoft.com/office/drawing/2014/main" id="{77DC7852-E38E-3233-AC07-ACD8DD91DCF2}"/>
                  </a:ext>
                </a:extLst>
              </p:cNvPr>
              <p:cNvSpPr>
                <a:spLocks noGrp="1" noRot="1" noChangeAspect="1" noMove="1" noResize="1" noEditPoints="1" noAdjustHandles="1" noChangeArrowheads="1" noChangeShapeType="1" noTextEdit="1"/>
              </p:cNvSpPr>
              <p:nvPr>
                <p:ph idx="1"/>
              </p:nvPr>
            </p:nvSpPr>
            <p:spPr>
              <a:blipFill>
                <a:blip r:embed="rId3"/>
                <a:stretch>
                  <a:fillRect l="-1080" t="-1401" r="-1235"/>
                </a:stretch>
              </a:blipFill>
            </p:spPr>
            <p:txBody>
              <a:bodyPr/>
              <a:lstStyle/>
              <a:p>
                <a:r>
                  <a:rPr lang="en-US">
                    <a:noFill/>
                  </a:rPr>
                  <a:t> </a:t>
                </a:r>
              </a:p>
            </p:txBody>
          </p:sp>
        </mc:Fallback>
      </mc:AlternateContent>
    </p:spTree>
    <p:extLst>
      <p:ext uri="{BB962C8B-B14F-4D97-AF65-F5344CB8AC3E}">
        <p14:creationId xmlns:p14="http://schemas.microsoft.com/office/powerpoint/2010/main" val="229584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66127</TotalTime>
  <Words>1629</Words>
  <Application>Microsoft Macintosh PowerPoint</Application>
  <PresentationFormat>On-screen Show (4:3)</PresentationFormat>
  <Paragraphs>76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Consolas</vt:lpstr>
      <vt:lpstr>Office Theme</vt:lpstr>
      <vt:lpstr>Exemplar models as a mechanism for performing Bayesian inference</vt:lpstr>
      <vt:lpstr>Why This Paper?</vt:lpstr>
      <vt:lpstr>What is Bayesian Inference?</vt:lpstr>
      <vt:lpstr>What Are Exemplar Models?</vt:lpstr>
      <vt:lpstr>Exemplar Models Implement Importance Sampling, Which Approximates Inference</vt:lpstr>
      <vt:lpstr>Demo 1: Perception &amp; Generalization</vt:lpstr>
      <vt:lpstr>Demo 2: Prediction From Similarity</vt:lpstr>
      <vt:lpstr>Takeaways (and Limitations)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Problems for the Retrieved Context Account of Repetition Effects in Free Recall</dc:title>
  <dc:creator>Jordan Gunn</dc:creator>
  <cp:keywords/>
  <cp:lastModifiedBy>Jordan Gunn</cp:lastModifiedBy>
  <cp:revision>10</cp:revision>
  <dcterms:created xsi:type="dcterms:W3CDTF">2023-11-28T14:31:23Z</dcterms:created>
  <dcterms:modified xsi:type="dcterms:W3CDTF">2025-11-16T20:07:25Z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