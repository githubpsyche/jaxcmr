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61" r:id="rId5"/>
    <p:sldId id="260" r:id="rId6"/>
    <p:sldId id="262" r:id="rId7"/>
    <p:sldId id="259" r:id="rId8"/>
    <p:sldId id="264" r:id="rId9"/>
    <p:sldId id="265" r:id="rId10"/>
    <p:sldId id="269" r:id="rId11"/>
    <p:sldId id="267" r:id="rId12"/>
    <p:sldId id="266" r:id="rId13"/>
    <p:sldId id="270" r:id="rId14"/>
    <p:sldId id="271" r:id="rId15"/>
    <p:sldId id="272"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1185" autoAdjust="0"/>
    <p:restoredTop sz="60136" autoAdjust="0"/>
  </p:normalViewPr>
  <p:slideViewPr>
    <p:cSldViewPr snapToGrid="0" snapToObjects="1">
      <p:cViewPr varScale="1">
        <p:scale>
          <a:sx n="123" d="100"/>
          <a:sy n="123" d="100"/>
        </p:scale>
        <p:origin x="1576" y="184"/>
      </p:cViewPr>
      <p:guideLst>
        <p:guide orient="horz" pos="2160"/>
        <p:guide pos="2880"/>
      </p:guideLst>
    </p:cSldViewPr>
  </p:slideViewPr>
  <p:outlineViewPr>
    <p:cViewPr>
      <p:scale>
        <a:sx n="33" d="100"/>
        <a:sy n="33" d="100"/>
      </p:scale>
      <p:origin x="0" y="-32760"/>
    </p:cViewPr>
  </p:outlineViewPr>
  <p:notesTextViewPr>
    <p:cViewPr>
      <p:scale>
        <a:sx n="145" d="100"/>
        <a:sy n="145"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984AA6-6FD4-4B2D-BE97-CD865C409230}" type="datetimeFigureOut">
              <a:rPr lang="en-US" smtClean="0"/>
              <a:t>1/15/26</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062F8D-6015-4186-952A-87493F61A5D5}" type="slidenum">
              <a:rPr lang="en-US" smtClean="0"/>
              <a:t>‹#›</a:t>
            </a:fld>
            <a:endParaRPr lang="en-US" dirty="0"/>
          </a:p>
        </p:txBody>
      </p:sp>
    </p:spTree>
    <p:extLst>
      <p:ext uri="{BB962C8B-B14F-4D97-AF65-F5344CB8AC3E}">
        <p14:creationId xmlns:p14="http://schemas.microsoft.com/office/powerpoint/2010/main" val="1927541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b="0" dirty="0">
              <a:solidFill>
                <a:srgbClr val="D1D5DB"/>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47062F8D-6015-4186-952A-87493F61A5D5}" type="slidenum">
              <a:rPr lang="en-US" smtClean="0"/>
              <a:t>1</a:t>
            </a:fld>
            <a:endParaRPr lang="en-US" dirty="0"/>
          </a:p>
        </p:txBody>
      </p:sp>
    </p:spTree>
    <p:extLst>
      <p:ext uri="{BB962C8B-B14F-4D97-AF65-F5344CB8AC3E}">
        <p14:creationId xmlns:p14="http://schemas.microsoft.com/office/powerpoint/2010/main" val="3674454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authors begin with a simple observation.</a:t>
            </a:r>
            <a:br>
              <a:rPr lang="en-US" dirty="0"/>
            </a:br>
            <a:r>
              <a:rPr lang="en-US" dirty="0"/>
              <a:t>During pauses and rest, hippocampal activity can form rapid sequences.</a:t>
            </a:r>
            <a:br>
              <a:rPr lang="en-US" dirty="0"/>
            </a:br>
            <a:r>
              <a:rPr lang="en-US" dirty="0"/>
              <a:t>In spatial tasks, those sequences often look like trajectories through locations.</a:t>
            </a:r>
            <a:br>
              <a:rPr lang="en-US" dirty="0"/>
            </a:br>
            <a:r>
              <a:rPr lang="en-US" dirty="0"/>
              <a:t>That is already striking because it suggests an organized offline process, not just static storage.</a:t>
            </a:r>
            <a:br>
              <a:rPr lang="en-US" dirty="0"/>
            </a:br>
            <a:r>
              <a:rPr lang="en-US" dirty="0"/>
              <a:t>The second observation is that replay is selective.</a:t>
            </a:r>
            <a:br>
              <a:rPr lang="en-US" dirty="0"/>
            </a:br>
            <a:r>
              <a:rPr lang="en-US" dirty="0"/>
              <a:t>Some paths and locations show up a lot, while others show up rarely, even when many experiences are available.</a:t>
            </a:r>
            <a:br>
              <a:rPr lang="en-US" dirty="0"/>
            </a:br>
            <a:r>
              <a:rPr lang="en-US" dirty="0"/>
              <a:t>So the scientific target is not "does replay exist."</a:t>
            </a:r>
            <a:br>
              <a:rPr lang="en-US" dirty="0"/>
            </a:br>
            <a:r>
              <a:rPr lang="en-US" dirty="0"/>
              <a:t>The target is "what principle determines which experiences get replayed."</a:t>
            </a:r>
            <a:br>
              <a:rPr lang="en-US" dirty="0"/>
            </a:br>
            <a:br>
              <a:rPr lang="en-US" dirty="0"/>
            </a:br>
            <a:r>
              <a:rPr lang="en-US" dirty="0"/>
              <a:t>As you listen, keep two questions active.</a:t>
            </a:r>
            <a:br>
              <a:rPr lang="en-US" dirty="0"/>
            </a:br>
            <a:r>
              <a:rPr lang="en-US" dirty="0"/>
              <a:t>What could replay be updating in the brain?</a:t>
            </a:r>
            <a:br>
              <a:rPr lang="en-US" dirty="0"/>
            </a:br>
            <a:r>
              <a:rPr lang="en-US" dirty="0"/>
              <a:t>And why might some updates be worth doing before others?</a:t>
            </a:r>
          </a:p>
          <a:p>
            <a:endParaRPr lang="en-US" dirty="0"/>
          </a:p>
          <a:p>
            <a:r>
              <a:rPr lang="en-US" dirty="0"/>
              <a:t>replay of nonlocal trajectories during sharp-wave ripples in hippocampal place cells1–6 (and similar events elsewhere7–9)</a:t>
            </a:r>
          </a:p>
        </p:txBody>
      </p:sp>
      <p:sp>
        <p:nvSpPr>
          <p:cNvPr id="4" name="Slide Number Placeholder 3"/>
          <p:cNvSpPr>
            <a:spLocks noGrp="1"/>
          </p:cNvSpPr>
          <p:nvPr>
            <p:ph type="sldNum" sz="quarter" idx="5"/>
          </p:nvPr>
        </p:nvSpPr>
        <p:spPr/>
        <p:txBody>
          <a:bodyPr/>
          <a:lstStyle/>
          <a:p>
            <a:fld id="{47062F8D-6015-4186-952A-87493F61A5D5}" type="slidenum">
              <a:rPr lang="en-US" smtClean="0"/>
              <a:t>2</a:t>
            </a:fld>
            <a:endParaRPr lang="en-US" dirty="0"/>
          </a:p>
        </p:txBody>
      </p:sp>
    </p:spTree>
    <p:extLst>
      <p:ext uri="{BB962C8B-B14F-4D97-AF65-F5344CB8AC3E}">
        <p14:creationId xmlns:p14="http://schemas.microsoft.com/office/powerpoint/2010/main" val="2256100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authors' motivation is that replay is one of the clearest windows we have into offline processing.</a:t>
            </a:r>
            <a:br>
              <a:rPr lang="en-US" dirty="0"/>
            </a:br>
            <a:r>
              <a:rPr lang="en-US" dirty="0"/>
              <a:t>We often talk about consolidation, planning, or memory integration, but we rarely see the process unfold.</a:t>
            </a:r>
            <a:br>
              <a:rPr lang="en-US" dirty="0"/>
            </a:br>
            <a:r>
              <a:rPr lang="en-US" dirty="0"/>
              <a:t>Replay gives a candidate readout of what the brain chooses to revisit when the animal is not acting.</a:t>
            </a:r>
            <a:br>
              <a:rPr lang="en-US" dirty="0"/>
            </a:br>
            <a:r>
              <a:rPr lang="en-US" dirty="0"/>
              <a:t>That matters because selection can shape learning.</a:t>
            </a:r>
            <a:br>
              <a:rPr lang="en-US" dirty="0"/>
            </a:br>
            <a:r>
              <a:rPr lang="en-US" dirty="0"/>
              <a:t>If some experiences are replayed repeatedly, they get extra chances to influence what is stored, generalized, or linked to other knowledge.</a:t>
            </a:r>
            <a:br>
              <a:rPr lang="en-US" dirty="0"/>
            </a:br>
            <a:r>
              <a:rPr lang="en-US" dirty="0"/>
              <a:t>So explaining replay content is a mechanistic problem, not just an interpretive one.</a:t>
            </a:r>
            <a:br>
              <a:rPr lang="en-US" dirty="0"/>
            </a:br>
            <a:r>
              <a:rPr lang="en-US" dirty="0"/>
              <a:t>It also matters for anyone who cares about memory and behavior together.</a:t>
            </a:r>
            <a:br>
              <a:rPr lang="en-US" dirty="0"/>
            </a:br>
            <a:r>
              <a:rPr lang="en-US" dirty="0"/>
              <a:t>A replayed sequence could help with a specific upcoming choice.</a:t>
            </a:r>
            <a:br>
              <a:rPr lang="en-US" dirty="0"/>
            </a:br>
            <a:r>
              <a:rPr lang="en-US" dirty="0"/>
              <a:t>Or it could help build knowledge that will be useful for many future choices.</a:t>
            </a:r>
            <a:br>
              <a:rPr lang="en-US" dirty="0"/>
            </a:br>
            <a:r>
              <a:rPr lang="en-US" dirty="0"/>
              <a:t>This paper takes that second possibility seriously, especially when the future is uncertain.</a:t>
            </a:r>
            <a:br>
              <a:rPr lang="en-US" dirty="0"/>
            </a:br>
            <a:r>
              <a:rPr lang="en-US" dirty="0"/>
              <a:t>For our lab discussion, I want us to keep returning to a concrete question.</a:t>
            </a:r>
            <a:br>
              <a:rPr lang="en-US" dirty="0"/>
            </a:br>
            <a:r>
              <a:rPr lang="en-US" dirty="0"/>
              <a:t>If a theory claims replay is functional, what does it predict will be replayed next, given the same past experience.</a:t>
            </a:r>
          </a:p>
          <a:p>
            <a:br>
              <a:rPr lang="en-US" dirty="0"/>
            </a:br>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3</a:t>
            </a:fld>
            <a:endParaRPr lang="en-US" dirty="0"/>
          </a:p>
        </p:txBody>
      </p:sp>
    </p:spTree>
    <p:extLst>
      <p:ext uri="{BB962C8B-B14F-4D97-AF65-F5344CB8AC3E}">
        <p14:creationId xmlns:p14="http://schemas.microsoft.com/office/powerpoint/2010/main" val="320548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get to the tension the paper is designed to resolve.</a:t>
            </a:r>
            <a:br>
              <a:rPr lang="en-US" dirty="0"/>
            </a:br>
            <a:r>
              <a:rPr lang="en-US" dirty="0"/>
              <a:t>A simple intuition when you start thinking about what hippocampal replay might be _for_ is that replay should focus on reflecting on information that can advance ongoing goals.</a:t>
            </a:r>
            <a:br>
              <a:rPr lang="en-US" dirty="0"/>
            </a:br>
            <a:r>
              <a:rPr lang="en-US" dirty="0"/>
              <a:t>In some datasets, replay does look like it is pointing toward the current goal.</a:t>
            </a:r>
            <a:br>
              <a:rPr lang="en-US" dirty="0"/>
            </a:br>
            <a:r>
              <a:rPr lang="en-US" dirty="0"/>
              <a:t>But the authors emphasize goal switching tasks where this alignment fails.</a:t>
            </a:r>
          </a:p>
          <a:p>
            <a:r>
              <a:rPr lang="en-US" dirty="0"/>
              <a:t>IN some maze tasks experiments, after the reward location changes, animals can update their behavior fairly quickly, even after a lot of time practicing under the previous regime.</a:t>
            </a:r>
            <a:br>
              <a:rPr lang="en-US" dirty="0"/>
            </a:br>
            <a:r>
              <a:rPr lang="en-US" dirty="0"/>
              <a:t>But when you measure hippocampal replay between tasks, it can remain biased toward old goal locations for a while.</a:t>
            </a:r>
            <a:br>
              <a:rPr lang="en-US" dirty="0"/>
            </a:br>
            <a:r>
              <a:rPr lang="en-US" dirty="0"/>
              <a:t>The paper describes this as replay lagging behind updated choice behavior.</a:t>
            </a:r>
            <a:br>
              <a:rPr lang="en-US" dirty="0"/>
            </a:br>
            <a:r>
              <a:rPr lang="en-US" dirty="0"/>
              <a:t>That is awkward for a naive "replay equals immediate planning" story, so instead people have proposed that hippocampal replay is more neutrally focused on building a map instead of helping to pursue goals.</a:t>
            </a:r>
            <a:br>
              <a:rPr lang="en-US" dirty="0"/>
            </a:br>
            <a:r>
              <a:rPr lang="en-US" dirty="0"/>
              <a:t>At the same time, it is not satisfying to declare replay goal-independent and stop there.</a:t>
            </a:r>
            <a:br>
              <a:rPr lang="en-US" dirty="0"/>
            </a:br>
            <a:r>
              <a:rPr lang="en-US" dirty="0"/>
              <a:t>Replay often looks structured in ways that still seem behaviorally meaningful.</a:t>
            </a:r>
            <a:br>
              <a:rPr lang="en-US" dirty="0"/>
            </a:br>
            <a:r>
              <a:rPr lang="en-US" dirty="0"/>
              <a:t>So the job of the theory is to predict when replay should track the present and when it should track something else.</a:t>
            </a:r>
            <a:br>
              <a:rPr lang="en-US" dirty="0"/>
            </a:br>
            <a:r>
              <a:rPr lang="en-US" dirty="0"/>
              <a:t>Ideally, the theory should also generate signatures we can test, not just labels.</a:t>
            </a:r>
            <a:br>
              <a:rPr lang="en-US" dirty="0"/>
            </a:br>
            <a:r>
              <a:rPr lang="en-US" dirty="0"/>
              <a:t>As we move forward, this lag phenomenon is the concrete benchmark to keep in mind.</a:t>
            </a:r>
          </a:p>
        </p:txBody>
      </p:sp>
      <p:sp>
        <p:nvSpPr>
          <p:cNvPr id="4" name="Slide Number Placeholder 3"/>
          <p:cNvSpPr>
            <a:spLocks noGrp="1"/>
          </p:cNvSpPr>
          <p:nvPr>
            <p:ph type="sldNum" sz="quarter" idx="5"/>
          </p:nvPr>
        </p:nvSpPr>
        <p:spPr/>
        <p:txBody>
          <a:bodyPr/>
          <a:lstStyle/>
          <a:p>
            <a:fld id="{47062F8D-6015-4186-952A-87493F61A5D5}" type="slidenum">
              <a:rPr lang="en-US" smtClean="0"/>
              <a:t>4</a:t>
            </a:fld>
            <a:endParaRPr lang="en-US" dirty="0"/>
          </a:p>
        </p:txBody>
      </p:sp>
    </p:spTree>
    <p:extLst>
      <p:ext uri="{BB962C8B-B14F-4D97-AF65-F5344CB8AC3E}">
        <p14:creationId xmlns:p14="http://schemas.microsoft.com/office/powerpoint/2010/main" val="2300055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Block 1, we treated replay as a selective offline process and set up the goal-switching puzzle.</a:t>
            </a:r>
            <a:br>
              <a:rPr lang="en-US" dirty="0"/>
            </a:br>
            <a:r>
              <a:rPr lang="en-US" dirty="0"/>
              <a:t>Now we need a concrete idea of what replay could be updating.</a:t>
            </a:r>
            <a:br>
              <a:rPr lang="en-US" dirty="0"/>
            </a:br>
            <a:r>
              <a:rPr lang="en-US" dirty="0"/>
              <a:t>The authors' first representational move is to treat the relevant "map" as more than local adjacency.</a:t>
            </a:r>
            <a:br>
              <a:rPr lang="en-US" dirty="0"/>
            </a:br>
            <a:r>
              <a:rPr lang="en-US" dirty="0"/>
              <a:t>A purely local map answers "where can I go in one step from here."</a:t>
            </a:r>
            <a:br>
              <a:rPr lang="en-US" dirty="0"/>
            </a:br>
            <a:r>
              <a:rPr lang="en-US" dirty="0"/>
              <a:t>That is useful, but it does not directly tell you which route is best to a distant destination.</a:t>
            </a:r>
            <a:br>
              <a:rPr lang="en-US" dirty="0"/>
            </a:br>
            <a:r>
              <a:rPr lang="en-US" dirty="0"/>
              <a:t>To act effectively, you need multi-step structure, like which corridors connect regions and which junctions sit on many routes.</a:t>
            </a:r>
            <a:br>
              <a:rPr lang="en-US" dirty="0"/>
            </a:br>
            <a:r>
              <a:rPr lang="en-US" dirty="0"/>
              <a:t>The paper wants a representation where that multi-step structure is explicit, so it can be learned and updated by replay.</a:t>
            </a:r>
            <a:br>
              <a:rPr lang="en-US" dirty="0"/>
            </a:br>
            <a:r>
              <a:rPr lang="en-US" dirty="0"/>
              <a:t>This is the point where the paper starts borrowing standard language from reinforcement learning, but the intuition can stay simple.</a:t>
            </a:r>
            <a:br>
              <a:rPr lang="en-US" dirty="0"/>
            </a:br>
            <a:r>
              <a:rPr lang="en-US" dirty="0"/>
              <a:t>Think of a map not as a list of neighbors, but as a set of "route guides" that tell you what to do to reach a destination.</a:t>
            </a:r>
            <a:br>
              <a:rPr lang="en-US" dirty="0"/>
            </a:br>
            <a:r>
              <a:rPr lang="en-US" dirty="0"/>
              <a:t>If the destination changes, you want to swap guides quickly rather than relearn the environment.</a:t>
            </a:r>
            <a:br>
              <a:rPr lang="en-US" dirty="0"/>
            </a:br>
            <a:r>
              <a:rPr lang="en-US" dirty="0"/>
              <a:t>That is the representational problem we solve in the next two slides.</a:t>
            </a:r>
          </a:p>
        </p:txBody>
      </p:sp>
      <p:sp>
        <p:nvSpPr>
          <p:cNvPr id="4" name="Slide Number Placeholder 3"/>
          <p:cNvSpPr>
            <a:spLocks noGrp="1"/>
          </p:cNvSpPr>
          <p:nvPr>
            <p:ph type="sldNum" sz="quarter" idx="5"/>
          </p:nvPr>
        </p:nvSpPr>
        <p:spPr/>
        <p:txBody>
          <a:bodyPr/>
          <a:lstStyle/>
          <a:p>
            <a:fld id="{47062F8D-6015-4186-952A-87493F61A5D5}" type="slidenum">
              <a:rPr lang="en-US" smtClean="0"/>
              <a:t>5</a:t>
            </a:fld>
            <a:endParaRPr lang="en-US" dirty="0"/>
          </a:p>
        </p:txBody>
      </p:sp>
    </p:spTree>
    <p:extLst>
      <p:ext uri="{BB962C8B-B14F-4D97-AF65-F5344CB8AC3E}">
        <p14:creationId xmlns:p14="http://schemas.microsoft.com/office/powerpoint/2010/main" val="3911403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can state the core representation in the paper.</a:t>
            </a:r>
            <a:br>
              <a:rPr lang="en-US" dirty="0"/>
            </a:br>
            <a:r>
              <a:rPr lang="en-US" dirty="0"/>
              <a:t>They define a quantity they call G(s, a, g).</a:t>
            </a:r>
            <a:br>
              <a:rPr lang="en-US" dirty="0"/>
            </a:br>
            <a:r>
              <a:rPr lang="en-US" dirty="0"/>
              <a:t>You do not need the equation here.</a:t>
            </a:r>
            <a:br>
              <a:rPr lang="en-US" dirty="0"/>
            </a:br>
            <a:r>
              <a:rPr lang="en-US" dirty="0"/>
              <a:t>Read it as "how good is it to take action a in state s if my goal is g."</a:t>
            </a:r>
            <a:br>
              <a:rPr lang="en-US" dirty="0"/>
            </a:br>
            <a:r>
              <a:rPr lang="en-US" dirty="0"/>
              <a:t>If you have G, then for any fixed goal g you can choose the action with the highest score and you will move along an efficient route.</a:t>
            </a:r>
            <a:br>
              <a:rPr lang="en-US" dirty="0"/>
            </a:br>
            <a:r>
              <a:rPr lang="en-US" dirty="0"/>
              <a:t>The important trick is that g is an input, so you are not learning one value function.</a:t>
            </a:r>
            <a:br>
              <a:rPr lang="en-US" dirty="0"/>
            </a:br>
            <a:r>
              <a:rPr lang="en-US" dirty="0"/>
              <a:t>You are learning a whole family of goal-conditioned guides, one per possible goal.</a:t>
            </a:r>
            <a:br>
              <a:rPr lang="en-US" dirty="0"/>
            </a:br>
            <a:r>
              <a:rPr lang="en-US" dirty="0"/>
              <a:t>A helpful picture is a book of pages.</a:t>
            </a:r>
            <a:br>
              <a:rPr lang="en-US" dirty="0"/>
            </a:br>
            <a:r>
              <a:rPr lang="en-US" dirty="0"/>
              <a:t>Each page is labeled by a goal location.</a:t>
            </a:r>
            <a:br>
              <a:rPr lang="en-US" dirty="0"/>
            </a:br>
            <a:r>
              <a:rPr lang="en-US" dirty="0"/>
              <a:t>On that page, every location has guidance about which move is best for reaching that goal.</a:t>
            </a:r>
            <a:br>
              <a:rPr lang="en-US" dirty="0"/>
            </a:br>
            <a:r>
              <a:rPr lang="en-US" dirty="0"/>
              <a:t>If the goal changes, you do not start over.</a:t>
            </a:r>
            <a:br>
              <a:rPr lang="en-US" dirty="0"/>
            </a:br>
            <a:r>
              <a:rPr lang="en-US" dirty="0"/>
              <a:t>You flip to a different page.</a:t>
            </a:r>
            <a:br>
              <a:rPr lang="en-US" dirty="0"/>
            </a:br>
            <a:r>
              <a:rPr lang="en-US" dirty="0"/>
              <a:t>This is why the representation supports flexible behavior under goal switching.</a:t>
            </a:r>
            <a:br>
              <a:rPr lang="en-US" dirty="0"/>
            </a:br>
            <a:r>
              <a:rPr lang="en-US" dirty="0"/>
              <a:t>It also makes the map hypothesis concrete, because the "map" is now a specific object with content we can reason about.</a:t>
            </a:r>
          </a:p>
        </p:txBody>
      </p:sp>
      <p:sp>
        <p:nvSpPr>
          <p:cNvPr id="4" name="Slide Number Placeholder 3"/>
          <p:cNvSpPr>
            <a:spLocks noGrp="1"/>
          </p:cNvSpPr>
          <p:nvPr>
            <p:ph type="sldNum" sz="quarter" idx="5"/>
          </p:nvPr>
        </p:nvSpPr>
        <p:spPr/>
        <p:txBody>
          <a:bodyPr/>
          <a:lstStyle/>
          <a:p>
            <a:fld id="{47062F8D-6015-4186-952A-87493F61A5D5}" type="slidenum">
              <a:rPr lang="en-US" smtClean="0"/>
              <a:t>6</a:t>
            </a:fld>
            <a:endParaRPr lang="en-US" dirty="0"/>
          </a:p>
        </p:txBody>
      </p:sp>
    </p:spTree>
    <p:extLst>
      <p:ext uri="{BB962C8B-B14F-4D97-AF65-F5344CB8AC3E}">
        <p14:creationId xmlns:p14="http://schemas.microsoft.com/office/powerpoint/2010/main" val="41668381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step in this block is to explain why this representation is learnable from replay without doing full planning from scratch each time.</a:t>
            </a:r>
            <a:br>
              <a:rPr lang="en-US" dirty="0"/>
            </a:br>
            <a:r>
              <a:rPr lang="en-US" dirty="0"/>
              <a:t>The paper uses the standard idea of a "backup," which you can treat as a one-step learning update.</a:t>
            </a:r>
            <a:br>
              <a:rPr lang="en-US" dirty="0"/>
            </a:br>
            <a:r>
              <a:rPr lang="en-US" dirty="0"/>
              <a:t>You take a single experienced transition, like "from this location, after this move, you ended up there."</a:t>
            </a:r>
            <a:br>
              <a:rPr lang="en-US" dirty="0"/>
            </a:br>
            <a:r>
              <a:rPr lang="en-US" dirty="0"/>
              <a:t>Then you update the corresponding part of the goal page.</a:t>
            </a:r>
            <a:br>
              <a:rPr lang="en-US" dirty="0"/>
            </a:br>
            <a:r>
              <a:rPr lang="en-US" dirty="0"/>
              <a:t>The critical point is that the same transition can be informative for many goals at once.</a:t>
            </a:r>
            <a:br>
              <a:rPr lang="en-US" dirty="0"/>
            </a:br>
            <a:r>
              <a:rPr lang="en-US" dirty="0"/>
              <a:t>If a corridor connects two regions, that fact changes shortest paths to lots of destinations on the far side.</a:t>
            </a:r>
            <a:br>
              <a:rPr lang="en-US" dirty="0"/>
            </a:br>
            <a:r>
              <a:rPr lang="en-US" dirty="0"/>
              <a:t>So a single update can propagate to many goal pages, which is what the authors mean by going beyond local information.</a:t>
            </a:r>
            <a:br>
              <a:rPr lang="en-US" dirty="0"/>
            </a:br>
            <a:r>
              <a:rPr lang="en-US" dirty="0"/>
              <a:t>This motivates why replay could focus on structurally important transitions.</a:t>
            </a:r>
            <a:br>
              <a:rPr lang="en-US" dirty="0"/>
            </a:br>
            <a:r>
              <a:rPr lang="en-US" dirty="0"/>
              <a:t>Replaying a bottleneck transition is not just rehearsing one path.</a:t>
            </a:r>
            <a:br>
              <a:rPr lang="en-US" dirty="0"/>
            </a:br>
            <a:r>
              <a:rPr lang="en-US" dirty="0"/>
              <a:t>It is updating a connection that many routes depend on.</a:t>
            </a:r>
            <a:br>
              <a:rPr lang="en-US" dirty="0"/>
            </a:br>
            <a:r>
              <a:rPr lang="en-US" dirty="0"/>
              <a:t>In the next block, the paper asks the control question.</a:t>
            </a:r>
            <a:br>
              <a:rPr lang="en-US" dirty="0"/>
            </a:br>
            <a:r>
              <a:rPr lang="en-US" dirty="0"/>
              <a:t>Given many possible transitions to replay, which ones should be chosen first.</a:t>
            </a:r>
          </a:p>
        </p:txBody>
      </p:sp>
      <p:sp>
        <p:nvSpPr>
          <p:cNvPr id="4" name="Slide Number Placeholder 3"/>
          <p:cNvSpPr>
            <a:spLocks noGrp="1"/>
          </p:cNvSpPr>
          <p:nvPr>
            <p:ph type="sldNum" sz="quarter" idx="5"/>
          </p:nvPr>
        </p:nvSpPr>
        <p:spPr/>
        <p:txBody>
          <a:bodyPr/>
          <a:lstStyle/>
          <a:p>
            <a:fld id="{47062F8D-6015-4186-952A-87493F61A5D5}" type="slidenum">
              <a:rPr lang="en-US" smtClean="0"/>
              <a:t>7</a:t>
            </a:fld>
            <a:endParaRPr lang="en-US" dirty="0"/>
          </a:p>
        </p:txBody>
      </p:sp>
    </p:spTree>
    <p:extLst>
      <p:ext uri="{BB962C8B-B14F-4D97-AF65-F5344CB8AC3E}">
        <p14:creationId xmlns:p14="http://schemas.microsoft.com/office/powerpoint/2010/main" val="14665316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Block 2, we introduced the idea that replay can update a goal-conditioned guide for navigation.</a:t>
            </a:r>
            <a:br>
              <a:rPr lang="en-US" dirty="0"/>
            </a:br>
            <a:r>
              <a:rPr lang="en-US" dirty="0"/>
              <a:t>Now the paper's main control problem is that there are many memories you could replay, but only time for a few.</a:t>
            </a:r>
            <a:br>
              <a:rPr lang="en-US" dirty="0"/>
            </a:br>
            <a:r>
              <a:rPr lang="en-US" dirty="0"/>
              <a:t>The authors treat each replay event as selecting one remembered transition, like "from s, doing a, I ended up at s'."</a:t>
            </a:r>
            <a:br>
              <a:rPr lang="en-US" dirty="0"/>
            </a:br>
            <a:r>
              <a:rPr lang="en-US" dirty="0"/>
              <a:t>Then the brain performs one learning update to its stored guidance using that one step.</a:t>
            </a:r>
            <a:br>
              <a:rPr lang="en-US" dirty="0"/>
            </a:br>
            <a:r>
              <a:rPr lang="en-US" dirty="0"/>
              <a:t>The details of the update are not the focus on this slide.</a:t>
            </a:r>
            <a:br>
              <a:rPr lang="en-US" dirty="0"/>
            </a:br>
            <a:r>
              <a:rPr lang="en-US" dirty="0"/>
              <a:t>The focus is that replay is a limited compute budget, so selection matters.</a:t>
            </a:r>
            <a:br>
              <a:rPr lang="en-US" dirty="0"/>
            </a:br>
            <a:r>
              <a:rPr lang="en-US" dirty="0"/>
              <a:t>So we can rephrase the question of replay function as a scheduling question.</a:t>
            </a:r>
            <a:br>
              <a:rPr lang="en-US" dirty="0"/>
            </a:br>
            <a:r>
              <a:rPr lang="en-US" dirty="0"/>
              <a:t>Which transition should be replayed next, and why.</a:t>
            </a:r>
            <a:br>
              <a:rPr lang="en-US" dirty="0"/>
            </a:br>
            <a:r>
              <a:rPr lang="en-US" dirty="0"/>
              <a:t>The paper imagines this happening iteratively.</a:t>
            </a:r>
            <a:br>
              <a:rPr lang="en-US" dirty="0"/>
            </a:br>
            <a:r>
              <a:rPr lang="en-US" dirty="0"/>
              <a:t>Pick one transition, update, then pick again.</a:t>
            </a:r>
            <a:br>
              <a:rPr lang="en-US" dirty="0"/>
            </a:br>
            <a:r>
              <a:rPr lang="en-US" dirty="0"/>
              <a:t>So the key scientific object is the priority score used for that choice.</a:t>
            </a:r>
            <a:br>
              <a:rPr lang="en-US" dirty="0"/>
            </a:br>
            <a:r>
              <a:rPr lang="en-US" dirty="0"/>
              <a:t>If the rule is correct, it should predict when replay hugs the current goal.</a:t>
            </a:r>
            <a:br>
              <a:rPr lang="en-US" dirty="0"/>
            </a:br>
            <a:r>
              <a:rPr lang="en-US" dirty="0"/>
              <a:t>It should also predict when replay instead emphasizes shared structure like bottlenecks.</a:t>
            </a:r>
            <a:br>
              <a:rPr lang="en-US" dirty="0"/>
            </a:br>
            <a:r>
              <a:rPr lang="en-US" dirty="0"/>
              <a:t>This is what turns replay from a label into a testable algorithm.</a:t>
            </a:r>
          </a:p>
        </p:txBody>
      </p:sp>
      <p:sp>
        <p:nvSpPr>
          <p:cNvPr id="4" name="Slide Number Placeholder 3"/>
          <p:cNvSpPr>
            <a:spLocks noGrp="1"/>
          </p:cNvSpPr>
          <p:nvPr>
            <p:ph type="sldNum" sz="quarter" idx="5"/>
          </p:nvPr>
        </p:nvSpPr>
        <p:spPr/>
        <p:txBody>
          <a:bodyPr/>
          <a:lstStyle/>
          <a:p>
            <a:fld id="{47062F8D-6015-4186-952A-87493F61A5D5}" type="slidenum">
              <a:rPr lang="en-US" smtClean="0"/>
              <a:t>8</a:t>
            </a:fld>
            <a:endParaRPr lang="en-US" dirty="0"/>
          </a:p>
        </p:txBody>
      </p:sp>
    </p:spTree>
    <p:extLst>
      <p:ext uri="{BB962C8B-B14F-4D97-AF65-F5344CB8AC3E}">
        <p14:creationId xmlns:p14="http://schemas.microsoft.com/office/powerpoint/2010/main" val="15281954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authors call their prioritization score the expected value of a backup, or EVB. </a:t>
            </a:r>
            <a:br>
              <a:rPr lang="en-US" dirty="0"/>
            </a:br>
            <a:r>
              <a:rPr lang="en-US" dirty="0"/>
              <a:t>I translate that as: how much better will future behavior get if this one offline update happens right now.</a:t>
            </a:r>
            <a:br>
              <a:rPr lang="en-US" dirty="0"/>
            </a:br>
            <a:r>
              <a:rPr lang="en-US" dirty="0"/>
              <a:t>The key move is that they show EVB can be broken into two intuitive parts. </a:t>
            </a:r>
            <a:br>
              <a:rPr lang="en-US" dirty="0"/>
            </a:br>
            <a:r>
              <a:rPr lang="en-US" dirty="0"/>
              <a:t>They call them need and gain.</a:t>
            </a:r>
            <a:br>
              <a:rPr lang="en-US" dirty="0"/>
            </a:br>
            <a:r>
              <a:rPr lang="en-US" dirty="0"/>
              <a:t>Need is about relevance.</a:t>
            </a:r>
            <a:br>
              <a:rPr lang="en-US" dirty="0"/>
            </a:br>
            <a:r>
              <a:rPr lang="en-US" dirty="0"/>
              <a:t>How often will this state matter again in the future.</a:t>
            </a:r>
            <a:br>
              <a:rPr lang="en-US" dirty="0"/>
            </a:br>
            <a:r>
              <a:rPr lang="en-US" dirty="0"/>
              <a:t>Gain is about impact.</a:t>
            </a:r>
            <a:br>
              <a:rPr lang="en-US" dirty="0"/>
            </a:br>
            <a:r>
              <a:rPr lang="en-US" dirty="0"/>
              <a:t>If I update here, will it change what I do, and will that improve reward.</a:t>
            </a:r>
            <a:br>
              <a:rPr lang="en-US" dirty="0"/>
            </a:br>
            <a:r>
              <a:rPr lang="en-US" dirty="0"/>
              <a:t>This is a compute-allocation story, not a simple "replay the biggest reward" story.</a:t>
            </a:r>
            <a:br>
              <a:rPr lang="en-US" dirty="0"/>
            </a:br>
            <a:r>
              <a:rPr lang="en-US" dirty="0"/>
              <a:t>A rare jackpot state might be high gain but low need if you almost never go there.</a:t>
            </a:r>
            <a:br>
              <a:rPr lang="en-US" dirty="0"/>
            </a:br>
            <a:r>
              <a:rPr lang="en-US" dirty="0"/>
              <a:t>A busy corridor might be high need but low gain if you already navigate it perfectly.</a:t>
            </a:r>
            <a:br>
              <a:rPr lang="en-US" dirty="0"/>
            </a:br>
            <a:r>
              <a:rPr lang="en-US" dirty="0"/>
              <a:t>EVB says the best replay targets are the ones that are both reusable and still improvable.</a:t>
            </a:r>
            <a:br>
              <a:rPr lang="en-US" dirty="0"/>
            </a:br>
            <a:r>
              <a:rPr lang="en-US" dirty="0"/>
              <a:t>Operationally, the paper computes this score for candidate memories and prioritizes the largest.</a:t>
            </a:r>
            <a:br>
              <a:rPr lang="en-US" dirty="0"/>
            </a:br>
            <a:r>
              <a:rPr lang="en-US" dirty="0"/>
              <a:t>This is why bottlenecks are natural replay magnets.</a:t>
            </a:r>
            <a:br>
              <a:rPr lang="en-US" dirty="0"/>
            </a:br>
            <a:r>
              <a:rPr lang="en-US" dirty="0"/>
              <a:t>They are reused across many routes, and updates there can propagate widely.</a:t>
            </a:r>
          </a:p>
        </p:txBody>
      </p:sp>
      <p:sp>
        <p:nvSpPr>
          <p:cNvPr id="4" name="Slide Number Placeholder 3"/>
          <p:cNvSpPr>
            <a:spLocks noGrp="1"/>
          </p:cNvSpPr>
          <p:nvPr>
            <p:ph type="sldNum" sz="quarter" idx="5"/>
          </p:nvPr>
        </p:nvSpPr>
        <p:spPr/>
        <p:txBody>
          <a:bodyPr/>
          <a:lstStyle/>
          <a:p>
            <a:fld id="{47062F8D-6015-4186-952A-87493F61A5D5}" type="slidenum">
              <a:rPr lang="en-US" smtClean="0"/>
              <a:t>9</a:t>
            </a:fld>
            <a:endParaRPr lang="en-US" dirty="0"/>
          </a:p>
        </p:txBody>
      </p:sp>
    </p:spTree>
    <p:extLst>
      <p:ext uri="{BB962C8B-B14F-4D97-AF65-F5344CB8AC3E}">
        <p14:creationId xmlns:p14="http://schemas.microsoft.com/office/powerpoint/2010/main" val="16105800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9C003-AAFA-6FA3-0E01-0B6AC259A2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517198-DFCF-92EA-F66E-8307F1EDC4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E526C0-00EE-6ACD-7609-A33E62321CD3}"/>
              </a:ext>
            </a:extLst>
          </p:cNvPr>
          <p:cNvSpPr>
            <a:spLocks noGrp="1"/>
          </p:cNvSpPr>
          <p:nvPr>
            <p:ph type="body" idx="1"/>
          </p:nvPr>
        </p:nvSpPr>
        <p:spPr/>
        <p:txBody>
          <a:bodyPr/>
          <a:lstStyle/>
          <a:p>
            <a:r>
              <a:rPr lang="en-US" dirty="0"/>
              <a:t>The authors call their prioritization score the expected value of a backup, or EVB. </a:t>
            </a:r>
            <a:br>
              <a:rPr lang="en-US" dirty="0"/>
            </a:br>
            <a:r>
              <a:rPr lang="en-US" dirty="0"/>
              <a:t>I translate that as: how much better will future behavior get if this one offline update happens right now.</a:t>
            </a:r>
            <a:br>
              <a:rPr lang="en-US" dirty="0"/>
            </a:br>
            <a:r>
              <a:rPr lang="en-US" dirty="0"/>
              <a:t>The key move is that they show EVB can be broken into two intuitive parts. </a:t>
            </a:r>
            <a:br>
              <a:rPr lang="en-US" dirty="0"/>
            </a:br>
            <a:r>
              <a:rPr lang="en-US" dirty="0"/>
              <a:t>They call them need and gain.</a:t>
            </a:r>
            <a:br>
              <a:rPr lang="en-US" dirty="0"/>
            </a:br>
            <a:r>
              <a:rPr lang="en-US" dirty="0"/>
              <a:t>Need is about relevance.</a:t>
            </a:r>
            <a:br>
              <a:rPr lang="en-US" dirty="0"/>
            </a:br>
            <a:r>
              <a:rPr lang="en-US" dirty="0"/>
              <a:t>How often will this state matter again in the future.</a:t>
            </a:r>
            <a:br>
              <a:rPr lang="en-US" dirty="0"/>
            </a:br>
            <a:r>
              <a:rPr lang="en-US" dirty="0"/>
              <a:t>Gain is about impact.</a:t>
            </a:r>
            <a:br>
              <a:rPr lang="en-US" dirty="0"/>
            </a:br>
            <a:r>
              <a:rPr lang="en-US" dirty="0"/>
              <a:t>If I update here, will it change what I do, and will that improve reward.</a:t>
            </a:r>
            <a:br>
              <a:rPr lang="en-US" dirty="0"/>
            </a:br>
            <a:r>
              <a:rPr lang="en-US" dirty="0"/>
              <a:t>This is a compute-allocation story, not a simple "replay the biggest reward" story.</a:t>
            </a:r>
            <a:br>
              <a:rPr lang="en-US" dirty="0"/>
            </a:br>
            <a:r>
              <a:rPr lang="en-US" dirty="0"/>
              <a:t>A rare jackpot state might be high gain but low need if you almost never go there.</a:t>
            </a:r>
            <a:br>
              <a:rPr lang="en-US" dirty="0"/>
            </a:br>
            <a:r>
              <a:rPr lang="en-US" dirty="0"/>
              <a:t>A busy corridor might be high need but low gain if you already navigate it perfectly.</a:t>
            </a:r>
            <a:br>
              <a:rPr lang="en-US" dirty="0"/>
            </a:br>
            <a:r>
              <a:rPr lang="en-US" dirty="0"/>
              <a:t>EVB says the best replay targets are the ones that are both reusable and still improvable.</a:t>
            </a:r>
            <a:br>
              <a:rPr lang="en-US" dirty="0"/>
            </a:br>
            <a:r>
              <a:rPr lang="en-US" dirty="0"/>
              <a:t>Operationally, the paper computes this score for candidate memories and prioritizes the largest.</a:t>
            </a:r>
            <a:br>
              <a:rPr lang="en-US" dirty="0"/>
            </a:br>
            <a:r>
              <a:rPr lang="en-US" dirty="0"/>
              <a:t>This is why bottlenecks are natural replay magnets.</a:t>
            </a:r>
            <a:br>
              <a:rPr lang="en-US" dirty="0"/>
            </a:br>
            <a:r>
              <a:rPr lang="en-US" dirty="0"/>
              <a:t>They are reused across many routes, and updates there can propagate widely.</a:t>
            </a:r>
          </a:p>
        </p:txBody>
      </p:sp>
      <p:sp>
        <p:nvSpPr>
          <p:cNvPr id="4" name="Slide Number Placeholder 3">
            <a:extLst>
              <a:ext uri="{FF2B5EF4-FFF2-40B4-BE49-F238E27FC236}">
                <a16:creationId xmlns:a16="http://schemas.microsoft.com/office/drawing/2014/main" id="{27AFEA57-26EB-6F3E-6472-432E5F0D6C3C}"/>
              </a:ext>
            </a:extLst>
          </p:cNvPr>
          <p:cNvSpPr>
            <a:spLocks noGrp="1"/>
          </p:cNvSpPr>
          <p:nvPr>
            <p:ph type="sldNum" sz="quarter" idx="5"/>
          </p:nvPr>
        </p:nvSpPr>
        <p:spPr/>
        <p:txBody>
          <a:bodyPr/>
          <a:lstStyle/>
          <a:p>
            <a:fld id="{47062F8D-6015-4186-952A-87493F61A5D5}" type="slidenum">
              <a:rPr lang="en-US" smtClean="0"/>
              <a:t>10</a:t>
            </a:fld>
            <a:endParaRPr lang="en-US" dirty="0"/>
          </a:p>
        </p:txBody>
      </p:sp>
    </p:spTree>
    <p:extLst>
      <p:ext uri="{BB962C8B-B14F-4D97-AF65-F5344CB8AC3E}">
        <p14:creationId xmlns:p14="http://schemas.microsoft.com/office/powerpoint/2010/main" val="26101703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 is the relevance term. </a:t>
            </a:r>
            <a:br>
              <a:rPr lang="en-US" dirty="0"/>
            </a:br>
            <a:r>
              <a:rPr lang="en-US" dirty="0"/>
              <a:t>In everyday language, need asks: how much of my future will run through this state.</a:t>
            </a:r>
            <a:br>
              <a:rPr lang="en-US" dirty="0"/>
            </a:br>
            <a:r>
              <a:rPr lang="en-US" dirty="0"/>
              <a:t>If you expect to pass through a place many times, improving guidance there gets reused many times.</a:t>
            </a:r>
            <a:br>
              <a:rPr lang="en-US" dirty="0"/>
            </a:br>
            <a:r>
              <a:rPr lang="en-US" dirty="0"/>
              <a:t>If you expect to pass through it rarely, improvements are mostly wasted.</a:t>
            </a:r>
            <a:br>
              <a:rPr lang="en-US" dirty="0"/>
            </a:br>
            <a:r>
              <a:rPr lang="en-US" dirty="0"/>
              <a:t>The paper links need to a successor-like idea: a learned heat map of predicted future occupancy. </a:t>
            </a:r>
            <a:br>
              <a:rPr lang="en-US" dirty="0"/>
            </a:br>
            <a:r>
              <a:rPr lang="en-US" dirty="0"/>
              <a:t>You can picture it as: starting from where I am now, which states am I likely to visit soon, assuming I keep behaving sensibly.</a:t>
            </a:r>
            <a:br>
              <a:rPr lang="en-US" dirty="0"/>
            </a:br>
            <a:r>
              <a:rPr lang="en-US" dirty="0"/>
              <a:t>Need changes with context.</a:t>
            </a:r>
            <a:br>
              <a:rPr lang="en-US" dirty="0"/>
            </a:br>
            <a:r>
              <a:rPr lang="en-US" dirty="0"/>
              <a:t>If I start in a different region, different corridors become high need.</a:t>
            </a:r>
            <a:br>
              <a:rPr lang="en-US" dirty="0"/>
            </a:br>
            <a:r>
              <a:rPr lang="en-US" dirty="0"/>
              <a:t>Need depends on environment structure and typical routes, not on whether the state is rewarding.</a:t>
            </a:r>
            <a:br>
              <a:rPr lang="en-US" dirty="0"/>
            </a:br>
            <a:r>
              <a:rPr lang="en-US" dirty="0"/>
              <a:t>So it naturally highlights hubs, gateways, and bottlenecks.</a:t>
            </a:r>
            <a:br>
              <a:rPr lang="en-US" dirty="0"/>
            </a:br>
            <a:r>
              <a:rPr lang="en-US" dirty="0"/>
              <a:t>This also makes "off-goal" replay less mysterious.</a:t>
            </a:r>
            <a:br>
              <a:rPr lang="en-US" dirty="0"/>
            </a:br>
            <a:r>
              <a:rPr lang="en-US" dirty="0"/>
              <a:t>A bottleneck can be high need even when it is not part of the current goal path.</a:t>
            </a:r>
            <a:br>
              <a:rPr lang="en-US" dirty="0"/>
            </a:br>
            <a:r>
              <a:rPr lang="en-US" dirty="0"/>
              <a:t>A quick test is: if the goal moved tomorrow, would I still need to pass through here.</a:t>
            </a:r>
          </a:p>
        </p:txBody>
      </p:sp>
      <p:sp>
        <p:nvSpPr>
          <p:cNvPr id="4" name="Slide Number Placeholder 3"/>
          <p:cNvSpPr>
            <a:spLocks noGrp="1"/>
          </p:cNvSpPr>
          <p:nvPr>
            <p:ph type="sldNum" sz="quarter" idx="5"/>
          </p:nvPr>
        </p:nvSpPr>
        <p:spPr/>
        <p:txBody>
          <a:bodyPr/>
          <a:lstStyle/>
          <a:p>
            <a:fld id="{47062F8D-6015-4186-952A-87493F61A5D5}" type="slidenum">
              <a:rPr lang="en-US" smtClean="0"/>
              <a:t>12</a:t>
            </a:fld>
            <a:endParaRPr lang="en-US" dirty="0"/>
          </a:p>
        </p:txBody>
      </p:sp>
    </p:spTree>
    <p:extLst>
      <p:ext uri="{BB962C8B-B14F-4D97-AF65-F5344CB8AC3E}">
        <p14:creationId xmlns:p14="http://schemas.microsoft.com/office/powerpoint/2010/main" val="3986385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Gain is the impact term. </a:t>
            </a:r>
            <a:br>
              <a:rPr lang="en-US" dirty="0"/>
            </a:br>
            <a:r>
              <a:rPr lang="en-US" dirty="0"/>
              <a:t>In everyday language, gain asks: if I update this, will it change my choices, and will they get better.</a:t>
            </a:r>
            <a:br>
              <a:rPr lang="en-US" dirty="0"/>
            </a:br>
            <a:r>
              <a:rPr lang="en-US" dirty="0"/>
              <a:t>This is why gain is not just reward magnitude.</a:t>
            </a:r>
            <a:br>
              <a:rPr lang="en-US" dirty="0"/>
            </a:br>
            <a:r>
              <a:rPr lang="en-US" dirty="0"/>
              <a:t>A big reward can have low gain if you already know the best route.</a:t>
            </a:r>
            <a:br>
              <a:rPr lang="en-US" dirty="0"/>
            </a:br>
            <a:r>
              <a:rPr lang="en-US" dirty="0"/>
              <a:t>A modest reward can have high gain if you are currently choosing the wrong action or are uncertain.</a:t>
            </a:r>
            <a:br>
              <a:rPr lang="en-US" dirty="0"/>
            </a:br>
            <a:r>
              <a:rPr lang="en-US" dirty="0"/>
              <a:t>So gain is strongest where learning is still changing behavior.</a:t>
            </a:r>
            <a:br>
              <a:rPr lang="en-US" dirty="0"/>
            </a:br>
            <a:r>
              <a:rPr lang="en-US" dirty="0"/>
              <a:t>Surprise can increase gain, but only when it changes which action seems best.</a:t>
            </a:r>
            <a:br>
              <a:rPr lang="en-US" dirty="0"/>
            </a:br>
            <a:r>
              <a:rPr lang="en-US" dirty="0"/>
              <a:t>Now add the paper's central twist: future goals can be uncertain. </a:t>
            </a:r>
            <a:br>
              <a:rPr lang="en-US" dirty="0"/>
            </a:br>
            <a:r>
              <a:rPr lang="en-US" dirty="0"/>
              <a:t>Under uncertainty, the best replay is the one that has high expected value averaged over the goals you might face.</a:t>
            </a:r>
            <a:br>
              <a:rPr lang="en-US" dirty="0"/>
            </a:br>
            <a:r>
              <a:rPr lang="en-US" dirty="0"/>
              <a:t>The paper implements this by separating a fast estimate of the current goal from a slower estimate of goal statistics used for replay prioritization. </a:t>
            </a:r>
            <a:br>
              <a:rPr lang="en-US" dirty="0"/>
            </a:br>
            <a:r>
              <a:rPr lang="en-US" dirty="0"/>
              <a:t>The talk-level intuition is that behavior can switch quickly when the goal changes.</a:t>
            </a:r>
            <a:br>
              <a:rPr lang="en-US" dirty="0"/>
            </a:br>
            <a:r>
              <a:rPr lang="en-US" dirty="0"/>
              <a:t>Replay can lag because it is preparing for what is likely overall, not only what is true right now.</a:t>
            </a:r>
          </a:p>
        </p:txBody>
      </p:sp>
      <p:sp>
        <p:nvSpPr>
          <p:cNvPr id="4" name="Slide Number Placeholder 3"/>
          <p:cNvSpPr>
            <a:spLocks noGrp="1"/>
          </p:cNvSpPr>
          <p:nvPr>
            <p:ph type="sldNum" sz="quarter" idx="5"/>
          </p:nvPr>
        </p:nvSpPr>
        <p:spPr/>
        <p:txBody>
          <a:bodyPr/>
          <a:lstStyle/>
          <a:p>
            <a:fld id="{47062F8D-6015-4186-952A-87493F61A5D5}" type="slidenum">
              <a:rPr lang="en-US" smtClean="0"/>
              <a:t>13</a:t>
            </a:fld>
            <a:endParaRPr lang="en-US" dirty="0"/>
          </a:p>
        </p:txBody>
      </p:sp>
    </p:spTree>
    <p:extLst>
      <p:ext uri="{BB962C8B-B14F-4D97-AF65-F5344CB8AC3E}">
        <p14:creationId xmlns:p14="http://schemas.microsoft.com/office/powerpoint/2010/main" val="17441145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findings about the content of replay during the repeat phase challenge the value view. (1) Replayed locations featured the goal arm from the previous block more often than any other arm. (2) Replay of the current-goal arm increased gradually throughout the repeat phase (i.e., over repeated sampling of that arm). (3) The enrichment of a goal for replay persisted for several blocks after it had become irrelevant, decreasing smoothly over time.</a:t>
            </a:r>
          </a:p>
        </p:txBody>
      </p:sp>
      <p:sp>
        <p:nvSpPr>
          <p:cNvPr id="4" name="Slide Number Placeholder 3"/>
          <p:cNvSpPr>
            <a:spLocks noGrp="1"/>
          </p:cNvSpPr>
          <p:nvPr>
            <p:ph type="sldNum" sz="quarter" idx="5"/>
          </p:nvPr>
        </p:nvSpPr>
        <p:spPr/>
        <p:txBody>
          <a:bodyPr/>
          <a:lstStyle/>
          <a:p>
            <a:fld id="{47062F8D-6015-4186-952A-87493F61A5D5}" type="slidenum">
              <a:rPr lang="en-US" smtClean="0"/>
              <a:t>15</a:t>
            </a:fld>
            <a:endParaRPr lang="en-US" dirty="0"/>
          </a:p>
        </p:txBody>
      </p:sp>
    </p:spTree>
    <p:extLst>
      <p:ext uri="{BB962C8B-B14F-4D97-AF65-F5344CB8AC3E}">
        <p14:creationId xmlns:p14="http://schemas.microsoft.com/office/powerpoint/2010/main" val="2007579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9"/>
            <a:ext cx="7772400" cy="1470025"/>
          </a:xfrm>
        </p:spPr>
        <p:txBody>
          <a:bodyPr/>
          <a:lstStyle>
            <a:lvl1pPr>
              <a:defRPr>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241EB5C9-1307-BA42-ABA2-0BC069CD8E7F}" type="datetimeFigureOut">
              <a:rPr lang="en-US" smtClean="0"/>
              <a:pPr/>
              <a:t>1/15/26</a:t>
            </a:fld>
            <a:endParaRPr lang="en-US" dirty="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3000" b="1" cap="all">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bg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457201" y="1535113"/>
            <a:ext cx="4040188"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3"/>
            <a:ext cx="4041775"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1/15/26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1/15/26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1/15/26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73049"/>
            <a:ext cx="3008313" cy="1162051"/>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1" y="273054"/>
            <a:ext cx="5111751"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435104"/>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p:cNvSpPr>
            <a:spLocks noGrp="1"/>
          </p:cNvSpPr>
          <p:nvPr>
            <p:ph type="body" sz="half" idx="2"/>
          </p:nvPr>
        </p:nvSpPr>
        <p:spPr>
          <a:xfrm>
            <a:off x="1792288" y="5367341"/>
            <a:ext cx="5486400" cy="8048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1/15/26</a:t>
            </a:fld>
            <a:endParaRPr lang="en-US"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bg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bg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bg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bg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bg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455072"/>
            <a:ext cx="7772400" cy="1102519"/>
          </a:xfrm>
        </p:spPr>
        <p:txBody>
          <a:bodyPr>
            <a:normAutofit fontScale="90000"/>
          </a:bodyPr>
          <a:lstStyle/>
          <a:p>
            <a:r>
              <a:rPr lang="en-US" dirty="0"/>
              <a:t>Between planning and map building: Prioritizing replay when future goals are uncertain</a:t>
            </a:r>
            <a:endParaRPr dirty="0"/>
          </a:p>
        </p:txBody>
      </p:sp>
      <p:sp>
        <p:nvSpPr>
          <p:cNvPr id="3" name="Subtitle 2"/>
          <p:cNvSpPr>
            <a:spLocks noGrp="1"/>
          </p:cNvSpPr>
          <p:nvPr>
            <p:ph type="subTitle" idx="1"/>
          </p:nvPr>
        </p:nvSpPr>
        <p:spPr>
          <a:xfrm>
            <a:off x="1371600" y="3771900"/>
            <a:ext cx="6400800" cy="1314450"/>
          </a:xfrm>
        </p:spPr>
        <p:txBody>
          <a:bodyPr>
            <a:normAutofit/>
          </a:bodyPr>
          <a:lstStyle/>
          <a:p>
            <a:br>
              <a:rPr lang="en-US" dirty="0">
                <a:solidFill>
                  <a:schemeClr val="bg1"/>
                </a:solidFill>
              </a:rPr>
            </a:br>
            <a:br>
              <a:rPr lang="en-US" dirty="0">
                <a:solidFill>
                  <a:schemeClr val="bg1"/>
                </a:solidFill>
              </a:rPr>
            </a:br>
            <a:r>
              <a:rPr lang="en-US" dirty="0">
                <a:solidFill>
                  <a:schemeClr val="bg1"/>
                </a:solidFill>
              </a:rPr>
              <a:t>21 January 2026</a:t>
            </a:r>
            <a:endParaRPr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542CD-3296-E682-8B2F-2EAF006D80EE}"/>
              </a:ext>
            </a:extLst>
          </p:cNvPr>
          <p:cNvSpPr>
            <a:spLocks noGrp="1"/>
          </p:cNvSpPr>
          <p:nvPr>
            <p:ph type="title"/>
          </p:nvPr>
        </p:nvSpPr>
        <p:spPr/>
        <p:txBody>
          <a:bodyPr/>
          <a:lstStyle/>
          <a:p>
            <a:r>
              <a:rPr lang="en-US" dirty="0"/>
              <a:t>Hippocampal Replay: </a:t>
            </a:r>
            <a:br>
              <a:rPr lang="en-US" dirty="0"/>
            </a:br>
            <a:r>
              <a:rPr lang="en-US" dirty="0"/>
              <a:t>The brain “re-runs” experience offline</a:t>
            </a:r>
          </a:p>
        </p:txBody>
      </p:sp>
      <p:sp>
        <p:nvSpPr>
          <p:cNvPr id="3" name="Content Placeholder 2">
            <a:extLst>
              <a:ext uri="{FF2B5EF4-FFF2-40B4-BE49-F238E27FC236}">
                <a16:creationId xmlns:a16="http://schemas.microsoft.com/office/drawing/2014/main" id="{C954DE57-564A-5BEF-5267-8EE0740F3724}"/>
              </a:ext>
            </a:extLst>
          </p:cNvPr>
          <p:cNvSpPr>
            <a:spLocks noGrp="1"/>
          </p:cNvSpPr>
          <p:nvPr>
            <p:ph idx="1"/>
          </p:nvPr>
        </p:nvSpPr>
        <p:spPr/>
        <p:txBody>
          <a:bodyPr>
            <a:normAutofit/>
          </a:bodyPr>
          <a:lstStyle/>
          <a:p>
            <a:r>
              <a:rPr lang="en-US" sz="2800" dirty="0"/>
              <a:t>Replay happens during pauses and rest</a:t>
            </a:r>
          </a:p>
          <a:p>
            <a:pPr lvl="1"/>
            <a:r>
              <a:rPr lang="en-US" sz="2400" dirty="0"/>
              <a:t>“replay of nonlocal trajectories during sharp-wave ripples in hippocampal place cells (and similar events elsewhere)”</a:t>
            </a:r>
          </a:p>
          <a:p>
            <a:r>
              <a:rPr lang="en-US" sz="2800" dirty="0"/>
              <a:t>It often looks like rapid sequences through locations or states</a:t>
            </a:r>
          </a:p>
          <a:p>
            <a:r>
              <a:rPr lang="en-US" sz="2800" dirty="0"/>
              <a:t>It is structured enough to suggest it is doing work</a:t>
            </a:r>
          </a:p>
          <a:p>
            <a:r>
              <a:rPr lang="en-US" sz="2800" dirty="0"/>
              <a:t>Key question: what work might it be doing?</a:t>
            </a:r>
          </a:p>
        </p:txBody>
      </p:sp>
    </p:spTree>
    <p:extLst>
      <p:ext uri="{BB962C8B-B14F-4D97-AF65-F5344CB8AC3E}">
        <p14:creationId xmlns:p14="http://schemas.microsoft.com/office/powerpoint/2010/main" val="3635031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5C74D-D57A-343A-5D7F-99372C44F812}"/>
              </a:ext>
            </a:extLst>
          </p:cNvPr>
          <p:cNvSpPr>
            <a:spLocks noGrp="1"/>
          </p:cNvSpPr>
          <p:nvPr>
            <p:ph type="title"/>
          </p:nvPr>
        </p:nvSpPr>
        <p:spPr/>
        <p:txBody>
          <a:bodyPr/>
          <a:lstStyle/>
          <a:p>
            <a:r>
              <a:rPr lang="en-US" dirty="0"/>
              <a:t>Why replay is worth explaining</a:t>
            </a:r>
          </a:p>
        </p:txBody>
      </p:sp>
      <p:sp>
        <p:nvSpPr>
          <p:cNvPr id="3" name="Content Placeholder 2">
            <a:extLst>
              <a:ext uri="{FF2B5EF4-FFF2-40B4-BE49-F238E27FC236}">
                <a16:creationId xmlns:a16="http://schemas.microsoft.com/office/drawing/2014/main" id="{9CBF4CC8-05AE-3D89-730F-710EC251AAC1}"/>
              </a:ext>
            </a:extLst>
          </p:cNvPr>
          <p:cNvSpPr>
            <a:spLocks noGrp="1"/>
          </p:cNvSpPr>
          <p:nvPr>
            <p:ph idx="1"/>
          </p:nvPr>
        </p:nvSpPr>
        <p:spPr/>
        <p:txBody>
          <a:bodyPr/>
          <a:lstStyle/>
          <a:p>
            <a:r>
              <a:rPr lang="en-US" dirty="0"/>
              <a:t>Replay is a window into what the brain prioritizes offline</a:t>
            </a:r>
          </a:p>
          <a:p>
            <a:r>
              <a:rPr lang="en-US" dirty="0"/>
              <a:t>Replay might change what is learned</a:t>
            </a:r>
          </a:p>
          <a:p>
            <a:r>
              <a:rPr lang="en-US" dirty="0"/>
              <a:t>Replay sits at the interface of memory and decision-making</a:t>
            </a:r>
          </a:p>
          <a:p>
            <a:r>
              <a:rPr lang="en-US" dirty="0"/>
              <a:t>A functional account should predict content</a:t>
            </a:r>
          </a:p>
          <a:p>
            <a:pPr marL="0" indent="0">
              <a:buNone/>
            </a:pPr>
            <a:endParaRPr lang="en-US" dirty="0"/>
          </a:p>
          <a:p>
            <a:endParaRPr lang="en-US" dirty="0"/>
          </a:p>
        </p:txBody>
      </p:sp>
    </p:spTree>
    <p:extLst>
      <p:ext uri="{BB962C8B-B14F-4D97-AF65-F5344CB8AC3E}">
        <p14:creationId xmlns:p14="http://schemas.microsoft.com/office/powerpoint/2010/main" val="1930820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BBE3D-D2EC-F8A7-2A79-40DEECBB577B}"/>
              </a:ext>
            </a:extLst>
          </p:cNvPr>
          <p:cNvSpPr>
            <a:spLocks noGrp="1"/>
          </p:cNvSpPr>
          <p:nvPr>
            <p:ph type="title"/>
          </p:nvPr>
        </p:nvSpPr>
        <p:spPr/>
        <p:txBody>
          <a:bodyPr>
            <a:normAutofit fontScale="90000"/>
          </a:bodyPr>
          <a:lstStyle/>
          <a:p>
            <a:r>
              <a:rPr lang="en-US" dirty="0"/>
              <a:t>The key puzzle: </a:t>
            </a:r>
            <a:br>
              <a:rPr lang="en-US" dirty="0"/>
            </a:br>
            <a:r>
              <a:rPr lang="en-US" dirty="0"/>
              <a:t>Replay is not clearly aligned with "what I want right now."</a:t>
            </a:r>
          </a:p>
        </p:txBody>
      </p:sp>
      <p:sp>
        <p:nvSpPr>
          <p:cNvPr id="3" name="Content Placeholder 2">
            <a:extLst>
              <a:ext uri="{FF2B5EF4-FFF2-40B4-BE49-F238E27FC236}">
                <a16:creationId xmlns:a16="http://schemas.microsoft.com/office/drawing/2014/main" id="{6F65D5A2-3143-9910-7A46-B7B317B865BA}"/>
              </a:ext>
            </a:extLst>
          </p:cNvPr>
          <p:cNvSpPr>
            <a:spLocks noGrp="1"/>
          </p:cNvSpPr>
          <p:nvPr>
            <p:ph idx="1"/>
          </p:nvPr>
        </p:nvSpPr>
        <p:spPr/>
        <p:txBody>
          <a:bodyPr/>
          <a:lstStyle/>
          <a:p>
            <a:r>
              <a:rPr lang="en-US" dirty="0"/>
              <a:t>Sometimes replay aligns with current objective</a:t>
            </a:r>
          </a:p>
          <a:p>
            <a:r>
              <a:rPr lang="en-US" dirty="0"/>
              <a:t>When goals change, replay can "lag”, fixate on the old</a:t>
            </a:r>
          </a:p>
          <a:p>
            <a:r>
              <a:rPr lang="en-US" dirty="0"/>
              <a:t>Conflicting results set up competition between “value” and “map” hypotheses about what replay is directed at</a:t>
            </a:r>
          </a:p>
          <a:p>
            <a:r>
              <a:rPr lang="en-US" dirty="0"/>
              <a:t>This paper bridges them!</a:t>
            </a:r>
          </a:p>
          <a:p>
            <a:r>
              <a:rPr lang="en-US" dirty="0"/>
              <a:t>Key diagnostic: which replay trajectories are prioritized and why?</a:t>
            </a:r>
          </a:p>
        </p:txBody>
      </p:sp>
    </p:spTree>
    <p:extLst>
      <p:ext uri="{BB962C8B-B14F-4D97-AF65-F5344CB8AC3E}">
        <p14:creationId xmlns:p14="http://schemas.microsoft.com/office/powerpoint/2010/main" val="206229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8D238-637B-6252-01B1-9F4759D9BFB1}"/>
              </a:ext>
            </a:extLst>
          </p:cNvPr>
          <p:cNvSpPr>
            <a:spLocks noGrp="1"/>
          </p:cNvSpPr>
          <p:nvPr>
            <p:ph type="title"/>
          </p:nvPr>
        </p:nvSpPr>
        <p:spPr/>
        <p:txBody>
          <a:bodyPr/>
          <a:lstStyle/>
          <a:p>
            <a:r>
              <a:rPr lang="en-US" dirty="0"/>
              <a:t>Maps as a Generalized Value Function</a:t>
            </a:r>
          </a:p>
        </p:txBody>
      </p:sp>
      <p:sp>
        <p:nvSpPr>
          <p:cNvPr id="3" name="Content Placeholder 2">
            <a:extLst>
              <a:ext uri="{FF2B5EF4-FFF2-40B4-BE49-F238E27FC236}">
                <a16:creationId xmlns:a16="http://schemas.microsoft.com/office/drawing/2014/main" id="{81F5CC23-DB93-C7A9-B003-94FFEA7A666A}"/>
              </a:ext>
            </a:extLst>
          </p:cNvPr>
          <p:cNvSpPr>
            <a:spLocks noGrp="1"/>
          </p:cNvSpPr>
          <p:nvPr>
            <p:ph idx="1"/>
          </p:nvPr>
        </p:nvSpPr>
        <p:spPr/>
        <p:txBody>
          <a:bodyPr/>
          <a:lstStyle/>
          <a:p>
            <a:r>
              <a:rPr lang="en-US" dirty="0"/>
              <a:t>A local map: "what can I reach in one step?”</a:t>
            </a:r>
          </a:p>
          <a:p>
            <a:r>
              <a:rPr lang="en-US" dirty="0"/>
              <a:t>Replayed trajectories already reflect local connectivity, so they can’t be what replay is for</a:t>
            </a:r>
          </a:p>
          <a:p>
            <a:r>
              <a:rPr lang="en-US" dirty="0"/>
              <a:t>A usable map: "which way should I go to reach a destination?"</a:t>
            </a:r>
          </a:p>
          <a:p>
            <a:r>
              <a:rPr lang="en-US" dirty="0"/>
              <a:t>This definition is not goal-neutral, but instead goal-flexible</a:t>
            </a:r>
          </a:p>
          <a:p>
            <a:r>
              <a:rPr lang="en-US" dirty="0"/>
              <a:t>A set of value functions: one for each potential goal</a:t>
            </a:r>
          </a:p>
          <a:p>
            <a:r>
              <a:rPr lang="en-US" dirty="0"/>
              <a:t>Can appear decoupled from current reward or choice, but still suggests a consistent structure in behavior</a:t>
            </a:r>
          </a:p>
        </p:txBody>
      </p:sp>
    </p:spTree>
    <p:extLst>
      <p:ext uri="{BB962C8B-B14F-4D97-AF65-F5344CB8AC3E}">
        <p14:creationId xmlns:p14="http://schemas.microsoft.com/office/powerpoint/2010/main" val="1884294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6E5E1-A13B-C93A-AE58-4DE0C2A57244}"/>
              </a:ext>
            </a:extLst>
          </p:cNvPr>
          <p:cNvSpPr>
            <a:spLocks noGrp="1"/>
          </p:cNvSpPr>
          <p:nvPr>
            <p:ph type="title"/>
          </p:nvPr>
        </p:nvSpPr>
        <p:spPr>
          <a:xfrm>
            <a:off x="0" y="0"/>
            <a:ext cx="9144000" cy="1143000"/>
          </a:xfrm>
        </p:spPr>
        <p:txBody>
          <a:bodyPr/>
          <a:lstStyle/>
          <a:p>
            <a:r>
              <a:rPr lang="en-US" dirty="0"/>
              <a:t>The Geodesic Representation: one "page" per goal</a:t>
            </a:r>
          </a:p>
        </p:txBody>
      </p:sp>
      <p:sp>
        <p:nvSpPr>
          <p:cNvPr id="3" name="Content Placeholder 2">
            <a:extLst>
              <a:ext uri="{FF2B5EF4-FFF2-40B4-BE49-F238E27FC236}">
                <a16:creationId xmlns:a16="http://schemas.microsoft.com/office/drawing/2014/main" id="{D5896DA3-C353-C253-FD94-FFD58E484155}"/>
              </a:ext>
            </a:extLst>
          </p:cNvPr>
          <p:cNvSpPr>
            <a:spLocks noGrp="1"/>
          </p:cNvSpPr>
          <p:nvPr>
            <p:ph idx="1"/>
          </p:nvPr>
        </p:nvSpPr>
        <p:spPr>
          <a:xfrm>
            <a:off x="457200" y="953799"/>
            <a:ext cx="8229600" cy="4525963"/>
          </a:xfrm>
        </p:spPr>
        <p:txBody>
          <a:bodyPr/>
          <a:lstStyle/>
          <a:p>
            <a:r>
              <a:rPr lang="en-US" dirty="0"/>
              <a:t>GR stores action guidance for many possible goals</a:t>
            </a:r>
          </a:p>
          <a:p>
            <a:r>
              <a:rPr lang="en-US" dirty="0"/>
              <a:t>G(s, a, g) = "action score given goal g"</a:t>
            </a:r>
          </a:p>
          <a:p>
            <a:r>
              <a:rPr lang="en-US" dirty="0"/>
              <a:t>Fix g, and you have a normal goal-directed guide</a:t>
            </a:r>
          </a:p>
          <a:p>
            <a:r>
              <a:rPr lang="en-US" dirty="0"/>
              <a:t>Change g, and you flip to a different page (no relearning)</a:t>
            </a:r>
          </a:p>
        </p:txBody>
      </p:sp>
      <p:pic>
        <p:nvPicPr>
          <p:cNvPr id="5" name="Picture 4">
            <a:extLst>
              <a:ext uri="{FF2B5EF4-FFF2-40B4-BE49-F238E27FC236}">
                <a16:creationId xmlns:a16="http://schemas.microsoft.com/office/drawing/2014/main" id="{CB065083-7778-7844-F011-ABB7550F43D8}"/>
              </a:ext>
            </a:extLst>
          </p:cNvPr>
          <p:cNvPicPr>
            <a:picLocks noChangeAspect="1"/>
          </p:cNvPicPr>
          <p:nvPr/>
        </p:nvPicPr>
        <p:blipFill>
          <a:blip r:embed="rId3"/>
          <a:stretch>
            <a:fillRect/>
          </a:stretch>
        </p:blipFill>
        <p:spPr>
          <a:xfrm>
            <a:off x="685800" y="2863885"/>
            <a:ext cx="7772400" cy="3895322"/>
          </a:xfrm>
          <a:prstGeom prst="rect">
            <a:avLst/>
          </a:prstGeom>
        </p:spPr>
      </p:pic>
    </p:spTree>
    <p:extLst>
      <p:ext uri="{BB962C8B-B14F-4D97-AF65-F5344CB8AC3E}">
        <p14:creationId xmlns:p14="http://schemas.microsoft.com/office/powerpoint/2010/main" val="1670245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668A5-1887-95A0-D00D-0F2E93938332}"/>
              </a:ext>
            </a:extLst>
          </p:cNvPr>
          <p:cNvSpPr>
            <a:spLocks noGrp="1"/>
          </p:cNvSpPr>
          <p:nvPr>
            <p:ph type="title"/>
          </p:nvPr>
        </p:nvSpPr>
        <p:spPr/>
        <p:txBody>
          <a:bodyPr/>
          <a:lstStyle/>
          <a:p>
            <a:r>
              <a:rPr lang="en-US" dirty="0"/>
              <a:t>Why this map is learnable from replay.</a:t>
            </a:r>
          </a:p>
        </p:txBody>
      </p:sp>
      <p:sp>
        <p:nvSpPr>
          <p:cNvPr id="3" name="Content Placeholder 2">
            <a:extLst>
              <a:ext uri="{FF2B5EF4-FFF2-40B4-BE49-F238E27FC236}">
                <a16:creationId xmlns:a16="http://schemas.microsoft.com/office/drawing/2014/main" id="{03CCF2A4-D078-BAE2-B6D0-6193A9302D17}"/>
              </a:ext>
            </a:extLst>
          </p:cNvPr>
          <p:cNvSpPr>
            <a:spLocks noGrp="1"/>
          </p:cNvSpPr>
          <p:nvPr>
            <p:ph idx="1"/>
          </p:nvPr>
        </p:nvSpPr>
        <p:spPr>
          <a:xfrm>
            <a:off x="457200" y="1487124"/>
            <a:ext cx="8229600" cy="4525963"/>
          </a:xfrm>
        </p:spPr>
        <p:txBody>
          <a:bodyPr/>
          <a:lstStyle/>
          <a:p>
            <a:r>
              <a:rPr lang="en-US" dirty="0"/>
              <a:t>Replay samples a remembered transition: s --a--&gt; s'</a:t>
            </a:r>
          </a:p>
          <a:p>
            <a:r>
              <a:rPr lang="en-US" dirty="0"/>
              <a:t>A "backup" updates the GR using that one step</a:t>
            </a:r>
          </a:p>
          <a:p>
            <a:r>
              <a:rPr lang="en-US" dirty="0"/>
              <a:t>One step can matter for many goals at once</a:t>
            </a:r>
          </a:p>
        </p:txBody>
      </p:sp>
      <p:pic>
        <p:nvPicPr>
          <p:cNvPr id="9" name="Picture 8">
            <a:extLst>
              <a:ext uri="{FF2B5EF4-FFF2-40B4-BE49-F238E27FC236}">
                <a16:creationId xmlns:a16="http://schemas.microsoft.com/office/drawing/2014/main" id="{A90B154B-90A6-BBBF-F889-DB95B4B393C4}"/>
              </a:ext>
            </a:extLst>
          </p:cNvPr>
          <p:cNvPicPr>
            <a:picLocks noChangeAspect="1"/>
          </p:cNvPicPr>
          <p:nvPr/>
        </p:nvPicPr>
        <p:blipFill>
          <a:blip r:embed="rId3"/>
          <a:stretch>
            <a:fillRect/>
          </a:stretch>
        </p:blipFill>
        <p:spPr>
          <a:xfrm>
            <a:off x="574431" y="3321542"/>
            <a:ext cx="7772400" cy="2992191"/>
          </a:xfrm>
          <a:prstGeom prst="rect">
            <a:avLst/>
          </a:prstGeom>
        </p:spPr>
      </p:pic>
    </p:spTree>
    <p:extLst>
      <p:ext uri="{BB962C8B-B14F-4D97-AF65-F5344CB8AC3E}">
        <p14:creationId xmlns:p14="http://schemas.microsoft.com/office/powerpoint/2010/main" val="1599525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2E91C-36F2-DD0B-AF0A-2BAE90D1ECE0}"/>
              </a:ext>
            </a:extLst>
          </p:cNvPr>
          <p:cNvSpPr>
            <a:spLocks noGrp="1"/>
          </p:cNvSpPr>
          <p:nvPr>
            <p:ph type="title"/>
          </p:nvPr>
        </p:nvSpPr>
        <p:spPr/>
        <p:txBody>
          <a:bodyPr/>
          <a:lstStyle/>
          <a:p>
            <a:r>
              <a:rPr lang="en-US" dirty="0"/>
              <a:t>Replay as selective offline learning</a:t>
            </a:r>
          </a:p>
        </p:txBody>
      </p:sp>
      <p:sp>
        <p:nvSpPr>
          <p:cNvPr id="3" name="Content Placeholder 2">
            <a:extLst>
              <a:ext uri="{FF2B5EF4-FFF2-40B4-BE49-F238E27FC236}">
                <a16:creationId xmlns:a16="http://schemas.microsoft.com/office/drawing/2014/main" id="{743C65A7-EDF2-929E-DEB1-93F4A17F8A2D}"/>
              </a:ext>
            </a:extLst>
          </p:cNvPr>
          <p:cNvSpPr>
            <a:spLocks noGrp="1"/>
          </p:cNvSpPr>
          <p:nvPr>
            <p:ph idx="1"/>
          </p:nvPr>
        </p:nvSpPr>
        <p:spPr>
          <a:xfrm>
            <a:off x="457200" y="1318847"/>
            <a:ext cx="8229600" cy="4525963"/>
          </a:xfrm>
        </p:spPr>
        <p:txBody>
          <a:bodyPr/>
          <a:lstStyle/>
          <a:p>
            <a:r>
              <a:rPr lang="en-US" dirty="0"/>
              <a:t>Replay can be treated as doing extra "learning updates" offline.</a:t>
            </a:r>
          </a:p>
          <a:p>
            <a:r>
              <a:rPr lang="en-US" dirty="0"/>
              <a:t>Each replay event selects one remembered step (s -&gt; s').</a:t>
            </a:r>
          </a:p>
          <a:p>
            <a:r>
              <a:rPr lang="en-US" dirty="0"/>
              <a:t>Replay time is limited, so order matters.</a:t>
            </a:r>
          </a:p>
          <a:p>
            <a:r>
              <a:rPr lang="en-US" dirty="0"/>
              <a:t>How do we choose what to replay next?</a:t>
            </a:r>
          </a:p>
          <a:p>
            <a:endParaRPr lang="en-US" dirty="0"/>
          </a:p>
          <a:p>
            <a:endParaRPr lang="en-US" dirty="0"/>
          </a:p>
        </p:txBody>
      </p:sp>
      <p:pic>
        <p:nvPicPr>
          <p:cNvPr id="4" name="Picture 3">
            <a:extLst>
              <a:ext uri="{FF2B5EF4-FFF2-40B4-BE49-F238E27FC236}">
                <a16:creationId xmlns:a16="http://schemas.microsoft.com/office/drawing/2014/main" id="{463BBEAB-6295-C361-0626-D7A59B548098}"/>
              </a:ext>
            </a:extLst>
          </p:cNvPr>
          <p:cNvPicPr>
            <a:picLocks noChangeAspect="1"/>
          </p:cNvPicPr>
          <p:nvPr/>
        </p:nvPicPr>
        <p:blipFill>
          <a:blip r:embed="rId3"/>
          <a:stretch>
            <a:fillRect/>
          </a:stretch>
        </p:blipFill>
        <p:spPr>
          <a:xfrm>
            <a:off x="1914780" y="3619499"/>
            <a:ext cx="5314440" cy="2663457"/>
          </a:xfrm>
          <a:prstGeom prst="rect">
            <a:avLst/>
          </a:prstGeom>
        </p:spPr>
      </p:pic>
    </p:spTree>
    <p:extLst>
      <p:ext uri="{BB962C8B-B14F-4D97-AF65-F5344CB8AC3E}">
        <p14:creationId xmlns:p14="http://schemas.microsoft.com/office/powerpoint/2010/main" val="3549232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AD2B0-5597-2FEC-E8D5-6CDBAEA9625F}"/>
              </a:ext>
            </a:extLst>
          </p:cNvPr>
          <p:cNvSpPr>
            <a:spLocks noGrp="1"/>
          </p:cNvSpPr>
          <p:nvPr>
            <p:ph type="title"/>
          </p:nvPr>
        </p:nvSpPr>
        <p:spPr>
          <a:xfrm>
            <a:off x="140677" y="274639"/>
            <a:ext cx="9003323" cy="1143000"/>
          </a:xfrm>
        </p:spPr>
        <p:txBody>
          <a:bodyPr>
            <a:normAutofit fontScale="90000"/>
          </a:bodyPr>
          <a:lstStyle/>
          <a:p>
            <a:r>
              <a:rPr lang="en-US" dirty="0"/>
              <a:t>A Priority Score for Replay: Expected Value of Backup</a:t>
            </a:r>
            <a:br>
              <a:rPr lang="en-US" dirty="0"/>
            </a:br>
            <a:endParaRPr lang="en-US" dirty="0"/>
          </a:p>
        </p:txBody>
      </p:sp>
      <p:sp>
        <p:nvSpPr>
          <p:cNvPr id="3" name="Content Placeholder 2">
            <a:extLst>
              <a:ext uri="{FF2B5EF4-FFF2-40B4-BE49-F238E27FC236}">
                <a16:creationId xmlns:a16="http://schemas.microsoft.com/office/drawing/2014/main" id="{BAB1A5A3-B303-A075-E767-364AB09E3635}"/>
              </a:ext>
            </a:extLst>
          </p:cNvPr>
          <p:cNvSpPr>
            <a:spLocks noGrp="1"/>
          </p:cNvSpPr>
          <p:nvPr>
            <p:ph idx="1"/>
          </p:nvPr>
        </p:nvSpPr>
        <p:spPr>
          <a:xfrm>
            <a:off x="527538" y="978449"/>
            <a:ext cx="8229600" cy="4525963"/>
          </a:xfrm>
        </p:spPr>
        <p:txBody>
          <a:bodyPr/>
          <a:lstStyle/>
          <a:p>
            <a:r>
              <a:rPr lang="en-US" dirty="0"/>
              <a:t>Score a candidate replay step by its expected future benefit.</a:t>
            </a:r>
          </a:p>
          <a:p>
            <a:r>
              <a:rPr lang="en-US" dirty="0"/>
              <a:t>EVB is the paper's name for that score. </a:t>
            </a:r>
          </a:p>
          <a:p>
            <a:r>
              <a:rPr lang="en-US" dirty="0"/>
              <a:t>EVB has two parts:</a:t>
            </a:r>
          </a:p>
          <a:p>
            <a:pPr lvl="1"/>
            <a:r>
              <a:rPr lang="en-US" dirty="0"/>
              <a:t>Need = how often it will matter.</a:t>
            </a:r>
          </a:p>
          <a:p>
            <a:pPr lvl="1"/>
            <a:r>
              <a:rPr lang="en-US" dirty="0"/>
              <a:t>Gain = how much it would improve choices.</a:t>
            </a:r>
          </a:p>
          <a:p>
            <a:endParaRPr lang="en-US" dirty="0"/>
          </a:p>
        </p:txBody>
      </p:sp>
      <p:pic>
        <p:nvPicPr>
          <p:cNvPr id="4" name="Picture 3">
            <a:extLst>
              <a:ext uri="{FF2B5EF4-FFF2-40B4-BE49-F238E27FC236}">
                <a16:creationId xmlns:a16="http://schemas.microsoft.com/office/drawing/2014/main" id="{5DE05E69-4E54-9D6C-9750-45FF23D3756E}"/>
              </a:ext>
            </a:extLst>
          </p:cNvPr>
          <p:cNvPicPr>
            <a:picLocks noChangeAspect="1"/>
          </p:cNvPicPr>
          <p:nvPr/>
        </p:nvPicPr>
        <p:blipFill>
          <a:blip r:embed="rId3"/>
          <a:stretch>
            <a:fillRect/>
          </a:stretch>
        </p:blipFill>
        <p:spPr>
          <a:xfrm>
            <a:off x="386862" y="3241430"/>
            <a:ext cx="7772400" cy="1842127"/>
          </a:xfrm>
          <a:prstGeom prst="rect">
            <a:avLst/>
          </a:prstGeom>
        </p:spPr>
      </p:pic>
      <p:pic>
        <p:nvPicPr>
          <p:cNvPr id="5" name="Picture 4">
            <a:extLst>
              <a:ext uri="{FF2B5EF4-FFF2-40B4-BE49-F238E27FC236}">
                <a16:creationId xmlns:a16="http://schemas.microsoft.com/office/drawing/2014/main" id="{A4F93840-3F1E-73B7-C979-D157F7DF31E4}"/>
              </a:ext>
            </a:extLst>
          </p:cNvPr>
          <p:cNvPicPr>
            <a:picLocks noChangeAspect="1"/>
          </p:cNvPicPr>
          <p:nvPr/>
        </p:nvPicPr>
        <p:blipFill>
          <a:blip r:embed="rId4"/>
          <a:stretch>
            <a:fillRect/>
          </a:stretch>
        </p:blipFill>
        <p:spPr>
          <a:xfrm>
            <a:off x="2931991" y="5016688"/>
            <a:ext cx="2768356" cy="1914871"/>
          </a:xfrm>
          <a:prstGeom prst="rect">
            <a:avLst/>
          </a:prstGeom>
        </p:spPr>
      </p:pic>
    </p:spTree>
    <p:extLst>
      <p:ext uri="{BB962C8B-B14F-4D97-AF65-F5344CB8AC3E}">
        <p14:creationId xmlns:p14="http://schemas.microsoft.com/office/powerpoint/2010/main" val="2483980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93E82-CF21-94F1-0DD6-3BFAB7FC6E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3541E4-A75A-ABBA-6D70-D7EA1666C344}"/>
              </a:ext>
            </a:extLst>
          </p:cNvPr>
          <p:cNvSpPr>
            <a:spLocks noGrp="1"/>
          </p:cNvSpPr>
          <p:nvPr>
            <p:ph type="title"/>
          </p:nvPr>
        </p:nvSpPr>
        <p:spPr>
          <a:xfrm>
            <a:off x="140677" y="274639"/>
            <a:ext cx="9003323" cy="1143000"/>
          </a:xfrm>
        </p:spPr>
        <p:txBody>
          <a:bodyPr>
            <a:normAutofit fontScale="90000"/>
          </a:bodyPr>
          <a:lstStyle/>
          <a:p>
            <a:r>
              <a:rPr lang="en-US" dirty="0"/>
              <a:t>A Priority Score for Replay: Expected Value of Backup</a:t>
            </a:r>
            <a:br>
              <a:rPr lang="en-US" dirty="0"/>
            </a:br>
            <a:endParaRPr lang="en-US" dirty="0"/>
          </a:p>
        </p:txBody>
      </p:sp>
      <p:sp>
        <p:nvSpPr>
          <p:cNvPr id="3" name="Content Placeholder 2">
            <a:extLst>
              <a:ext uri="{FF2B5EF4-FFF2-40B4-BE49-F238E27FC236}">
                <a16:creationId xmlns:a16="http://schemas.microsoft.com/office/drawing/2014/main" id="{0A3FDDFD-D2E8-4619-755C-D1C65A7BA73A}"/>
              </a:ext>
            </a:extLst>
          </p:cNvPr>
          <p:cNvSpPr>
            <a:spLocks noGrp="1"/>
          </p:cNvSpPr>
          <p:nvPr>
            <p:ph idx="1"/>
          </p:nvPr>
        </p:nvSpPr>
        <p:spPr>
          <a:xfrm>
            <a:off x="527538" y="978449"/>
            <a:ext cx="8229600" cy="4525963"/>
          </a:xfrm>
        </p:spPr>
        <p:txBody>
          <a:bodyPr/>
          <a:lstStyle/>
          <a:p>
            <a:r>
              <a:rPr lang="en-US" dirty="0"/>
              <a:t>Score a candidate replay step by its expected future benefit.</a:t>
            </a:r>
          </a:p>
          <a:p>
            <a:r>
              <a:rPr lang="en-US" dirty="0"/>
              <a:t>EVB is the paper's name for that score. </a:t>
            </a:r>
          </a:p>
          <a:p>
            <a:r>
              <a:rPr lang="en-US" dirty="0"/>
              <a:t>EVB has two parts:</a:t>
            </a:r>
          </a:p>
          <a:p>
            <a:pPr lvl="1"/>
            <a:r>
              <a:rPr lang="en-US" dirty="0"/>
              <a:t>Need = how often it will matter.</a:t>
            </a:r>
          </a:p>
          <a:p>
            <a:pPr lvl="1"/>
            <a:r>
              <a:rPr lang="en-US" dirty="0"/>
              <a:t>Gain = how much it would improve choices.</a:t>
            </a:r>
          </a:p>
          <a:p>
            <a:endParaRPr lang="en-US" dirty="0"/>
          </a:p>
        </p:txBody>
      </p:sp>
      <p:pic>
        <p:nvPicPr>
          <p:cNvPr id="6" name="Picture 5">
            <a:extLst>
              <a:ext uri="{FF2B5EF4-FFF2-40B4-BE49-F238E27FC236}">
                <a16:creationId xmlns:a16="http://schemas.microsoft.com/office/drawing/2014/main" id="{BB8F0603-AE85-F8B2-E3C0-1366E680747C}"/>
              </a:ext>
            </a:extLst>
          </p:cNvPr>
          <p:cNvPicPr>
            <a:picLocks noChangeAspect="1"/>
          </p:cNvPicPr>
          <p:nvPr/>
        </p:nvPicPr>
        <p:blipFill>
          <a:blip r:embed="rId3"/>
          <a:stretch>
            <a:fillRect/>
          </a:stretch>
        </p:blipFill>
        <p:spPr>
          <a:xfrm>
            <a:off x="685800" y="3664137"/>
            <a:ext cx="7772400" cy="2460493"/>
          </a:xfrm>
          <a:prstGeom prst="rect">
            <a:avLst/>
          </a:prstGeom>
        </p:spPr>
      </p:pic>
    </p:spTree>
    <p:extLst>
      <p:ext uri="{BB962C8B-B14F-4D97-AF65-F5344CB8AC3E}">
        <p14:creationId xmlns:p14="http://schemas.microsoft.com/office/powerpoint/2010/main" val="1671077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6AE84DC-8786-DDDE-7BD8-FD117E6B92F4}"/>
              </a:ext>
            </a:extLst>
          </p:cNvPr>
          <p:cNvPicPr>
            <a:picLocks noChangeAspect="1"/>
          </p:cNvPicPr>
          <p:nvPr/>
        </p:nvPicPr>
        <p:blipFill>
          <a:blip r:embed="rId2"/>
          <a:stretch>
            <a:fillRect/>
          </a:stretch>
        </p:blipFill>
        <p:spPr>
          <a:xfrm>
            <a:off x="3346450" y="279400"/>
            <a:ext cx="2451100" cy="6299200"/>
          </a:xfrm>
          <a:prstGeom prst="rect">
            <a:avLst/>
          </a:prstGeom>
        </p:spPr>
      </p:pic>
    </p:spTree>
    <p:extLst>
      <p:ext uri="{BB962C8B-B14F-4D97-AF65-F5344CB8AC3E}">
        <p14:creationId xmlns:p14="http://schemas.microsoft.com/office/powerpoint/2010/main" val="33949723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0E08C-0EA3-F6C1-7A6E-D4FA1C4C8A2B}"/>
              </a:ext>
            </a:extLst>
          </p:cNvPr>
          <p:cNvSpPr>
            <a:spLocks noGrp="1"/>
          </p:cNvSpPr>
          <p:nvPr>
            <p:ph type="title"/>
          </p:nvPr>
        </p:nvSpPr>
        <p:spPr>
          <a:xfrm>
            <a:off x="0" y="446089"/>
            <a:ext cx="4953490" cy="1143000"/>
          </a:xfrm>
        </p:spPr>
        <p:txBody>
          <a:bodyPr/>
          <a:lstStyle/>
          <a:p>
            <a:r>
              <a:rPr lang="en-US" dirty="0"/>
              <a:t>Need: Replay What Will Be Reused</a:t>
            </a:r>
          </a:p>
        </p:txBody>
      </p:sp>
      <p:sp>
        <p:nvSpPr>
          <p:cNvPr id="3" name="Content Placeholder 2">
            <a:extLst>
              <a:ext uri="{FF2B5EF4-FFF2-40B4-BE49-F238E27FC236}">
                <a16:creationId xmlns:a16="http://schemas.microsoft.com/office/drawing/2014/main" id="{006CE948-FD9D-B828-AF5F-4840EBE5C025}"/>
              </a:ext>
            </a:extLst>
          </p:cNvPr>
          <p:cNvSpPr>
            <a:spLocks noGrp="1"/>
          </p:cNvSpPr>
          <p:nvPr>
            <p:ph idx="1"/>
          </p:nvPr>
        </p:nvSpPr>
        <p:spPr>
          <a:xfrm>
            <a:off x="457199" y="2057398"/>
            <a:ext cx="4278923" cy="4525963"/>
          </a:xfrm>
        </p:spPr>
        <p:txBody>
          <a:bodyPr/>
          <a:lstStyle/>
          <a:p>
            <a:r>
              <a:rPr lang="en-US" dirty="0"/>
              <a:t>Need asks: how much of the future runs through this state.</a:t>
            </a:r>
          </a:p>
          <a:p>
            <a:r>
              <a:rPr lang="en-US" dirty="0"/>
              <a:t>High need states are bottlenecks, hubs, and gateways.</a:t>
            </a:r>
          </a:p>
          <a:p>
            <a:r>
              <a:rPr lang="en-US" dirty="0"/>
              <a:t>Need depends on expected future occupancy (successor-like). </a:t>
            </a:r>
          </a:p>
          <a:p>
            <a:r>
              <a:rPr lang="en-US" dirty="0"/>
              <a:t>Need can be high even when reward is elsewhere.</a:t>
            </a:r>
          </a:p>
          <a:p>
            <a:endParaRPr lang="en-US" dirty="0"/>
          </a:p>
          <a:p>
            <a:endParaRPr lang="en-US" dirty="0"/>
          </a:p>
        </p:txBody>
      </p:sp>
      <p:pic>
        <p:nvPicPr>
          <p:cNvPr id="4" name="Picture 3">
            <a:extLst>
              <a:ext uri="{FF2B5EF4-FFF2-40B4-BE49-F238E27FC236}">
                <a16:creationId xmlns:a16="http://schemas.microsoft.com/office/drawing/2014/main" id="{908AC0CD-E015-44CD-75D3-A17974420918}"/>
              </a:ext>
            </a:extLst>
          </p:cNvPr>
          <p:cNvPicPr>
            <a:picLocks noChangeAspect="1"/>
          </p:cNvPicPr>
          <p:nvPr/>
        </p:nvPicPr>
        <p:blipFill>
          <a:blip r:embed="rId3"/>
          <a:stretch>
            <a:fillRect/>
          </a:stretch>
        </p:blipFill>
        <p:spPr>
          <a:xfrm>
            <a:off x="5162061" y="274639"/>
            <a:ext cx="3213100" cy="6299200"/>
          </a:xfrm>
          <a:prstGeom prst="rect">
            <a:avLst/>
          </a:prstGeom>
        </p:spPr>
      </p:pic>
    </p:spTree>
    <p:extLst>
      <p:ext uri="{BB962C8B-B14F-4D97-AF65-F5344CB8AC3E}">
        <p14:creationId xmlns:p14="http://schemas.microsoft.com/office/powerpoint/2010/main" val="676751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AB774-EF47-9E56-31E4-BAA6DEC597C7}"/>
              </a:ext>
            </a:extLst>
          </p:cNvPr>
          <p:cNvSpPr>
            <a:spLocks noGrp="1"/>
          </p:cNvSpPr>
          <p:nvPr>
            <p:ph type="title"/>
          </p:nvPr>
        </p:nvSpPr>
        <p:spPr/>
        <p:txBody>
          <a:bodyPr>
            <a:normAutofit/>
          </a:bodyPr>
          <a:lstStyle/>
          <a:p>
            <a:r>
              <a:rPr lang="en-US" dirty="0"/>
              <a:t>Gain: replay what would change behavior (especially when goals are uncertain).</a:t>
            </a:r>
          </a:p>
        </p:txBody>
      </p:sp>
      <p:sp>
        <p:nvSpPr>
          <p:cNvPr id="3" name="Content Placeholder 2">
            <a:extLst>
              <a:ext uri="{FF2B5EF4-FFF2-40B4-BE49-F238E27FC236}">
                <a16:creationId xmlns:a16="http://schemas.microsoft.com/office/drawing/2014/main" id="{CA90F0B3-1F32-69FE-D5D9-6BD2D3615D46}"/>
              </a:ext>
            </a:extLst>
          </p:cNvPr>
          <p:cNvSpPr>
            <a:spLocks noGrp="1"/>
          </p:cNvSpPr>
          <p:nvPr>
            <p:ph idx="1"/>
          </p:nvPr>
        </p:nvSpPr>
        <p:spPr>
          <a:xfrm>
            <a:off x="352181" y="1881552"/>
            <a:ext cx="2895111" cy="4525963"/>
          </a:xfrm>
        </p:spPr>
        <p:txBody>
          <a:bodyPr>
            <a:normAutofit fontScale="92500" lnSpcReduction="10000"/>
          </a:bodyPr>
          <a:lstStyle/>
          <a:p>
            <a:r>
              <a:rPr lang="en-US" dirty="0"/>
              <a:t>Gain asks: would this update change what I choose.</a:t>
            </a:r>
          </a:p>
          <a:p>
            <a:r>
              <a:rPr lang="en-US" dirty="0"/>
              <a:t>Gain is high when you are wrong or uncertain.</a:t>
            </a:r>
          </a:p>
          <a:p>
            <a:r>
              <a:rPr lang="en-US" dirty="0"/>
              <a:t>Gain is low when the policy is already correct.</a:t>
            </a:r>
          </a:p>
          <a:p>
            <a:r>
              <a:rPr lang="en-US" dirty="0"/>
              <a:t>With uncertain future goals, EVB averages over possible goals.</a:t>
            </a:r>
          </a:p>
          <a:p>
            <a:endParaRPr lang="en-US" dirty="0"/>
          </a:p>
          <a:p>
            <a:endParaRPr lang="en-US" dirty="0"/>
          </a:p>
        </p:txBody>
      </p:sp>
      <p:pic>
        <p:nvPicPr>
          <p:cNvPr id="4" name="Picture 3">
            <a:extLst>
              <a:ext uri="{FF2B5EF4-FFF2-40B4-BE49-F238E27FC236}">
                <a16:creationId xmlns:a16="http://schemas.microsoft.com/office/drawing/2014/main" id="{E9EC698E-7D0D-D70B-C69A-A08E87BF31BF}"/>
              </a:ext>
            </a:extLst>
          </p:cNvPr>
          <p:cNvPicPr>
            <a:picLocks noChangeAspect="1"/>
          </p:cNvPicPr>
          <p:nvPr/>
        </p:nvPicPr>
        <p:blipFill>
          <a:blip r:embed="rId3"/>
          <a:stretch>
            <a:fillRect/>
          </a:stretch>
        </p:blipFill>
        <p:spPr>
          <a:xfrm>
            <a:off x="4314092" y="1553181"/>
            <a:ext cx="4372708" cy="5030180"/>
          </a:xfrm>
          <a:prstGeom prst="rect">
            <a:avLst/>
          </a:prstGeom>
        </p:spPr>
      </p:pic>
    </p:spTree>
    <p:extLst>
      <p:ext uri="{BB962C8B-B14F-4D97-AF65-F5344CB8AC3E}">
        <p14:creationId xmlns:p14="http://schemas.microsoft.com/office/powerpoint/2010/main" val="2272847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61EC3-201D-664D-B0B2-2EAA4E643E7C}"/>
              </a:ext>
            </a:extLst>
          </p:cNvPr>
          <p:cNvSpPr>
            <a:spLocks noGrp="1"/>
          </p:cNvSpPr>
          <p:nvPr>
            <p:ph type="title"/>
          </p:nvPr>
        </p:nvSpPr>
        <p:spPr/>
        <p:txBody>
          <a:bodyPr/>
          <a:lstStyle/>
          <a:p>
            <a:r>
              <a:rPr lang="en-US" dirty="0"/>
              <a:t>Key Insight: Replay Priorities Can Depend on Uncertainty of Future Goals</a:t>
            </a:r>
          </a:p>
        </p:txBody>
      </p:sp>
      <p:pic>
        <p:nvPicPr>
          <p:cNvPr id="4" name="Content Placeholder 3">
            <a:extLst>
              <a:ext uri="{FF2B5EF4-FFF2-40B4-BE49-F238E27FC236}">
                <a16:creationId xmlns:a16="http://schemas.microsoft.com/office/drawing/2014/main" id="{68024677-F0FB-9CDD-78ED-EC4CC99C554C}"/>
              </a:ext>
            </a:extLst>
          </p:cNvPr>
          <p:cNvPicPr>
            <a:picLocks noGrp="1" noChangeAspect="1"/>
          </p:cNvPicPr>
          <p:nvPr>
            <p:ph idx="1"/>
          </p:nvPr>
        </p:nvPicPr>
        <p:blipFill>
          <a:blip r:embed="rId2"/>
          <a:stretch>
            <a:fillRect/>
          </a:stretch>
        </p:blipFill>
        <p:spPr>
          <a:xfrm>
            <a:off x="457200" y="2560567"/>
            <a:ext cx="8229600" cy="2605228"/>
          </a:xfrm>
          <a:prstGeom prst="rect">
            <a:avLst/>
          </a:prstGeom>
        </p:spPr>
      </p:pic>
    </p:spTree>
    <p:extLst>
      <p:ext uri="{BB962C8B-B14F-4D97-AF65-F5344CB8AC3E}">
        <p14:creationId xmlns:p14="http://schemas.microsoft.com/office/powerpoint/2010/main" val="2486299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26423-5708-8BBE-1BA0-AB7C42B7DA4A}"/>
              </a:ext>
            </a:extLst>
          </p:cNvPr>
          <p:cNvSpPr>
            <a:spLocks noGrp="1"/>
          </p:cNvSpPr>
          <p:nvPr>
            <p:ph type="title"/>
          </p:nvPr>
        </p:nvSpPr>
        <p:spPr/>
        <p:txBody>
          <a:bodyPr/>
          <a:lstStyle/>
          <a:p>
            <a:r>
              <a:rPr lang="en-US" dirty="0"/>
              <a:t>Geodesic replay model captures replay “lag” that challenged single-goal account</a:t>
            </a:r>
          </a:p>
        </p:txBody>
      </p:sp>
      <p:pic>
        <p:nvPicPr>
          <p:cNvPr id="4" name="Content Placeholder 3">
            <a:extLst>
              <a:ext uri="{FF2B5EF4-FFF2-40B4-BE49-F238E27FC236}">
                <a16:creationId xmlns:a16="http://schemas.microsoft.com/office/drawing/2014/main" id="{7FCE0D05-9D98-102D-1E30-7C988CD00162}"/>
              </a:ext>
            </a:extLst>
          </p:cNvPr>
          <p:cNvPicPr>
            <a:picLocks noGrp="1" noChangeAspect="1"/>
          </p:cNvPicPr>
          <p:nvPr>
            <p:ph idx="1"/>
          </p:nvPr>
        </p:nvPicPr>
        <p:blipFill>
          <a:blip r:embed="rId3"/>
          <a:stretch>
            <a:fillRect/>
          </a:stretch>
        </p:blipFill>
        <p:spPr>
          <a:xfrm>
            <a:off x="457200" y="4035449"/>
            <a:ext cx="8229600" cy="2656572"/>
          </a:xfrm>
          <a:prstGeom prst="rect">
            <a:avLst/>
          </a:prstGeom>
        </p:spPr>
      </p:pic>
      <p:pic>
        <p:nvPicPr>
          <p:cNvPr id="5" name="Picture 4">
            <a:extLst>
              <a:ext uri="{FF2B5EF4-FFF2-40B4-BE49-F238E27FC236}">
                <a16:creationId xmlns:a16="http://schemas.microsoft.com/office/drawing/2014/main" id="{EE5B07BE-EEB3-120E-AABB-FE7D6D6F93AF}"/>
              </a:ext>
            </a:extLst>
          </p:cNvPr>
          <p:cNvPicPr>
            <a:picLocks noChangeAspect="1"/>
          </p:cNvPicPr>
          <p:nvPr/>
        </p:nvPicPr>
        <p:blipFill>
          <a:blip r:embed="rId4"/>
          <a:stretch>
            <a:fillRect/>
          </a:stretch>
        </p:blipFill>
        <p:spPr>
          <a:xfrm>
            <a:off x="685800" y="1417639"/>
            <a:ext cx="7772400" cy="2508984"/>
          </a:xfrm>
          <a:prstGeom prst="rect">
            <a:avLst/>
          </a:prstGeom>
        </p:spPr>
      </p:pic>
    </p:spTree>
    <p:extLst>
      <p:ext uri="{BB962C8B-B14F-4D97-AF65-F5344CB8AC3E}">
        <p14:creationId xmlns:p14="http://schemas.microsoft.com/office/powerpoint/2010/main" val="19705711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76406</TotalTime>
  <Words>3136</Words>
  <Application>Microsoft Macintosh PowerPoint</Application>
  <PresentationFormat>On-screen Show (4:3)</PresentationFormat>
  <Paragraphs>94</Paragraphs>
  <Slides>15</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Consolas</vt:lpstr>
      <vt:lpstr>Office Theme</vt:lpstr>
      <vt:lpstr>Between planning and map building: Prioritizing replay when future goals are uncertain</vt:lpstr>
      <vt:lpstr>Hippocampal Replay:  The brain “re-runs” experience offline</vt:lpstr>
      <vt:lpstr>Why replay is worth explaining</vt:lpstr>
      <vt:lpstr>The key puzzle:  Replay is not clearly aligned with "what I want right now."</vt:lpstr>
      <vt:lpstr>Maps as a Generalized Value Function</vt:lpstr>
      <vt:lpstr>The Geodesic Representation: one "page" per goal</vt:lpstr>
      <vt:lpstr>Why this map is learnable from replay.</vt:lpstr>
      <vt:lpstr>Replay as selective offline learning</vt:lpstr>
      <vt:lpstr>A Priority Score for Replay: Expected Value of Backup </vt:lpstr>
      <vt:lpstr>A Priority Score for Replay: Expected Value of Backup </vt:lpstr>
      <vt:lpstr>PowerPoint Presentation</vt:lpstr>
      <vt:lpstr>Need: Replay What Will Be Reused</vt:lpstr>
      <vt:lpstr>Gain: replay what would change behavior (especially when goals are uncertain).</vt:lpstr>
      <vt:lpstr>Key Insight: Replay Priorities Can Depend on Uncertainty of Future Goals</vt:lpstr>
      <vt:lpstr>Geodesic replay model captures replay “lag” that challenged single-goal account</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Some Problems for the Retrieved Context Account of Repetition Effects in Free Recall</dc:title>
  <dc:creator>Jordan Gunn</dc:creator>
  <cp:keywords/>
  <cp:lastModifiedBy>Jordan Gunn</cp:lastModifiedBy>
  <cp:revision>11</cp:revision>
  <dcterms:created xsi:type="dcterms:W3CDTF">2023-11-28T14:31:23Z</dcterms:created>
  <dcterms:modified xsi:type="dcterms:W3CDTF">2026-01-22T10:49:24Z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toc-title">
    <vt:lpwstr>Table of contents</vt:lpwstr>
  </property>
</Properties>
</file>